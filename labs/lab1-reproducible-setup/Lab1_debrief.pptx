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400" b="1"/>
              <a:t>Number of students per score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Initial (raw grader)</c:v>
                </c:pt>
              </c:strCache>
            </c:strRef>
          </c:tx>
          <c:spPr>
            <a:solidFill>
              <a:srgbClr val="8FBFE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&lt;70</c:v>
                </c:pt>
                <c:pt idx="1">
                  <c:v>70-79</c:v>
                </c:pt>
                <c:pt idx="2">
                  <c:v>80-89</c:v>
                </c:pt>
                <c:pt idx="3">
                  <c:v>90-99</c:v>
                </c:pt>
                <c:pt idx="4">
                  <c:v>100+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5A4-904F-ADB9-5AE8BCA8AA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Corrected (after review)</c:v>
                </c:pt>
              </c:strCache>
            </c:strRef>
          </c:tx>
          <c:spPr>
            <a:solidFill>
              <a:srgbClr val="2E6FB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&lt;70</c:v>
                </c:pt>
                <c:pt idx="1">
                  <c:v>70-79</c:v>
                </c:pt>
                <c:pt idx="2">
                  <c:v>80-89</c:v>
                </c:pt>
                <c:pt idx="3">
                  <c:v>90-99</c:v>
                </c:pt>
                <c:pt idx="4">
                  <c:v>100+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5A4-904F-ADB9-5AE8BCA8AA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wcbi/applied-computing-HDS/blob/main/resources/MARKDOWN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 1 Debrief: Reproducible Computing Setup</a:t>
            </a:r>
          </a:p>
          <a:p>
            <a:r>
              <a:rPr sz="1400">
                <a:solidFill>
                  <a:srgbClr val="8FBFE0"/>
                </a:solidFill>
                <a:latin typeface="Calibri"/>
              </a:rPr>
              <a:t>PUBH 4201 / 6854 — Class-wide results, deidentified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6517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25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submissions graded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417320"/>
            <a:ext cx="26517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96.0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median final score (/100)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417320"/>
            <a:ext cx="26517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56%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of scores were corrected
upward after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417320"/>
            <a:ext cx="26517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5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rubric sections graded:
structure, env, AI use,
README,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Overall, the class did strong work: most submissions had a working, reproducible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A2A2A"/>
                </a:solidFill>
                <a:latin typeface="Calibri"/>
              </a:rPr>
              <a:t>•  Environment files and Docker builds mostly ran cleanly from a fresh clone — the core reproducibility goal of the lab.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A2A2A"/>
                </a:solidFill>
                <a:latin typeface="Calibri"/>
              </a:rPr>
              <a:t>•  The biggest source of lost points wasn't broken code — it was the AI_USAGE.md and README write-ups not hitting the exact wording/formatting the automated grader checks for.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A2A2A"/>
                </a:solidFill>
                <a:latin typeface="Calibri"/>
              </a:rPr>
              <a:t>•  That gap is fixable, and it's the focus of this debrief.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Instructor-facing summary — no student names or identifiers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Initial vs. Corrected Grades</a:t>
            </a:r>
          </a:p>
          <a:p>
            <a:r>
              <a:rPr sz="1400">
                <a:solidFill>
                  <a:srgbClr val="8FBFE0"/>
                </a:solidFill>
                <a:latin typeface="Calibri"/>
              </a:rPr>
              <a:t>Re-scoring after fixing automated checks that were too strict about exact phrasing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26679" y="1417320"/>
            <a:ext cx="3977639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85.4 → 89.3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class mean (initial → corrected)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2606040"/>
            <a:ext cx="3977639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2E6FB0"/>
                </a:solidFill>
                <a:latin typeface="Calibri"/>
              </a:rPr>
              <a:t>89.5 → 96.0</a:t>
            </a:r>
          </a:p>
          <a:p>
            <a:pPr algn="ctr"/>
            <a:r>
              <a:rPr sz="1200">
                <a:solidFill>
                  <a:srgbClr val="5A5A5A"/>
                </a:solidFill>
                <a:latin typeface="Calibri"/>
              </a:rPr>
              <a:t>class median (initial → corrected)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886200"/>
            <a:ext cx="3977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14 of 25 submissions (56%) moved up after review.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Every one of these was a case where the automated grader's exact-phrase check missed content that clearly satisfied the rubric — not a case of extra credit for missing work.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Bottom-band scores (&lt;70) were unaffected — those reflect real missing work, not phrasing.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"Corrected" isolates the effect of fixing overly strict automated checks; late-submission adjustments are separate and not shown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Takeaway: Precise Syntax Matters</a:t>
            </a:r>
          </a:p>
          <a:p>
            <a:r>
              <a:rPr sz="1400">
                <a:solidFill>
                  <a:srgbClr val="8FBFE0"/>
                </a:solidFill>
                <a:latin typeface="Calibri"/>
              </a:rPr>
              <a:t>Why so many corrections were needed — and how to avoid needing them next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A"/>
                </a:solidFill>
                <a:latin typeface="Calibri"/>
              </a:rPr>
              <a:t>Every correction this round came from the same root cause: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2E6FB0"/>
                </a:solidFill>
                <a:latin typeface="Calibri"/>
              </a:rPr>
              <a:t>content that was substantively correct, but formatted or phrased differently than the one exact pattern the grader checked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Examples of what tripped the grader up: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Quoting an error as plain text instead of inside a fenced ``` code block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A “Setup”-style heading written as prose instead of a real Markdown heading (# / ##)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2A2A2A"/>
                </a:solidFill>
                <a:latin typeface="Calibri"/>
              </a:rPr>
              <a:t>•  Documenting the run command without it reading as an explicit, runnable command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514600"/>
            <a:ext cx="5349240" cy="3383280"/>
          </a:xfrm>
          <a:prstGeom prst="rect">
            <a:avLst/>
          </a:prstGeom>
          <a:solidFill>
            <a:srgbClr val="EAF2FA"/>
          </a:solidFill>
          <a:ln w="1270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r>
              <a:rPr sz="1800" b="1" dirty="0">
                <a:solidFill>
                  <a:srgbClr val="1B2A4A"/>
                </a:solidFill>
              </a:rPr>
              <a:t>Use the Markdown </a:t>
            </a:r>
            <a:r>
              <a:rPr sz="1800" b="1" dirty="0" err="1">
                <a:solidFill>
                  <a:srgbClr val="1B2A4A"/>
                </a:solidFill>
              </a:rPr>
              <a:t>cheatsheet</a:t>
            </a:r>
            <a:endParaRPr sz="1800" b="1" dirty="0">
              <a:solidFill>
                <a:srgbClr val="1B2A4A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2E6FB0"/>
                </a:solidFill>
                <a:latin typeface="Consolas"/>
                <a:hlinkClick r:id="rId2"/>
              </a:rPr>
              <a:t>resources</a:t>
            </a:r>
            <a:r>
              <a:rPr sz="1600" b="1" dirty="0">
                <a:solidFill>
                  <a:srgbClr val="2E6FB0"/>
                </a:solidFill>
                <a:latin typeface="Consolas"/>
                <a:hlinkClick r:id="rId2"/>
              </a:rPr>
              <a:t>/</a:t>
            </a:r>
            <a:r>
              <a:rPr sz="1600" b="1" dirty="0" err="1">
                <a:solidFill>
                  <a:srgbClr val="2E6FB0"/>
                </a:solidFill>
                <a:latin typeface="Consolas"/>
                <a:hlinkClick r:id="rId2"/>
              </a:rPr>
              <a:t>MARKDOWN.md</a:t>
            </a:r>
            <a:endParaRPr sz="1600" b="1" dirty="0">
              <a:solidFill>
                <a:srgbClr val="2E6FB0"/>
              </a:solidFill>
              <a:latin typeface="Consolas"/>
            </a:endParaRP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2A2A2A"/>
                </a:solidFill>
              </a:rPr>
              <a:t>Just added to the repo — covers exactly the syntax that matters for grading: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A2A2A"/>
                </a:solidFill>
              </a:rPr>
              <a:t>→  Real headings (#, ##) vs. bolded prose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A2A2A"/>
                </a:solidFill>
              </a:rPr>
              <a:t>→  Fenced code blocks (```) for any command or quoted output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A2A2A"/>
                </a:solidFill>
              </a:rPr>
              <a:t>→  Why a blank line matters between paragraphs</a:t>
            </a:r>
          </a:p>
          <a:p>
            <a:pPr>
              <a:spcBef>
                <a:spcPts val="1400"/>
              </a:spcBef>
            </a:pPr>
            <a:r>
              <a:rPr sz="1300" i="1" dirty="0">
                <a:solidFill>
                  <a:srgbClr val="1B2A4A"/>
                </a:solidFill>
              </a:rPr>
              <a:t>Precise syntax isn't pedantry — it's what makes your README/</a:t>
            </a:r>
            <a:r>
              <a:rPr sz="1300" i="1" dirty="0" err="1">
                <a:solidFill>
                  <a:srgbClr val="1B2A4A"/>
                </a:solidFill>
              </a:rPr>
              <a:t>AI_USAGE.md</a:t>
            </a:r>
            <a:r>
              <a:rPr sz="1300" i="1" dirty="0">
                <a:solidFill>
                  <a:srgbClr val="1B2A4A"/>
                </a:solidFill>
              </a:rPr>
              <a:t> readable by both graders and future collaborators (including future you).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Going forward: exact syntax will be expected, not leniently interpreted — check your writeups against the cheatsheet before submitting.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488</Words>
  <Application>Microsoft Macintosh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Bendall, Matthew Lewis</cp:lastModifiedBy>
  <cp:revision>2</cp:revision>
  <dcterms:created xsi:type="dcterms:W3CDTF">2013-01-27T09:14:16Z</dcterms:created>
  <dcterms:modified xsi:type="dcterms:W3CDTF">2026-09-16T15:42:37Z</dcterms:modified>
  <cp:category/>
</cp:coreProperties>
</file>