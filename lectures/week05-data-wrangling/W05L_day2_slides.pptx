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0" y="3291840"/>
            <a:ext cx="3108960" cy="31089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PUBH 6854 / PUBH 4201 · APPLIED COMPUTING IN HEALTH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7744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Week 5, Day 2: Building Feature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From raw files to samples × features × metadata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FB8C8"/>
                </a:solidFill>
                <a:latin typeface="Calibri"/>
              </a:rPr>
              <a:t>Lecture · Wednesday, September 23,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WELCOME &amp;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B3D59"/>
                </a:solidFill>
                <a:latin typeface="Cambria"/>
              </a:rPr>
              <a:t>Monday, in Three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5"/>
                </a:solidFill>
                <a:latin typeface="Calibri"/>
              </a:rPr>
              <a:t>Feature Tables &amp; Analytic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5"/>
                </a:solidFill>
                <a:latin typeface="Calibri"/>
              </a:rPr>
              <a:t>Week 5, Day 2 · Data Wrangling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5156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400"/>
              </a:spcAft>
              <a:buClr>
                <a:srgbClr val="1C7293"/>
              </a:buClr>
              <a:buFont typeface="Arial"/>
              <a:buChar char="•"/>
            </a:pPr>
            <a:r>
              <a:rPr sz="1600" b="0">
                <a:solidFill>
                  <a:srgbClr val="1A1A1A"/>
                </a:solidFill>
                <a:latin typeface="Calibri"/>
              </a:rPr>
              <a:t>The five core verbs (filter, select, mutate, group-by/summarize, join) mean the same thing in tidyverse, pandas, and polars.</a:t>
            </a:r>
          </a:p>
          <a:p>
            <a:pPr marL="228600" indent="-228600">
              <a:spcAft>
                <a:spcPts val="1400"/>
              </a:spcAft>
              <a:buClr>
                <a:srgbClr val="1C7293"/>
              </a:buClr>
              <a:buFont typeface="Arial"/>
              <a:buChar char="•"/>
            </a:pPr>
            <a:r>
              <a:rPr sz="1600" b="0">
                <a:solidFill>
                  <a:srgbClr val="1A1A1A"/>
                </a:solidFill>
                <a:latin typeface="Calibri"/>
              </a:rPr>
              <a:t>Tidy data = the right shape for the observation you care about — long for grouping/plotting, wide for modeling/joining.</a:t>
            </a:r>
          </a:p>
          <a:p>
            <a:pPr marL="228600" indent="-228600">
              <a:spcAft>
                <a:spcPts val="1400"/>
              </a:spcAft>
              <a:buClr>
                <a:srgbClr val="1C7293"/>
              </a:buClr>
              <a:buFont typeface="Arial"/>
              <a:buChar char="•"/>
            </a:pPr>
            <a:r>
              <a:rPr sz="1600" b="0">
                <a:solidFill>
                  <a:srgbClr val="1A1A1A"/>
                </a:solidFill>
                <a:latin typeface="Calibri"/>
              </a:rPr>
              <a:t>Pivoting reshapes; joining combines. Today uses both to go from raw files to one analysis-ready 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10881360" cy="1371600"/>
          </a:xfrm>
          <a:prstGeom prst="roundRect">
            <a:avLst/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006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6636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Samples × features × metadata tables, analytic data readiness, and a hands-on build with a new dataset. Lab 3 due this Wed, Sep 30, 11:59pm.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Samples × Features × Metadata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ADCFC"/>
                </a:solidFill>
                <a:latin typeface="Calibri"/>
              </a:rPr>
              <a:t>The shape almost every downstream health/genomic analysis expects.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PART 1 · THE CANONICAL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B3D59"/>
                </a:solidFill>
                <a:latin typeface="Cambria"/>
              </a:rPr>
              <a:t>One Row per 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5"/>
                </a:solidFill>
                <a:latin typeface="Calibri"/>
              </a:rPr>
              <a:t>Feature Tables &amp; Analytic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5"/>
                </a:solidFill>
                <a:latin typeface="Calibri"/>
              </a:rPr>
              <a:t>Week 5, Day 2 · Data Wrangling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4023360" cy="502920"/>
          </a:xfrm>
          <a:prstGeom prst="rect">
            <a:avLst/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29968"/>
            <a:ext cx="3749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METADATA (sample-level)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920240"/>
            <a:ext cx="6035040" cy="5029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2029968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FEATURES (one column per gene)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423160"/>
            <a:ext cx="4023360" cy="502920"/>
          </a:xfrm>
          <a:prstGeom prst="rect">
            <a:avLst/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46320" y="2423160"/>
            <a:ext cx="6035040" cy="502920"/>
          </a:xfrm>
          <a:prstGeom prst="rect">
            <a:avLst/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32888"/>
            <a:ext cx="3749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ourier New"/>
              </a:rPr>
              <a:t>S01  |  Site3, control, age 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532888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ourier New"/>
              </a:rPr>
              <a:t>1373   1276   651   267 ...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926080"/>
            <a:ext cx="4023360" cy="5029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0" y="2926080"/>
            <a:ext cx="6035040" cy="5029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035808"/>
            <a:ext cx="3749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ourier New"/>
              </a:rPr>
              <a:t>S02  |  Site2, control, age 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3035808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ourier New"/>
              </a:rPr>
              <a:t>1205   961    591   23  ...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429000"/>
            <a:ext cx="4023360" cy="502920"/>
          </a:xfrm>
          <a:prstGeom prst="rect">
            <a:avLst/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46320" y="3429000"/>
            <a:ext cx="6035040" cy="502920"/>
          </a:xfrm>
          <a:prstGeom prst="rect">
            <a:avLst/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538728"/>
            <a:ext cx="3749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ourier New"/>
              </a:rPr>
              <a:t>S03  |  Site1, control, age 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3538728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ourier New"/>
              </a:rPr>
              <a:t>887    1084   614   47  ...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931920"/>
            <a:ext cx="4023360" cy="5029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46320" y="3931920"/>
            <a:ext cx="6035040" cy="5029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041648"/>
            <a:ext cx="3749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ourier New"/>
              </a:rPr>
              <a:t>...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4041648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ourier New"/>
              </a:rPr>
              <a:t>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6177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A6B75"/>
                </a:solidFill>
                <a:latin typeface="Calibri"/>
              </a:rPr>
              <a:t>One row = one sample. Metadata columns describe the sample; feature columns are the measurements. Every downstream model, join, or summary assumes this shape.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PART 1 · THE CANONICAL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B3D59"/>
                </a:solidFill>
                <a:latin typeface="Cambria"/>
              </a:rPr>
              <a:t>From Raw Files to This 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5"/>
                </a:solidFill>
                <a:latin typeface="Calibri"/>
              </a:rPr>
              <a:t>Feature Tables &amp; Analytic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5"/>
                </a:solidFill>
                <a:latin typeface="Calibri"/>
              </a:rPr>
              <a:t>Week 5, Day 2 · Data Wrangling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017520" cy="2103120"/>
          </a:xfrm>
          <a:prstGeom prst="roundRect">
            <a:avLst/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B3D59"/>
                </a:solidFill>
                <a:latin typeface="Cambria"/>
              </a:rPr>
              <a:t>Raw pipeline</a:t>
            </a:r>
          </a:p>
          <a:p>
            <a:pPr algn="l"/>
            <a:r>
              <a:rPr sz="1600" b="1" i="0">
                <a:solidFill>
                  <a:srgbClr val="0B3D59"/>
                </a:solidFill>
                <a:latin typeface="Cambria"/>
              </a:rPr>
              <a:t>export (long)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25603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C7293"/>
                </a:solidFill>
                <a:latin typeface="Courier New"/>
              </a:rPr>
              <a:t>gene_counts_long.csv</a:t>
            </a:r>
          </a:p>
          <a:p>
            <a:pPr algn="l"/>
            <a:r>
              <a:rPr sz="1200" b="0" i="0">
                <a:solidFill>
                  <a:srgbClr val="1C7293"/>
                </a:solidFill>
                <a:latin typeface="Courier New"/>
              </a:rPr>
              <a:t>sample_id, gene_id,</a:t>
            </a:r>
          </a:p>
          <a:p>
            <a:pPr algn="l"/>
            <a:r>
              <a:rPr sz="1200" b="0" i="0">
                <a:solidFill>
                  <a:srgbClr val="1C7293"/>
                </a:solidFill>
                <a:latin typeface="Courier New"/>
              </a:rPr>
              <a:t>raw_count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40" y="2103120"/>
            <a:ext cx="3017520" cy="2103120"/>
          </a:xfrm>
          <a:prstGeom prst="roundRect">
            <a:avLst/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228600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B3D59"/>
                </a:solidFill>
                <a:latin typeface="Cambria"/>
              </a:rPr>
              <a:t>Sample</a:t>
            </a:r>
          </a:p>
          <a:p>
            <a:pPr algn="l"/>
            <a:r>
              <a:rPr sz="1600" b="1" i="0">
                <a:solidFill>
                  <a:srgbClr val="0B3D59"/>
                </a:solidFill>
                <a:latin typeface="Cambria"/>
              </a:rPr>
              <a:t>metadata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017520"/>
            <a:ext cx="25603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C7293"/>
                </a:solidFill>
                <a:latin typeface="Courier New"/>
              </a:rPr>
              <a:t>sample_metadata.csv</a:t>
            </a:r>
          </a:p>
          <a:p>
            <a:pPr algn="l"/>
            <a:r>
              <a:rPr sz="1200" b="0" i="0">
                <a:solidFill>
                  <a:srgbClr val="1C7293"/>
                </a:solidFill>
                <a:latin typeface="Courier New"/>
              </a:rPr>
              <a:t>sample_id, age, sex,</a:t>
            </a:r>
          </a:p>
          <a:p>
            <a:pPr algn="l"/>
            <a:r>
              <a:rPr sz="1200" b="0" i="0">
                <a:solidFill>
                  <a:srgbClr val="1C7293"/>
                </a:solidFill>
                <a:latin typeface="Courier New"/>
              </a:rPr>
              <a:t>site, group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103120"/>
            <a:ext cx="3017520" cy="2103120"/>
          </a:xfrm>
          <a:prstGeom prst="roundRect">
            <a:avLst/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228600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B3D59"/>
                </a:solidFill>
                <a:latin typeface="Cambria"/>
              </a:rPr>
              <a:t>Feature</a:t>
            </a:r>
          </a:p>
          <a:p>
            <a:pPr algn="l"/>
            <a:r>
              <a:rPr sz="1600" b="1" i="0">
                <a:solidFill>
                  <a:srgbClr val="0B3D59"/>
                </a:solidFill>
                <a:latin typeface="Cambria"/>
              </a:rPr>
              <a:t>metadata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017520"/>
            <a:ext cx="25603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C7293"/>
                </a:solidFill>
                <a:latin typeface="Courier New"/>
              </a:rPr>
              <a:t>gene_metadata.csv</a:t>
            </a:r>
          </a:p>
          <a:p>
            <a:pPr algn="l"/>
            <a:r>
              <a:rPr sz="1200" b="0" i="0">
                <a:solidFill>
                  <a:srgbClr val="1C7293"/>
                </a:solidFill>
                <a:latin typeface="Courier New"/>
              </a:rPr>
              <a:t>gene_id, chromosome,</a:t>
            </a:r>
          </a:p>
          <a:p>
            <a:pPr algn="l"/>
            <a:r>
              <a:rPr sz="1200" b="0" i="0">
                <a:solidFill>
                  <a:srgbClr val="1C7293"/>
                </a:solidFill>
                <a:latin typeface="Courier New"/>
              </a:rPr>
              <a:t>gene_class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9718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1C7293"/>
                </a:solidFill>
                <a:latin typeface="Calibri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4572000"/>
            <a:ext cx="5760720" cy="1188720"/>
          </a:xfrm>
          <a:prstGeom prst="roundRect">
            <a:avLst/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47091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2A541"/>
                </a:solidFill>
                <a:latin typeface="Calibri"/>
              </a:rPr>
              <a:t>pivot (long → wide) + join (by sample_id)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512064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one samples × features × metadata 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PART 1 · THE CANONICAL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B3D59"/>
                </a:solidFill>
                <a:latin typeface="Cambria"/>
              </a:rPr>
              <a:t>Two Kinds of Metadata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5"/>
                </a:solidFill>
                <a:latin typeface="Calibri"/>
              </a:rPr>
              <a:t>Feature Tables &amp; Analytic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5"/>
                </a:solidFill>
                <a:latin typeface="Calibri"/>
              </a:rPr>
              <a:t>Week 5, Day 2 · Data Wrangling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212080" cy="3749039"/>
          </a:xfrm>
          <a:prstGeom prst="roundRect">
            <a:avLst/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B3D59"/>
                </a:solidFill>
                <a:latin typeface="Cambria"/>
              </a:rPr>
              <a:t>Sample-level metadata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6634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200"/>
              </a:spcAft>
              <a:buClr>
                <a:srgbClr val="1C7293"/>
              </a:buClr>
              <a:buFont typeface="Arial"/>
              <a:buChar char="•"/>
            </a:pPr>
            <a:r>
              <a:rPr sz="1450" b="0">
                <a:solidFill>
                  <a:srgbClr val="1A1A1A"/>
                </a:solidFill>
                <a:latin typeface="Calibri"/>
              </a:rPr>
              <a:t>Describes each row (sample): age, sex, site, treatment group, collection date.</a:t>
            </a:r>
          </a:p>
          <a:p>
            <a:pPr marL="228600" indent="-228600">
              <a:spcAft>
                <a:spcPts val="1200"/>
              </a:spcAft>
              <a:buClr>
                <a:srgbClr val="1C7293"/>
              </a:buClr>
              <a:buFont typeface="Arial"/>
              <a:buChar char="•"/>
            </a:pPr>
            <a:r>
              <a:rPr sz="1450" b="0">
                <a:solidFill>
                  <a:srgbClr val="1A1A1A"/>
                </a:solidFill>
                <a:latin typeface="Calibri"/>
              </a:rPr>
              <a:t>Comes from a clinical/lab sheet, not the measurement pipeline.</a:t>
            </a:r>
          </a:p>
          <a:p>
            <a:pPr marL="228600" indent="-228600">
              <a:spcAft>
                <a:spcPts val="1200"/>
              </a:spcAft>
              <a:buClr>
                <a:srgbClr val="1C7293"/>
              </a:buClr>
              <a:buFont typeface="Arial"/>
              <a:buChar char="•"/>
            </a:pPr>
            <a:r>
              <a:rPr sz="1450" b="0">
                <a:solidFill>
                  <a:srgbClr val="1A1A1A"/>
                </a:solidFill>
                <a:latin typeface="Calibri"/>
              </a:rPr>
              <a:t>Usually what you'd condition or stratify 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920240"/>
            <a:ext cx="5212080" cy="3749039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Feature-level metadata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34640"/>
            <a:ext cx="46634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200"/>
              </a:spcAft>
              <a:buClr>
                <a:srgbClr val="F2A541"/>
              </a:buClr>
              <a:buFont typeface="Arial"/>
              <a:buChar char="•"/>
            </a:pPr>
            <a:r>
              <a:rPr sz="1450" b="0">
                <a:solidFill>
                  <a:srgbClr val="FFFFFF"/>
                </a:solidFill>
                <a:latin typeface="Calibri"/>
              </a:rPr>
              <a:t>Describes each column (feature): gene chromosome, gene class, units, assay type.</a:t>
            </a:r>
          </a:p>
          <a:p>
            <a:pPr marL="228600" indent="-228600">
              <a:spcAft>
                <a:spcPts val="1200"/>
              </a:spcAft>
              <a:buClr>
                <a:srgbClr val="F2A541"/>
              </a:buClr>
              <a:buFont typeface="Arial"/>
              <a:buChar char="•"/>
            </a:pPr>
            <a:r>
              <a:rPr sz="1450" b="0">
                <a:solidFill>
                  <a:srgbClr val="FFFFFF"/>
                </a:solidFill>
                <a:latin typeface="Calibri"/>
              </a:rPr>
              <a:t>Comes from a reference/annotation source, not a clinical sheet.</a:t>
            </a:r>
          </a:p>
          <a:p>
            <a:pPr marL="228600" indent="-228600">
              <a:spcAft>
                <a:spcPts val="1200"/>
              </a:spcAft>
              <a:buClr>
                <a:srgbClr val="F2A541"/>
              </a:buClr>
              <a:buFont typeface="Arial"/>
              <a:buChar char="•"/>
            </a:pPr>
            <a:r>
              <a:rPr sz="1450" b="0">
                <a:solidFill>
                  <a:srgbClr val="FFFFFF"/>
                </a:solidFill>
                <a:latin typeface="Calibri"/>
              </a:rPr>
              <a:t>Usually what you'd use to filter or group features before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Introduction to Analytic Data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ADCFC"/>
                </a:solidFill>
                <a:latin typeface="Calibri"/>
              </a:rPr>
              <a:t>A table that runs isn't the same as a table that's ready to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PART 2 · DATA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B3D59"/>
                </a:solidFill>
                <a:latin typeface="Cambria"/>
              </a:rPr>
              <a:t>The Readiness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5"/>
                </a:solidFill>
                <a:latin typeface="Calibri"/>
              </a:rPr>
              <a:t>Feature Tables &amp; Analytic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5"/>
                </a:solidFill>
                <a:latin typeface="Calibri"/>
              </a:rPr>
              <a:t>Week 5, Day 2 · Data Wrangling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28800"/>
            <a:ext cx="59436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594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01368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3D59"/>
                </a:solidFill>
                <a:latin typeface="Cambria"/>
              </a:rPr>
              <a:t>Consistent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801368"/>
            <a:ext cx="7132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Every feature column numeric? A single blank cell can silently turn a whole column into text.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926080"/>
            <a:ext cx="59436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99232"/>
            <a:ext cx="594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898648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3D59"/>
                </a:solidFill>
                <a:latin typeface="Cambria"/>
              </a:rPr>
              <a:t>Documented missingness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898648"/>
            <a:ext cx="7132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How much is missing, where, and — critically — why. "Not measured" and "measured as zero" are different facts.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023360"/>
            <a:ext cx="59436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96512"/>
            <a:ext cx="594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95928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3D59"/>
                </a:solidFill>
                <a:latin typeface="Cambria"/>
              </a:rPr>
              <a:t>No leakage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995928"/>
            <a:ext cx="7132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Is a metadata field (like the outcome you're predicting) accidentally also a feature?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5120640"/>
            <a:ext cx="59436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193792"/>
            <a:ext cx="594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93208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3D59"/>
                </a:solidFill>
                <a:latin typeface="Cambria"/>
              </a:rPr>
              <a:t>Units resolved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5093208"/>
            <a:ext cx="7132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Same analyte, same units, everywhere — this is exactly what Lab 3's messy_samples.csv makes you fix by hand.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PART 2 · DATA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B3D59"/>
                </a:solidFill>
                <a:latin typeface="Cambria"/>
              </a:rPr>
              <a:t>Missingness Isn't One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5"/>
                </a:solidFill>
                <a:latin typeface="Calibri"/>
              </a:rPr>
              <a:t>Feature Tables &amp; Analytic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5"/>
                </a:solidFill>
                <a:latin typeface="Calibri"/>
              </a:rPr>
              <a:t>Week 5, Day 2 · Data Wrangling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10881360" cy="1143000"/>
          </a:xfrm>
          <a:prstGeom prst="roundRect">
            <a:avLst/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C7293"/>
                </a:solidFill>
                <a:latin typeface="Cambria"/>
              </a:rPr>
              <a:t>Absent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96596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No row for that sample×gene pair at 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96596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5A6B75"/>
                </a:solidFill>
                <a:latin typeface="Calibri"/>
              </a:rPr>
              <a:t>gene_counts_long.csv — a gene simply wasn't quantified for that sample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08960"/>
            <a:ext cx="10881360" cy="114300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C7293"/>
                </a:solidFill>
                <a:latin typeface="Cambria"/>
              </a:rPr>
              <a:t>Recorded as blank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24612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A row exists; the value field is empty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24612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5A6B75"/>
                </a:solidFill>
                <a:latin typeface="Calibri"/>
              </a:rPr>
              <a:t>sample_metadata.csv — S13's age field, left blank on the intake 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89120"/>
            <a:ext cx="10881360" cy="1143000"/>
          </a:xfrm>
          <a:prstGeom prst="roundRect">
            <a:avLst/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5262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C7293"/>
                </a:solidFill>
                <a:latin typeface="Cambria"/>
              </a:rPr>
              <a:t>Recorded as zero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52628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A real, meaningful measurement of zero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52628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5A6B75"/>
                </a:solidFill>
                <a:latin typeface="Calibri"/>
              </a:rPr>
              <a:t>not the same as “not measured” — conflating the two is a common, costly mistake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PART 2 · DATA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B3D59"/>
                </a:solidFill>
                <a:latin typeface="Cambria"/>
              </a:rPr>
              <a:t>Leakage &amp; Units, Concretely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5"/>
                </a:solidFill>
                <a:latin typeface="Calibri"/>
              </a:rPr>
              <a:t>Feature Tables &amp; Analytic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5"/>
                </a:solidFill>
                <a:latin typeface="Calibri"/>
              </a:rPr>
              <a:t>Week 5, Day 2 · Data Wrangling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212080" cy="3657600"/>
          </a:xfrm>
          <a:prstGeom prst="roundRect">
            <a:avLst/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B3D59"/>
                </a:solidFill>
                <a:latin typeface="Cambria"/>
              </a:rPr>
              <a:t>Leakage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46634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If treatment_group is the thing you're eventually trying to predict or explain, including it as a model feature (not just metadata to condition on) lets the model “cheat” by seeing the answer. The fix isn't a formula — it's asking what the column actually means before you use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828800"/>
            <a:ext cx="5486400" cy="3657600"/>
          </a:xfrm>
          <a:prstGeom prst="roundRect">
            <a:avLst/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0574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651760"/>
            <a:ext cx="49377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mg/dL vs. mmol/L, “Site A” vs. “site_a” vs. “SITE-A” — Lab 3's messy_samples.csv is built entirely around this problem. Today's dataset is clean on units on purpose, so today is about the pivot/join/missingness workflow; Lab 3 is where you fix units by hand.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PART 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Build a Feature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ADCFC"/>
                </a:solidFill>
                <a:latin typeface="Calibri"/>
              </a:rPr>
              <a:t>gene_counts_long.csv + sample_metadata.csv + gene_metadata.csv → one analysis-ready table.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PART 3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B3D59"/>
                </a:solidFill>
                <a:latin typeface="Cambria"/>
              </a:rPr>
              <a:t>Today's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5"/>
                </a:solidFill>
                <a:latin typeface="Calibri"/>
              </a:rPr>
              <a:t>Feature Tables &amp; Analytic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5"/>
                </a:solidFill>
                <a:latin typeface="Calibri"/>
              </a:rPr>
              <a:t>Week 5, Day 2 · Data Wrangling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3520440" cy="3840480"/>
          </a:xfrm>
          <a:prstGeom prst="roundRect">
            <a:avLst/>
          </a:prstGeom>
          <a:solidFill>
            <a:srgbClr val="08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2A541"/>
                </a:solidFill>
                <a:latin typeface="Courier New"/>
              </a:rPr>
              <a:t>gene_counts_long.csv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30632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~122 rows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sample_id, gene_id,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raw_count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(long, one row per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observed pair)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920240"/>
            <a:ext cx="3520440" cy="3840480"/>
          </a:xfrm>
          <a:prstGeom prst="roundRect">
            <a:avLst/>
          </a:prstGeom>
          <a:solidFill>
            <a:srgbClr val="08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14884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2A541"/>
                </a:solidFill>
                <a:latin typeface="Courier New"/>
              </a:rPr>
              <a:t>sample_metadata.csv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834640"/>
            <a:ext cx="30632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16 rows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sample_id, subject_id,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age, sex, site,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treatment_group,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collection_date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920240"/>
            <a:ext cx="3520440" cy="3840480"/>
          </a:xfrm>
          <a:prstGeom prst="roundRect">
            <a:avLst/>
          </a:prstGeom>
          <a:solidFill>
            <a:srgbClr val="08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214884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2A541"/>
                </a:solidFill>
                <a:latin typeface="Courier New"/>
              </a:rPr>
              <a:t>gene_metadata.csv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834640"/>
            <a:ext cx="30632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8 rows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gene_id, chromosome,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gene_class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9893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A6B75"/>
                </a:solidFill>
                <a:latin typeface="Calibri"/>
              </a:rPr>
              <a:t>Distinct from Lab 3's dataset on purpose — see SOURCE.md. Notebooks: Jupyter/week05_practical.ipynb, Rmarkdown/week05_practical.Rmd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PART 3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B3D59"/>
                </a:solidFill>
                <a:latin typeface="Cambria"/>
              </a:rPr>
              <a:t>The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5"/>
                </a:solidFill>
                <a:latin typeface="Calibri"/>
              </a:rPr>
              <a:t>Feature Tables &amp; Analytic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5"/>
                </a:solidFill>
                <a:latin typeface="Calibri"/>
              </a:rPr>
              <a:t>Week 5, Day 2 · Data Wrangling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731520" cy="77724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47088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3D59"/>
                </a:solidFill>
                <a:latin typeface="Cambria"/>
              </a:rPr>
              <a:t>Pivot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47088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gene_counts_long.csv from long to wide — one row per sample, one column per gene.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80360"/>
            <a:ext cx="731520" cy="77724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4495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898648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3D59"/>
                </a:solidFill>
                <a:latin typeface="Cambria"/>
              </a:rPr>
              <a:t>Join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898648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sample_metadata.csv onto the pivoted table by sample_id.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731520" cy="77724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9651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950208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3D59"/>
                </a:solidFill>
                <a:latin typeface="Cambria"/>
              </a:rPr>
              <a:t>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950208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run the readiness checklist — how much is missing, and where?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83480"/>
            <a:ext cx="731520" cy="77724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14807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001768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3D59"/>
                </a:solidFill>
                <a:latin typeface="Cambria"/>
              </a:rPr>
              <a:t>(Optional) Filter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001768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use gene_metadata.csv to subset to a feature class, e.g. cytokines only.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PART 3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B3D59"/>
                </a:solidFill>
                <a:latin typeface="Cambria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5"/>
                </a:solidFill>
                <a:latin typeface="Calibri"/>
              </a:rPr>
              <a:t>Feature Tables &amp; Analytic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5"/>
                </a:solidFill>
                <a:latin typeface="Calibri"/>
              </a:rPr>
              <a:t>Week 5, Day 2 · Data Wrangling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5156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600"/>
              </a:spcAft>
              <a:buClr>
                <a:srgbClr val="1C7293"/>
              </a:buClr>
              <a:buFont typeface="Arial"/>
              <a:buChar char="•"/>
            </a:pPr>
            <a:r>
              <a:rPr sz="1600" b="0">
                <a:solidFill>
                  <a:srgbClr val="1A1A1A"/>
                </a:solidFill>
                <a:latin typeface="Calibri"/>
              </a:rPr>
              <a:t>Your finished feature_table should have 16 rows (one per sample) and around 14-15 columns (8 gene columns + sample metadata columns).</a:t>
            </a:r>
          </a:p>
          <a:p>
            <a:pPr marL="228600" indent="-228600">
              <a:spcAft>
                <a:spcPts val="1600"/>
              </a:spcAft>
              <a:buClr>
                <a:srgbClr val="1C7293"/>
              </a:buClr>
              <a:buFont typeface="Arial"/>
              <a:buChar char="•"/>
            </a:pPr>
            <a:r>
              <a:rPr sz="1600" b="0">
                <a:solidFill>
                  <a:srgbClr val="1A1A1A"/>
                </a:solidFill>
                <a:latin typeface="Calibri"/>
              </a:rPr>
              <a:t>NA/NaN values in the gene columns are expected and correct — they're the ~6% of sample×gene pairs that were never measured, not a mistake in your code.</a:t>
            </a:r>
          </a:p>
          <a:p>
            <a:pPr marL="228600" indent="-228600">
              <a:spcAft>
                <a:spcPts val="1600"/>
              </a:spcAft>
              <a:buClr>
                <a:srgbClr val="1C7293"/>
              </a:buClr>
              <a:buFont typeface="Arial"/>
              <a:buChar char="•"/>
            </a:pPr>
            <a:r>
              <a:rPr sz="1600" b="0">
                <a:solidFill>
                  <a:srgbClr val="1A1A1A"/>
                </a:solidFill>
                <a:latin typeface="Calibri"/>
              </a:rPr>
              <a:t>If your row count changed after the join, or every gene column is entirely NA, stop and check your join key and pivot column names before continuing.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-1645920"/>
            <a:ext cx="5120640" cy="5120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mbria"/>
              </a:rPr>
              <a:t>“You have a clean feature table, but 15% of values are missing for one column. What questions do you need to answer before deciding how to handle that, and who should you ask?”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Calibri"/>
              </a:rPr>
              <a:t>Distinguishes technical handling from domain-knowledge judgment calls — relevant to both labs and the final project.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CLOSING OUT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B3D59"/>
                </a:solidFill>
                <a:latin typeface="Cambria"/>
              </a:rPr>
              <a:t>Environments → Structured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5"/>
                </a:solidFill>
                <a:latin typeface="Calibri"/>
              </a:rPr>
              <a:t>Feature Tables &amp; Analytic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5"/>
                </a:solidFill>
                <a:latin typeface="Calibri"/>
              </a:rPr>
              <a:t>Week 5, Day 2 · Data Wrangling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1965960" cy="1371600"/>
          </a:xfrm>
          <a:prstGeom prst="roundRect">
            <a:avLst/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B3D59"/>
                </a:solidFill>
                <a:latin typeface="Calibri"/>
              </a:rPr>
              <a:t>Wk 1</a:t>
            </a:r>
          </a:p>
          <a:p>
            <a:pPr algn="ctr"/>
            <a:r>
              <a:rPr sz="1400" b="1" i="0">
                <a:solidFill>
                  <a:srgbClr val="0B3D59"/>
                </a:solidFill>
                <a:latin typeface="Calibri"/>
              </a:rPr>
              <a:t>Environments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1828800"/>
            <a:ext cx="1965960" cy="1371600"/>
          </a:xfrm>
          <a:prstGeom prst="roundRect">
            <a:avLst/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286000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B3D59"/>
                </a:solidFill>
                <a:latin typeface="Calibri"/>
              </a:rPr>
              <a:t>Wk 2</a:t>
            </a:r>
          </a:p>
          <a:p>
            <a:pPr algn="ctr"/>
            <a:r>
              <a:rPr sz="1400" b="1" i="0">
                <a:solidFill>
                  <a:srgbClr val="0B3D59"/>
                </a:solidFill>
                <a:latin typeface="Calibri"/>
              </a:rPr>
              <a:t>Reproducibility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828800"/>
            <a:ext cx="1965960" cy="1371600"/>
          </a:xfrm>
          <a:prstGeom prst="roundRect">
            <a:avLst/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2286000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B3D59"/>
                </a:solidFill>
                <a:latin typeface="Calibri"/>
              </a:rPr>
              <a:t>Wk 3</a:t>
            </a:r>
          </a:p>
          <a:p>
            <a:pPr algn="ctr"/>
            <a:r>
              <a:rPr sz="1400" b="1" i="0">
                <a:solidFill>
                  <a:srgbClr val="0B3D59"/>
                </a:solidFill>
                <a:latin typeface="Calibri"/>
              </a:rPr>
              <a:t>Notebooks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1828800"/>
            <a:ext cx="1965960" cy="1371600"/>
          </a:xfrm>
          <a:prstGeom prst="roundRect">
            <a:avLst/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2286000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B3D59"/>
                </a:solidFill>
                <a:latin typeface="Calibri"/>
              </a:rPr>
              <a:t>Wk 4</a:t>
            </a:r>
          </a:p>
          <a:p>
            <a:pPr algn="ctr"/>
            <a:r>
              <a:rPr sz="1400" b="1" i="0">
                <a:solidFill>
                  <a:srgbClr val="0B3D59"/>
                </a:solidFill>
                <a:latin typeface="Calibri"/>
              </a:rPr>
              <a:t>Text Parsing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828800"/>
            <a:ext cx="1965960" cy="137160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2286000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Wk 5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Structured Tables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49039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200"/>
              </a:spcAft>
              <a:buClr>
                <a:srgbClr val="1C7293"/>
              </a:buClr>
              <a:buFont typeface="Arial"/>
              <a:buChar char="•"/>
            </a:pPr>
            <a:r>
              <a:rPr sz="1550" b="0">
                <a:solidFill>
                  <a:srgbClr val="1A1A1A"/>
                </a:solidFill>
                <a:latin typeface="Calibri"/>
              </a:rPr>
              <a:t>Module 1 is done: reproducible environments, notebooks, text parsing, and now structured analytic tables.</a:t>
            </a:r>
          </a:p>
          <a:p>
            <a:pPr marL="228600" indent="-228600">
              <a:spcAft>
                <a:spcPts val="1200"/>
              </a:spcAft>
              <a:buClr>
                <a:srgbClr val="1C7293"/>
              </a:buClr>
              <a:buFont typeface="Arial"/>
              <a:buChar char="•"/>
            </a:pPr>
            <a:r>
              <a:rPr sz="1550" b="0">
                <a:solidFill>
                  <a:srgbClr val="1A1A1A"/>
                </a:solidFill>
                <a:latin typeface="Calibri"/>
              </a:rPr>
              <a:t>Module 2 (starting next week) shifts to software design — procedural/OOP/functional paradigms, modular programming, version control.</a:t>
            </a:r>
          </a:p>
          <a:p>
            <a:pPr marL="228600" indent="-228600">
              <a:spcAft>
                <a:spcPts val="1200"/>
              </a:spcAft>
              <a:buClr>
                <a:srgbClr val="1C7293"/>
              </a:buClr>
              <a:buFont typeface="Arial"/>
              <a:buChar char="•"/>
            </a:pPr>
            <a:r>
              <a:rPr sz="1550" b="0">
                <a:solidFill>
                  <a:srgbClr val="1A1A1A"/>
                </a:solidFill>
                <a:latin typeface="Calibri"/>
              </a:rPr>
              <a:t>The “samples × features × metadata” framing from today comes back directly in Week 8-9 (Lab 4: Database-Driven Feature Table).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B3D59"/>
                </a:solidFill>
                <a:latin typeface="Cambria"/>
              </a:rPr>
              <a:t>This Week's Deliverable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5"/>
                </a:solidFill>
                <a:latin typeface="Calibri"/>
              </a:rPr>
              <a:t>Feature Tables &amp; Analytic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5"/>
                </a:solidFill>
                <a:latin typeface="Calibri"/>
              </a:rPr>
              <a:t>Week 5, Day 2 · Data Wrangling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600"/>
              </a:spcAft>
              <a:buClr>
                <a:srgbClr val="1C7293"/>
              </a:buClr>
              <a:buFont typeface="Arial"/>
              <a:buChar char="•"/>
            </a:pPr>
            <a:r>
              <a:rPr sz="1700" b="0">
                <a:solidFill>
                  <a:srgbClr val="1A1A1A"/>
                </a:solidFill>
                <a:latin typeface="Calibri"/>
              </a:rPr>
              <a:t>Lab 3 (Parsing Messy Health or Genomic Data) — due Wed, Sep 30, 11:59pm.</a:t>
            </a:r>
          </a:p>
          <a:p>
            <a:pPr marL="228600" indent="-228600">
              <a:spcAft>
                <a:spcPts val="1600"/>
              </a:spcAft>
              <a:buClr>
                <a:srgbClr val="1C7293"/>
              </a:buClr>
              <a:buFont typeface="Arial"/>
              <a:buChar char="•"/>
            </a:pPr>
            <a:r>
              <a:rPr sz="1700" b="0">
                <a:solidFill>
                  <a:srgbClr val="1A1A1A"/>
                </a:solidFill>
                <a:latin typeface="Calibri"/>
              </a:rPr>
              <a:t>Uses a different, messier dataset than today's — regex + AI-assisted extraction, comparing the two approaches.</a:t>
            </a:r>
          </a:p>
          <a:p>
            <a:pPr marL="228600" indent="-228600">
              <a:spcAft>
                <a:spcPts val="1600"/>
              </a:spcAft>
              <a:buClr>
                <a:srgbClr val="1C7293"/>
              </a:buClr>
              <a:buFont typeface="Arial"/>
              <a:buChar char="•"/>
            </a:pPr>
            <a:r>
              <a:rPr sz="1700" b="0">
                <a:solidFill>
                  <a:srgbClr val="1A1A1A"/>
                </a:solidFill>
                <a:latin typeface="Calibri"/>
              </a:rPr>
              <a:t>Office hours: bring your in-progress feature_table or your Lab 3 approach — either is fair game.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