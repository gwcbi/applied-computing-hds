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3291840"/>
            <a:ext cx="3108960" cy="31089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PUBH 6854 / PUBH 4201 · APPLIED COMPUTING IN HEALTH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Week 5, Day 1: Data Frame Ecosystems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tidyverse · pandas · polars — same core moves, different syntax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B8C8"/>
                </a:solidFill>
                <a:latin typeface="Calibri"/>
              </a:rPr>
              <a:t>Lecture · Monday, September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WELCOME &amp;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965960" cy="137160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Wk 1</a:t>
            </a:r>
          </a:p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Environments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920240"/>
            <a:ext cx="1965960" cy="137160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37744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Wk 2</a:t>
            </a:r>
          </a:p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Reproducibility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920240"/>
            <a:ext cx="1965960" cy="137160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237744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Wk 3</a:t>
            </a:r>
          </a:p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Notebooks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920240"/>
            <a:ext cx="1965960" cy="137160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37744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Wk 4</a:t>
            </a:r>
          </a:p>
          <a:p>
            <a:pPr algn="ctr"/>
            <a:r>
              <a:rPr sz="1400" b="1" i="0">
                <a:solidFill>
                  <a:srgbClr val="0B3D59"/>
                </a:solidFill>
                <a:latin typeface="Calibri"/>
              </a:rPr>
              <a:t>Text Parsing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920240"/>
            <a:ext cx="1965960" cy="137160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37744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Wk 5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Structured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This week closes Module 1 — two lecture days (today + Wednesday), no separate practical.</a:t>
            </a:r>
          </a:p>
          <a:p>
            <a:pPr marL="228600" indent="-228600">
              <a:spcAft>
                <a:spcPts val="10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Lab 3 (Parsing Messy Health or Genomic Data) is assigned this week, due Wed, Sep 30, 11:59pm.</a:t>
            </a:r>
          </a:p>
          <a:p>
            <a:pPr marL="228600" indent="-228600">
              <a:spcAft>
                <a:spcPts val="10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Today: the three data-frame ecosystems, a live side-by-side demo, and tidy data principles.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Three Ecosystems, One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R's tidyverse, Python's pandas, Python's polars — different tools, same core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1 · DATA FRAME ECOSYSTEMS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Why Three Tools?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20440" cy="402336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B3D59"/>
                </a:solidFill>
                <a:latin typeface="Cambria"/>
              </a:rPr>
              <a:t>tidyverse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7293"/>
                </a:solidFill>
                <a:latin typeface="Courier New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718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C7293"/>
                </a:solidFill>
                <a:latin typeface="Calibri"/>
              </a:rPr>
              <a:t>An opinionated grammar of data manipulation (dplyr + tidyr). Readable</a:t>
            </a:r>
          </a:p>
          <a:p>
            <a:pPr algn="l"/>
            <a:r>
              <a:rPr sz="1350" b="0" i="0">
                <a:solidFill>
                  <a:srgbClr val="1C7293"/>
                </a:solidFill>
                <a:latin typeface="Calibri"/>
              </a:rPr>
              <a:t>pipelines via %&gt;% / |&gt;. The default in most R-based health/genomics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83080"/>
            <a:ext cx="3520440" cy="40233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603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2A541"/>
                </a:solidFill>
                <a:latin typeface="Courier New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108960"/>
            <a:ext cx="29718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The incumbent. NumPy-based, enormous ecosystem, the library most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Python data code already assumes you have.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783080"/>
            <a:ext cx="3520440" cy="4023360"/>
          </a:xfrm>
          <a:prstGeom prst="round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0574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polars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603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2A541"/>
                </a:solidFill>
                <a:latin typeface="Courier New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08960"/>
            <a:ext cx="29718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Rust-backed, built for speed and memory efficiency. Lazy evaluation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lets it optimize a whole pipeline before running it. Newer, growing fast.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1 · DATA FRAME ECOSYSTEMS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The Core Verbs, 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9385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tidyverse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385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193852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polars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11064240" cy="6400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243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filter(x &gt;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243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df[df.x &gt; 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62432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df.filter(pl.col('x')&gt;1)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11064240" cy="640080"/>
          </a:xfrm>
          <a:prstGeom prst="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101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101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select(a, 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101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df[['a','b']]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31012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df.select(['a','b'])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86200"/>
            <a:ext cx="11064240" cy="6400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959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mutate / assign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9959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mutate(y = x*2)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9959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df['y'] = df.x*2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99592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df.with_columns(...)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817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group-by + summarize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6817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group_by(g) %&gt;% summarize()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817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df.groupby('g').agg()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68172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df.group_by('g').agg()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3675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join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3675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left_join(y, by='id')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3675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df.merge(y, on='id')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536752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7293"/>
                </a:solidFill>
                <a:latin typeface="Courier New"/>
              </a:rPr>
              <a:t>df.join(y, on='id')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2 ·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Filter → Group-By → Summarize, Three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Same pipeline, same synthetic sample data, three ecosystems — typed live, not just shown.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2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A6B75"/>
                </a:solidFill>
                <a:latin typeface="Calibri"/>
              </a:rPr>
              <a:t>Data: gene_counts_long.csv + sample_metadata.csv (this week's in-class dataset — see SOURCE.md)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TIDYVERSE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treatment &lt;- samples %&gt;%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filter(treatment_group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  == "treatment")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treatment = samples[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samples.treatment_group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  == "treatment"]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POLARS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treatment = samples.filter(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pl.col("treatment_group")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  == "treatment")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2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Select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A6B75"/>
                </a:solidFill>
                <a:latin typeface="Calibri"/>
              </a:rPr>
              <a:t>Data: gene_counts_long.csv + sample_metadata.csv (this week's in-class dataset — see SOURCE.md)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TIDYVERSE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samples %&gt;%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select(sample_id, site,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  treatment_group)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samples[["sample_id",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"site",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"treatment_group"]]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POLARS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samples.select([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"sample_id", "site",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"treatment_group"])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2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Mutate / Assign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A6B75"/>
                </a:solidFill>
                <a:latin typeface="Calibri"/>
              </a:rPr>
              <a:t>Data: gene_counts_long.csv + sample_metadata.csv (this week's in-class dataset — see SOURCE.md)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TIDYVERSE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counts %&gt;%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mutate(log_count =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  log1p(raw_count))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counts["log_count"] =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np.log1p(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  counts["raw_count"])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POLARS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counts.with_columns(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(pl.col("raw_count")+1)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  .log().alias("log_count"))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2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Group-By / 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A6B75"/>
                </a:solidFill>
                <a:latin typeface="Calibri"/>
              </a:rPr>
              <a:t>Data: gene_counts_long.csv + sample_metadata.csv (this week's in-class dataset — see SOURCE.md)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TIDYVERSE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counts %&gt;%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group_by(gene_id) %&gt;%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summarize(mean =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  mean(raw_count))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counts.groupby("gene_id")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["raw_count"].mean()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POLARS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counts.group_by("gene_id")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.agg(pl.col("raw_count")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  .mean())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2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A6B75"/>
                </a:solidFill>
                <a:latin typeface="Calibri"/>
              </a:rPr>
              <a:t>Data: gene_counts_long.csv + sample_metadata.csv (this week's in-class dataset — see SOURCE.md)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TIDYVERSE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counts %&gt;%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left_join(samples,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  by = "sample_id")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counts.merge(samples,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on="sample_id",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how="left")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POLARS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counts.join(samples,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on="sample_id",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how="left")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2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Checkpoint: What to Notice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The five verbs are the same across all three — filter, select, mutate, group-by/summarize, join. That's the concept that transfers.</a:t>
            </a:r>
          </a:p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Syntax differs: R's pipe (%&gt;% or |&gt;) chains functions; pandas mixes bracket indexing and method calls; polars uses a consistent expression API (pl.col(...)) throughout.</a:t>
            </a:r>
          </a:p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polars is lazy by default in real pipelines (.lazy() / .collect()) — it can optimize the whole chain before running it. Worth knowing exists, not a deep dive today.</a:t>
            </a:r>
          </a:p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Pick a language, not a syntax to memorize: once you know the five verbs, translating between ecosystems is a lookup problem, not a relearning problem.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Tidy Data: One Observation, One 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The shape a table is in matters as much as what's in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3 · TIDY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The Tidy Data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3D59"/>
                </a:solidFill>
                <a:latin typeface="Cambria"/>
              </a:rPr>
              <a:t>One observation per row. One variable per column. One value per cell.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5212080" cy="329184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WIDE (messy for this purpose)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46634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ourier New"/>
              </a:rPr>
              <a:t>sample_id  GAPDH  ACTB  MYC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ourier New"/>
              </a:rPr>
              <a:t>S01        1373   1276  651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ourier New"/>
              </a:rPr>
              <a:t>S02        1205   961   591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651760"/>
            <a:ext cx="5212080" cy="3291840"/>
          </a:xfrm>
          <a:prstGeom prst="roundRect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LONG (tidy for a count observation)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6634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ourier New"/>
              </a:rPr>
              <a:t>sample_id  gene_id  raw_count</a:t>
            </a:r>
          </a:p>
          <a:p>
            <a:pPr algn="l"/>
            <a:r>
              <a:rPr sz="1400" b="0" i="0">
                <a:solidFill>
                  <a:srgbClr val="CADCFC"/>
                </a:solidFill>
                <a:latin typeface="Courier New"/>
              </a:rPr>
              <a:t>S01        GAPDH    1373</a:t>
            </a:r>
          </a:p>
          <a:p>
            <a:pPr algn="l"/>
            <a:r>
              <a:rPr sz="1400" b="0" i="0">
                <a:solidFill>
                  <a:srgbClr val="CADCFC"/>
                </a:solidFill>
                <a:latin typeface="Courier New"/>
              </a:rPr>
              <a:t>S01        ACTB     1276</a:t>
            </a:r>
          </a:p>
          <a:p>
            <a:pPr algn="l"/>
            <a:r>
              <a:rPr sz="1400" b="0" i="0">
                <a:solidFill>
                  <a:srgbClr val="CADCFC"/>
                </a:solidFill>
                <a:latin typeface="Courier New"/>
              </a:rPr>
              <a:t>S01        MYC      651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3 · TIDY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Pivoting Between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A6B75"/>
                </a:solidFill>
                <a:latin typeface="Calibri"/>
              </a:rPr>
              <a:t>Data: gene_counts_long.csv + sample_metadata.csv (this week's in-class dataset — see SOURCE.md)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TIDYVERSE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counts %&gt;%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pivot_wider(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  names_from = gene_id,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  values_from = raw_count)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counts.pivot_table(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index="sample_id",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columns="gene_id",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values="raw_count")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011680"/>
            <a:ext cx="3520440" cy="3749039"/>
          </a:xfrm>
          <a:prstGeom prst="rect">
            <a:avLst/>
          </a:prstGeom>
          <a:solidFill>
            <a:srgbClr val="08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2176272"/>
            <a:ext cx="3191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541"/>
                </a:solidFill>
                <a:latin typeface="Calibri"/>
              </a:rPr>
              <a:t>POLARS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496312"/>
            <a:ext cx="3191256" cy="3099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counts.pivot(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index="sample_id",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columns="gene_id",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urier New"/>
              </a:rPr>
              <a:t>  values="raw_count")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3 · TIDY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Why the Shape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515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Long is right for grouping, filtering, and most plotting libraries (ggplot2, matplotlib/seaborn all expect one row per data point).</a:t>
            </a:r>
          </a:p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Wide is right when the unit of analysis is the row — one row per sample is exactly what a model, a join, or a summary table needs.</a:t>
            </a:r>
          </a:p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Neither is more "correct" — the tidy-data rule is about the observation, and what counts as "the observation" depends on the question you're asking.</a:t>
            </a:r>
          </a:p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Wednesday's samples × features × metadata table is a wide table on purpose — that's where this goes next.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PART 3 · TIDY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A Common Anti-Pattern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3D59"/>
                </a:solidFill>
                <a:latin typeface="Cambria"/>
              </a:rPr>
              <a:t>When a column header is actually a variable's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0515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A spreadsheet with columns visit_1_glucose, visit_2_glucose, visit_3_glucose is encoding "visit number" as part of a column name instead of as data.</a:t>
            </a:r>
          </a:p>
          <a:p>
            <a:pPr marL="228600" indent="-228600">
              <a:spcAft>
                <a:spcPts val="14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This is the single most common tidy-data violation in real clinical/genomic exports — and it's exactly what pivot_longer()/melt()/.unpivot() exist to fix.</a:t>
            </a:r>
          </a:p>
          <a:p>
            <a:pPr marL="228600" indent="-228600">
              <a:spcAft>
                <a:spcPts val="1400"/>
              </a:spcAft>
              <a:buClr>
                <a:srgbClr val="1C7293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Calibri"/>
              </a:rPr>
              <a:t>Rule of thumb: if you're about to write the same kind of column three times with a number in the name, that number probably belongs in a row, not a header.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Today's Three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0440" cy="384048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C7293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3D59"/>
                </a:solidFill>
                <a:latin typeface="Cambria"/>
              </a:rPr>
              <a:t>The verbs transfer.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2971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filter, select, mutate, group-by/summarize, join mean the same thing in every ecosystem — only the syntax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828800"/>
            <a:ext cx="3520440" cy="384048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C7293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8892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3D59"/>
                </a:solidFill>
                <a:latin typeface="Cambria"/>
              </a:rPr>
              <a:t>Shape is a choice.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74720"/>
            <a:ext cx="2971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Tidy just means "the right shape for this observation" — long for grouping/plotting, wide for modeling/joining.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828800"/>
            <a:ext cx="3520440" cy="3840480"/>
          </a:xfrm>
          <a:prstGeom prst="roundRect">
            <a:avLst/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031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C7293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8892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3D59"/>
                </a:solidFill>
                <a:latin typeface="Cambria"/>
              </a:rPr>
              <a:t>Wednesday builds on this.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2971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Pivoting + joining raw files into one table is exactly how a samples × features × metadata table gets built.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B3D59"/>
                </a:solidFill>
                <a:latin typeface="Cambria"/>
              </a:rPr>
              <a:t>Before Wednesday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5"/>
                </a:solidFill>
                <a:latin typeface="Calibri"/>
              </a:rPr>
              <a:t>Data Frame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5"/>
                </a:solidFill>
                <a:latin typeface="Calibri"/>
              </a:rPr>
              <a:t>Week 5, Day 1 · Data Wrangling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Calibri"/>
              </a:rPr>
              <a:t>Lab 3 (Parsing Messy Health or Genomic Data) — assigned this week, due Wed, Sep 30, 11:59pm.</a:t>
            </a:r>
          </a:p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Calibri"/>
              </a:rPr>
              <a:t>Wednesday: constructing samples × features × metadata tables, analytic data readiness, and a hands-on feature-table exercise with a new dataset.</a:t>
            </a:r>
          </a:p>
          <a:p>
            <a:pPr marL="228600" indent="-228600">
              <a:spcAft>
                <a:spcPts val="1600"/>
              </a:spcAft>
              <a:buClr>
                <a:srgbClr val="1C7293"/>
              </a:buClr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Calibri"/>
              </a:rPr>
              <a:t>No separate practical this week — Wednesday's session is lecture + hands-on together, same 75-minute slot.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