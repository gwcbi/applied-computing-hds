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19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Set the tone: this is a hands-on, tool-anatomy session, not a theory lecture — we're building toward Lab 2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callback, not a review — Week 2 pinned dependencies so an environment reproduces; today pins *execution order* so a notebook reproduces. Same underlying idea, different failure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 has written analysis code and then a separate write-up that later didn't match? That drift is exactly what a notebook is designed to prevent — as long as it's actually reproducible, which is today's real subject.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Cells run in whatever order you click them, and the kernel keeps every variable from every run — that persistence is the setup for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parallel layout to the Jupyter slide — same structure, different vocabulary. This is the point: it's one idea in two ecosystems, not two different philosophies.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this table explicitly: whichever format a student uses for Lab 2, the discipline in the bottom row is the one thing that isn't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test, applied to a different thing: Week 2 tested whether the *environment* was really captured in a file; this week tests whether the *execution order* is really captured on the page. Transition line into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one slide, moving on. This is a pointer for later (including toward the mixed-language extra credit), not something we're teaching hands-on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We'll do exactly this, live and unscripted, during the demo — don't pre-answer what the AI will say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live-demo.md.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three questions as literal show-of-hands, in order (each is a subset of the last). Roughly count/estimate hands for card 2 vs card 3 -- that gap is who got rescued by something other than AI. Then ask verbally (not on the slide): "for the AI-rescued hands, was that mostly you asking it to explain the error, or did it actually run/fix something for you?" -- chat vs. agentic use. Jot down a rough read of all of this; it is the input for Wednesday's Week 4 planning call, not a demo of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D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APPLIED / PRACTICAL COMPUTING IN HEALTH DATA SCIENCE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3: Reproducible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Notebooks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09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Wednesday, Sep 9,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052560" y="21488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0E4A6B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35440" y="2221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[1]: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052560" y="310896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0E4A6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0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52560" y="40690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0E4A6B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235440" y="4142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Out[1]: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WE'VE BEEN / WHERE WE'RE GOING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session today — no separate practical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Day took Monday's slot. Lecture, demo, and practical all happen in this single 75-minute class.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3E9E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49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— shell, remote/local dev, R &amp; Python overview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97680" y="22860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3E9E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560320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749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— conda/uv/renv, Docker: pin your dependencies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25603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(today)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749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— pin your execution order, not just your packages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Code, output, and narrative — one document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computational notebook — Jupyter or R Markdown/Quarto — keeps three things together that used to live in three places: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68880"/>
            <a:ext cx="338328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analysis — cells or chunks you run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24688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/>
        </p:spPr>
      </p:sp>
      <p:sp>
        <p:nvSpPr>
          <p:cNvPr id="10" name="Shape 8"/>
          <p:cNvSpPr/>
          <p:nvPr/>
        </p:nvSpPr>
        <p:spPr>
          <a:xfrm>
            <a:off x="4160520" y="2468880"/>
            <a:ext cx="3383280" cy="10972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plots, numbers — produced by running 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24688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0" y="2468880"/>
            <a:ext cx="3383280" cy="109728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interpretation, in your own words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0B3D5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mode this replaces: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3892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that produces results, plus a separate Word doc explaining them — two files that quietly drift apart the moment either one changes.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1 OF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Jupyter: cells + a kernel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822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.ipynb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035040" cy="960120"/>
          </a:xfrm>
          <a:prstGeom prst="roundRect">
            <a:avLst>
              <a:gd name="adj" fmla="val 11429"/>
            </a:avLst>
          </a:prstGeom>
          <a:solidFill>
            <a:srgbClr val="E3E9E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00200"/>
            <a:ext cx="109728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cell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4767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Load the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6035040" cy="960120"/>
          </a:xfrm>
          <a:prstGeom prst="roundRect">
            <a:avLst>
              <a:gd name="adj" fmla="val 11429"/>
            </a:avLst>
          </a:prstGeom>
          <a:solidFill>
            <a:srgbClr val="E3E9E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743200"/>
            <a:ext cx="109728" cy="96012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cell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09067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 = pd.read_csv(...)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6035040" cy="960120"/>
          </a:xfrm>
          <a:prstGeom prst="roundRect">
            <a:avLst>
              <a:gd name="adj" fmla="val 11429"/>
            </a:avLst>
          </a:prstGeom>
          <a:solidFill>
            <a:srgbClr val="E3E9E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886200"/>
            <a:ext cx="109728" cy="9601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959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23367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rows × 3 columns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1600200"/>
            <a:ext cx="4480560" cy="3520440"/>
          </a:xfrm>
          <a:prstGeom prst="roundRect">
            <a:avLst>
              <a:gd name="adj" fmla="val 3117"/>
            </a:avLst>
          </a:prstGeom>
          <a:solidFill>
            <a:srgbClr val="0B3D5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kernel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331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Python (or R) process behind the notebook — it remembers every variable from every cell you've run,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whatever order you ran them.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3931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memory is exactly what makes a notebook lie to you about being finished — more on this in the live demo.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2 OF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Markdown / Quarto: chunks + a session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.Rmd / .qmd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E3E9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header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"Analysis"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html_document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6035040" cy="1097280"/>
          </a:xfrm>
          <a:prstGeom prst="roundRect">
            <a:avLst>
              <a:gd name="adj" fmla="val 10000"/>
            </a:avLst>
          </a:prstGeom>
          <a:solidFill>
            <a:srgbClr val="E3E9E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926080"/>
            <a:ext cx="109728" cy="109728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chunk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27355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```{r load-data}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 &lt;- read.csv(...)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6035040" cy="777240"/>
          </a:xfrm>
          <a:prstGeom prst="roundRect">
            <a:avLst>
              <a:gd name="adj" fmla="val 14118"/>
            </a:avLst>
          </a:prstGeom>
          <a:solidFill>
            <a:srgbClr val="E3E9E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60520"/>
            <a:ext cx="109728" cy="7772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2793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Knit / Render →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526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produces starter_notebook.html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0" y="1600200"/>
            <a:ext cx="4480560" cy="3520440"/>
          </a:xfrm>
          <a:prstGeom prst="roundRect">
            <a:avLst>
              <a:gd name="adj" fmla="val 3117"/>
            </a:avLst>
          </a:prstGeom>
          <a:solidFill>
            <a:srgbClr val="0B3D5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6948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 session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23317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Jupyter's kernel, different name. RStudio's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trusts whatever's already in memory — only </a:t>
            </a:r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Knit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 clean session is the real test.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TWO VOCABULARIES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↔ R Markdown / Quarto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777240"/>
          </a:xfrm>
          <a:prstGeom prst="roundRect">
            <a:avLst>
              <a:gd name="adj" fmla="val 14118"/>
            </a:avLst>
          </a:prstGeom>
          <a:solidFill>
            <a:srgbClr val="0B3D59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1737360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1737360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37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737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Markdown / Quarto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0607040" cy="704088"/>
          </a:xfrm>
          <a:prstGeom prst="roundRect">
            <a:avLst>
              <a:gd name="adj" fmla="val 15584"/>
            </a:avLst>
          </a:prstGeom>
          <a:solidFill>
            <a:srgbClr val="E3E9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514600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514600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514600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0607040" cy="704088"/>
          </a:xfrm>
          <a:prstGeom prst="roundRect">
            <a:avLst>
              <a:gd name="adj" fmla="val 15584"/>
            </a:avLst>
          </a:prstGeom>
          <a:solidFill>
            <a:srgbClr val="F4F7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291840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state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291840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291840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session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10607040" cy="704088"/>
          </a:xfrm>
          <a:prstGeom prst="roundRect">
            <a:avLst>
              <a:gd name="adj" fmla="val 15584"/>
            </a:avLst>
          </a:prstGeom>
          <a:solidFill>
            <a:srgbClr val="E3E9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069080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extension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4069080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.ipynb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4069080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.Rmd / .qmd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0607040" cy="704088"/>
          </a:xfrm>
          <a:prstGeom prst="roundRect">
            <a:avLst>
              <a:gd name="adj" fmla="val 15584"/>
            </a:avLst>
          </a:prstGeom>
          <a:solidFill>
            <a:srgbClr val="F4F7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846320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check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4846320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 &amp; Run All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4846320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Knit / render()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623560"/>
            <a:ext cx="10607040" cy="704088"/>
          </a:xfrm>
          <a:prstGeom prst="roundRect">
            <a:avLst>
              <a:gd name="adj" fmla="val 15584"/>
            </a:avLst>
          </a:prstGeom>
          <a:solidFill>
            <a:srgbClr val="E3E9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623560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No-install fallback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343400" y="5623560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Colab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5623560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DISCIPLINE THAT MATTERS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4173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 &amp; Run All.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Knit from a clean session.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touch the file. Not just before you submit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0E4A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2's version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5262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environment. Recreate it from nothing but environment.yml / renv.lock. Does it still work?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393192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version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45262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kernel/session. Run every cell from nothing but the file, top to bottom. Does it still work?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grades this directly — 15 of 100 points, “Re-runs top-to-bottom.”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TOOL, BRIEFLY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Quarto: R Markdown's cross-language successor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88720" cy="118872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916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chunk-based idea as R Markdown — but a single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.qmd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can run both R and Python chunks.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011680" y="3063240"/>
            <a:ext cx="8961120" cy="1737360"/>
          </a:xfrm>
          <a:prstGeom prst="roundRect">
            <a:avLst>
              <a:gd name="adj" fmla="val 6316"/>
            </a:avLst>
          </a:prstGeom>
          <a:solidFill>
            <a:srgbClr val="E3E9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3172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knowing about today: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365760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requires </a:t>
            </a:r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 and Python (grad addendum) on the same dataset — Quarto is one way to get there in one file, if you want it, instead of two separate notebooks.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50292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required, not covered step-by-step today — R Markdown and Jupyter are what today's demo and practical use.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FALLBACK, BRIEFLY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Colab: no install, runs in a browser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E3E9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23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 — runs in a browser tab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0175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compute, including GPUs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611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share a link with a collaborator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BEFD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55080" y="242316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4231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Sessions/runtimes reset — state disappears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301752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017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produces a plain .ipynb — same rules apply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55080" y="361188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36118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we use in class this semester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stuck on a local install with no admin rights, message me — Colab beats losing the week to a broken installer.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HABIT AS WEEK 2, APPLIED HERE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for notebook setup &amp; troubleshooting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from Week 2's dependency-conflict demo, unchanged: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0B3D5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 Kernel and Run All / Knit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60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there's actually a problem, from clean state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0B3D59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256032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246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the exact error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4160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paraphrase — the AI needs the real 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0B3D59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256032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246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twice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160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this mean”, then separately “why would this happen”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0B3D59"/>
          </a:solidFill>
          <a:ln/>
        </p:spPr>
      </p:sp>
      <p:sp>
        <p:nvSpPr>
          <p:cNvPr id="21" name="Shape 19"/>
          <p:cNvSpPr/>
          <p:nvPr/>
        </p:nvSpPr>
        <p:spPr>
          <a:xfrm>
            <a:off x="9006840" y="256032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068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246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answer against the code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4160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explanation actually fit what you see?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2: Analysis Notebook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Wed, Sep 16, 11:59pm  ·  9% of final grade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3E9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/ Comp Bio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RNA-seq (GEO)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1488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3E9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EHR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 demo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1488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3E9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&amp; Pop Health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Framingham subset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21488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3E9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Biostatistics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Clinic PBC trial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40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whichever matches your field, or whichever interests you — each has a ready-to-use Python and R snippet.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0B3D5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663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Notebook, re-run top to bottom, real analysis + plot + your own written interpretation, AI use documented inline.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PUBH 6854 (grad): both R and Python, same dataset, required.  ·  +5 optional: mix both languages in one file — self-directed, not covered in class.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80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73736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 notebook lie to us.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fix one yourselves.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0E4A6B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39776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15 min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6177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finished-looking notebook, and the stale output hiding inside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374904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3977640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— 30 min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6177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it, diagnose it with AI, fix it, make it yours, export it.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b - Check-in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CHECK-IN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of hands: how'd Lab 1 go?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graded, two minutes — this tells us how much AI-troubleshooting content Week 4 actually needs.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3E9E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 sailing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49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environment just worked — no real snags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97680" y="22860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3E9E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560320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Stuck, then rescued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749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wall, but got past it — office hours, a classmate, Google, AI, anything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25603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got me unstuck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749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rescues — how many happened by asking an AI tool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2026-09-02T15:05:46Z</dcterms:created>
  <dcterms:modified xsi:type="dcterms:W3CDTF">2026-09-02T15:05:46Z</dcterms:modified>
</cp:coreProperties>
</file>