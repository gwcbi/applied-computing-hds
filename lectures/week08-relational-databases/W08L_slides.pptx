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theme/theme2.xml" ContentType="application/vnd.openxmlformats-officedocument.them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Single session this week because of Columbus Day. Plan is a full 75 minutes.
Throughline: data lives in many linked tables; your job is to put them back together correctly. The syntax is the easy part. Keeping track of what a JOIN does to your rows is the hard part, and it is exactly where AI-written SQL goes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4 is the reason this lecture exists. Assigned Week 9, due Wed Oct 28, 11:59pm. Week 9 is Mon Oct 19 lecture, Wed Oct 21 practical.
Tell them: the in-class exercise today is a preview of the Lab 4 skill with a different dataset, so nothing is spoiled.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flat table. Ask: what happens when Foggy Bottom Clinic changes its address? (Fix it in every row; miss one and the data now disagrees with itself.) What if a patient has 10 visits? (Their sex and birth year repeat 10 times; one typo and they are two people.)
This is redundancy and inconsistency. Splitting into linked tables means every fact is stored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 key = uniquely identifies a row. Foreign key = a column holding another table's primary key. The arrow points from the foreign key to the table it references.
This is the demo database we use all lecture: a toy tumor-sequencing cohort. NOT the Lab 4 database. Note samples to mutations is one-to-many; a subject has many samples; a sample has many mutation calls.
Note: genes and transcripts are the genomic annotation side. mutations.gene_symbol is plain text, not a foreign key. Hold that thought, it bites us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SQL is declarative. You describe the table you want back. The database figures out how.
Written order is SELECT, FROM, WHERE, GROUP BY, ORDER BY. Logical order is FROM, WHERE, GROUP BY, SELECT, ORDER BY. That is why you cannot use a SELECT alias inside WHERE in most databases. Optional to mention; skip if short on time.
Then switch to iTerm2 for the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Subject 8 exists in subjects but has no samples yet. INNER JOIN silently drops them. LEFT JOIN keeps them with NULLs.
Ask the room: which one do you want if you are building a cohort table and a subject has no samples? Answer: almost always LEFT, and then decide on purpose what to do with the gaps. This is Lab 4 task 4.
Demo: run both from iTerm2 and compare 7 rows vs 8 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Grain = what one row of your result represents. subjects to samples to mutations: a subject has 2 samples but 3 mutation rows. After you join all three, one row is a mutation, not a subject.
COUNT(*) counts rows, so subject 1 shows 3. COUNT(DISTINCT sample_id) gives the 2 samples you meant. Joining one-to-many tables then aggregating is the most common way to get a plausible but wrong number.
Habit: before and after each join, ask what one row is now, and sanity-check the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real-world version, and it ties to Weeks 4-5. mutations.gene_symbol is free text from a pipeline. We join to genes.symbol and get no error, no warning.
12 mutation rows in, 10 out. Two vanished: 'Kras' (case) and 'KRAS ' (trailing space). The query ran fine; the data is just quietly wrong.
Two defences: (1) count before and after; find the orphans with LEFT JOIN ... WHERE right.key IS NULL. (2) normalize: UPPER(TRIM(symbol)). Better: join on stable IDs (NCBI GeneID, Ensembl ID), not names, since symbols get renamed.
Other mismatches to name: patient-level vs visit-level granularity, different ID formats across systems, units.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minutes. Pairs are fine. Use sqlite3 in the terminal or the notebook, their choice. Files are in the Week 8 folder: demo_cohort.db and inclass_exercise.md.
Circulate. Common stuck points: forgetting the join condition (cross join explosion, huge row count), filtering a LEFT JOIN in WHERE, and not noticing Kras / 'KRAS '.
If a pair finishes early: add a count of tumor samples with no mutation calls. (Subject 7, sample 11.)
Solution is in solution/exercise_solution.sql, which is not published.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these are not exotic. They are large relational-ish collections with keys, and the same join problems apply. The skill from the first half transfers.
UCSC: coordinate-centric. Tracks are tables keyed by chrom/start/end. Good for "what is in this region".
NCBI: identifier-centric. Gene (GeneID), SRA (raw reads), GEO (expression datasets), ClinVar (variants). Good for "tell me about this gene or dataset".
Ensembl is the third big one; mention only. Different ID system (ENSG/ENST), which is exactly why the bridge keys matter.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real query run this morning against the UCSC REST API (hg38, MANE track). Run it live in iTerm2 with curl if the room network is fine; fall back to the screenshot/this slide if not.
Point at: strand is minus; two transcripts; ncbiGene = GeneID:3845 is the bridge key into NCBI.
Coordinate trap: UCSC tables store 0-based starts (25205245); the browser display shows 1-based (25205246). Off-by-one between tools is the classic genomics join bug. Same gene, same transcript; our demo DB stores 0-based and adds 1 in the query.
Web UI equivalent: Genome Browser &gt; Tools &gt; Table Browser, assembly hg38, group Genes and Gene Predictions, track MANE, region chr12:25205000-25251000, output: all fields.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response from NCBI E-utilities (esummary, db=gene, id=3845), retrieved this morning. Run it with: bash genomic_api_demo.sh (it does UCSC first, then NCBI on Enter).
Three lessons, each one a join bug waiting to happen:
1. Aliases. KRAS has about 20 other names in the literature (KRAS2, KI-RAS, K-Ras, c-Ki-ras...). Joining on symbols across sources breaks; GeneID does not.
2. Assemblies. GRCh37 (hg19) and GRCh38 (hg38) put KRAS about 153 kb apart. Coordinates are only comparable within one assembly. Always record which one.
3. Conventions. NCBI lists a minus-strand gene start-first from the gene's own point of view, so start &gt; stop. UCSC always writes the smaller number first and flags strand separately. NCBI's stop 25205245 equals UCSC's chromStart 25205245: same 0-based convention, different ordering.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 of thumb: web UI to explore and to find out what exists; code the moment you need it twice. A query typed into a web form cannot be re-run by a reviewer. A script in your repo can. Direct tie to Week 2: reproducibility.
UCSC also exposes a public read-only MySQL server (genome-mysql.soe.ucsc.edu); I have not tested outbound MySQL from SPH 300A, so do not promise it in class.
For Lab 4, none of this is required: the lab uses a SQLite database of real TCGA lung cancer data. This is context for the genomic side of your projects.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Type this prompt into whatever chat tool you use (callback to Weeks 4 and 7 on chat vs agent): "Using this schema [paste .schema], write SQLite that lists every subject and how many KRAS-mutant tumor samples they have, including subjects with zero."
The tool will usually produce something like the slide. It runs, returns rows, looks professional. Before running, ask the room: what is wrong with it? Give them 60-90 seconds in pairs.
Answers: (1) WHERE on m.gene_symbol and sa.tissue after a LEFT JOIN throws away the NULL rows, so it becomes an inner join and subjects with zero vanish. (2) gene_symbol = 'KRAS' misses 'Kras' and 'KRAS '. Tested result: returns only subjects 1 and 6, when the right answer is 1, 2, 4, 6 with one each and 0 for the rest of the 8.
If the tool happens to give you a correct query, great: use the slide as the "what a plausible wrong answer looks like" example. Do not assume the live output will be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after the pair discussion. Left: the fix. Right: the checklist, which is the transferable part.
Linking to Week 7: the thing that saves you is verification, not trust. For SQL, verification = row counts and a hand-checked spot sample.
Lab 4 AI_USAGE.md: if they use AI for their SQL, they should record the prompt, what was wrong, and how they caught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takeaways, then Lab 4 and next week. If time remains, open Lab 4's README on screen and walk the task list so students see how today maps onto it.
Next: Week 9 (Mon Oct 19 lecture, Wed Oct 21 practical): data formats (flat files, HDF5, parquet, FASTQ/BED/GFF/VCF/BAM) and APIs/JSON. Today's UCSC API call was a preview.
Reminder of the readings: PCB chapters 14-15.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82C40"/>
        </a:solidFill>
      </p:bgPr>
    </p:bg>
    <p:spTree>
      <p:nvGrpSpPr>
        <p:cNvPr id="1" name=""/>
        <p:cNvGrpSpPr/>
        <p:nvPr/>
      </p:nvGrpSpPr>
      <p:grpSpPr>
        <a:xfrm>
          <a:off x="0" y="0"/>
          <a:ext cx="0" cy="0"/>
          <a:chOff x="0" y="0"/>
          <a:chExt cx="0" cy="0"/>
        </a:xfrm>
      </p:grpSpPr>
      <p:sp>
        <p:nvSpPr>
          <p:cNvPr id="3" name="Text 0"/>
          <p:cNvSpPr txBox="1"/>
          <p:nvPr/>
        </p:nvSpPr>
        <p:spPr>
          <a:xfrm>
            <a:off x="640080" y="1188720"/>
            <a:ext cx="7315200" cy="457200"/>
          </a:xfrm>
          <a:prstGeom prst="rect">
            <a:avLst/>
          </a:prstGeom>
          <a:noFill/>
          <a:ln/>
        </p:spPr>
        <p:txBody>
          <a:bodyPr wrap="square" lIns="0" tIns="0" rIns="0" bIns="0" rtlCol="0" anchor="ctr"/>
          <a:lstStyle/>
          <a:p>
            <a:pPr indent="0" marL="0">
              <a:buNone/>
            </a:pPr>
            <a:r>
              <a:rPr lang="en-US" sz="2000" b="1" dirty="0">
                <a:solidFill>
                  <a:srgbClr val="F2A541"/>
                </a:solidFill>
                <a:latin typeface="Calibri" pitchFamily="34" charset="0"/>
                <a:ea typeface="Calibri" pitchFamily="34" charset="-122"/>
                <a:cs typeface="Calibri" pitchFamily="34" charset="-120"/>
              </a:rPr>
              <a:t>Week 8</a:t>
            </a:r>
            <a:endParaRPr lang="en-US" sz="2000" dirty="0"/>
          </a:p>
        </p:txBody>
      </p:sp>
      <p:sp>
        <p:nvSpPr>
          <p:cNvPr id="4" name="Text 1"/>
          <p:cNvSpPr txBox="1"/>
          <p:nvPr/>
        </p:nvSpPr>
        <p:spPr>
          <a:xfrm>
            <a:off x="640080" y="1645920"/>
            <a:ext cx="7863840" cy="91440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Relational Databases</a:t>
            </a:r>
            <a:endParaRPr lang="en-US" sz="4800" dirty="0"/>
          </a:p>
        </p:txBody>
      </p:sp>
      <p:sp>
        <p:nvSpPr>
          <p:cNvPr id="5" name="Text 2"/>
          <p:cNvSpPr txBox="1"/>
          <p:nvPr/>
        </p:nvSpPr>
        <p:spPr>
          <a:xfrm>
            <a:off x="640080" y="2651760"/>
            <a:ext cx="7863840" cy="548640"/>
          </a:xfrm>
          <a:prstGeom prst="rect">
            <a:avLst/>
          </a:prstGeom>
          <a:noFill/>
          <a:ln/>
        </p:spPr>
        <p:txBody>
          <a:bodyPr wrap="square" lIns="0" tIns="0" rIns="0" bIns="0" rtlCol="0" anchor="ctr"/>
          <a:lstStyle/>
          <a:p>
            <a:pPr indent="0" marL="0">
              <a:buNone/>
            </a:pPr>
            <a:r>
              <a:rPr lang="en-US" sz="2200" dirty="0">
                <a:solidFill>
                  <a:srgbClr val="CADCFC"/>
                </a:solidFill>
                <a:latin typeface="Calibri" pitchFamily="34" charset="0"/>
                <a:ea typeface="Calibri" pitchFamily="34" charset="-122"/>
                <a:cs typeface="Calibri" pitchFamily="34" charset="-120"/>
              </a:rPr>
              <a:t>Keys, SQL, joins, and why your row count is lying to you</a:t>
            </a:r>
            <a:endParaRPr lang="en-US" sz="2200" dirty="0"/>
          </a:p>
        </p:txBody>
      </p:sp>
      <p:sp>
        <p:nvSpPr>
          <p:cNvPr id="6" name="Text 3"/>
          <p:cNvSpPr txBox="1"/>
          <p:nvPr/>
        </p:nvSpPr>
        <p:spPr>
          <a:xfrm>
            <a:off x="640080" y="4206240"/>
            <a:ext cx="7863840" cy="365760"/>
          </a:xfrm>
          <a:prstGeom prst="rect">
            <a:avLst/>
          </a:prstGeom>
          <a:noFill/>
          <a:ln/>
        </p:spPr>
        <p:txBody>
          <a:bodyPr wrap="square" lIns="0" tIns="0" rIns="0" bIns="0" rtlCol="0" anchor="ctr"/>
          <a:lstStyle/>
          <a:p>
            <a:pPr indent="0" marL="0">
              <a:buNone/>
            </a:pPr>
            <a:r>
              <a:rPr lang="en-US" sz="1400" dirty="0">
                <a:solidFill>
                  <a:srgbClr val="9FB8C8"/>
                </a:solidFill>
              </a:rPr>
              <a:t>PUBH 6854 / 4201 · Applied Computing in Health Data Science · Wed Oct 14</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9"/>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0B3D59"/>
                </a:solidFill>
                <a:latin typeface="Cambria" pitchFamily="34" charset="0"/>
                <a:ea typeface="Cambria" pitchFamily="34" charset="-122"/>
                <a:cs typeface="Cambria" pitchFamily="34" charset="-120"/>
              </a:rPr>
              <a:t>Today</a:t>
            </a:r>
            <a:endParaRPr lang="en-US" sz="3000" dirty="0"/>
          </a:p>
        </p:txBody>
      </p:sp>
      <p:sp>
        <p:nvSpPr>
          <p:cNvPr id="3" name="Text 1"/>
          <p:cNvSpPr txBox="1"/>
          <p:nvPr/>
        </p:nvSpPr>
        <p:spPr>
          <a:xfrm>
            <a:off x="8412480" y="4754880"/>
            <a:ext cx="365760" cy="228600"/>
          </a:xfrm>
          <a:prstGeom prst="rect">
            <a:avLst/>
          </a:prstGeom>
          <a:noFill/>
          <a:ln/>
        </p:spPr>
        <p:txBody>
          <a:bodyPr wrap="square" lIns="0" tIns="0" rIns="0" bIns="0" rtlCol="0" anchor="ctr"/>
          <a:lstStyle/>
          <a:p>
            <a:pPr algn="r" indent="0" marL="0">
              <a:buNone/>
            </a:pPr>
            <a:r>
              <a:rPr lang="en-US" sz="1000" dirty="0">
                <a:solidFill>
                  <a:srgbClr val="5A6B75"/>
                </a:solidFill>
              </a:rPr>
              <a:t>2</a:t>
            </a:r>
            <a:endParaRPr lang="en-US" sz="1000" dirty="0"/>
          </a:p>
        </p:txBody>
      </p:sp>
      <p:sp>
        <p:nvSpPr>
          <p:cNvPr id="5" name="Shape 2"/>
          <p:cNvSpPr/>
          <p:nvPr/>
        </p:nvSpPr>
        <p:spPr>
          <a:xfrm>
            <a:off x="457200" y="1097280"/>
            <a:ext cx="384048" cy="384048"/>
          </a:xfrm>
          <a:prstGeom prst="ellipse">
            <a:avLst/>
          </a:prstGeom>
          <a:solidFill>
            <a:srgbClr val="1C7293"/>
          </a:solidFill>
          <a:ln w="12700">
            <a:solidFill>
              <a:srgbClr val="1C7293"/>
            </a:solidFill>
            <a:prstDash val="solid"/>
          </a:ln>
        </p:spPr>
      </p:sp>
      <p:sp>
        <p:nvSpPr>
          <p:cNvPr id="6" name="Text 3"/>
          <p:cNvSpPr txBox="1"/>
          <p:nvPr/>
        </p:nvSpPr>
        <p:spPr>
          <a:xfrm>
            <a:off x="457200" y="109728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7" name="Text 4"/>
          <p:cNvSpPr txBox="1"/>
          <p:nvPr/>
        </p:nvSpPr>
        <p:spPr>
          <a:xfrm>
            <a:off x="1005840" y="1097280"/>
            <a:ext cx="2377440" cy="384048"/>
          </a:xfrm>
          <a:prstGeom prst="rect">
            <a:avLst/>
          </a:prstGeom>
          <a:noFill/>
          <a:ln/>
        </p:spPr>
        <p:txBody>
          <a:bodyPr wrap="square" lIns="0" tIns="0" rIns="0" bIns="0" rtlCol="0" anchor="ctr"/>
          <a:lstStyle/>
          <a:p>
            <a:pPr indent="0" marL="0">
              <a:buNone/>
            </a:pPr>
            <a:r>
              <a:rPr lang="en-US" sz="1800" b="1" dirty="0">
                <a:solidFill>
                  <a:srgbClr val="0B3D59"/>
                </a:solidFill>
                <a:latin typeface="Cambria" pitchFamily="34" charset="0"/>
                <a:ea typeface="Cambria" pitchFamily="34" charset="-122"/>
                <a:cs typeface="Cambria" pitchFamily="34" charset="-120"/>
              </a:rPr>
              <a:t>Relational model</a:t>
            </a:r>
            <a:endParaRPr lang="en-US" sz="1800" dirty="0"/>
          </a:p>
        </p:txBody>
      </p:sp>
      <p:sp>
        <p:nvSpPr>
          <p:cNvPr id="8" name="Text 5"/>
          <p:cNvSpPr txBox="1"/>
          <p:nvPr/>
        </p:nvSpPr>
        <p:spPr>
          <a:xfrm>
            <a:off x="3383280" y="1097280"/>
            <a:ext cx="3657600" cy="384048"/>
          </a:xfrm>
          <a:prstGeom prst="rect">
            <a:avLst/>
          </a:prstGeom>
          <a:noFill/>
          <a:ln/>
        </p:spPr>
        <p:txBody>
          <a:bodyPr wrap="square" lIns="0" tIns="0" rIns="0" bIns="0" rtlCol="0" anchor="ctr"/>
          <a:lstStyle/>
          <a:p>
            <a:pPr indent="0" marL="0">
              <a:buNone/>
            </a:pPr>
            <a:r>
              <a:rPr lang="en-US" sz="1500" dirty="0">
                <a:solidFill>
                  <a:srgbClr val="1A1A1A"/>
                </a:solidFill>
              </a:rPr>
              <a:t>Tables, keys, why we split data up</a:t>
            </a:r>
            <a:endParaRPr lang="en-US" sz="1500" dirty="0"/>
          </a:p>
        </p:txBody>
      </p:sp>
      <p:sp>
        <p:nvSpPr>
          <p:cNvPr id="9" name="Text 6"/>
          <p:cNvSpPr txBox="1"/>
          <p:nvPr/>
        </p:nvSpPr>
        <p:spPr>
          <a:xfrm>
            <a:off x="7132320" y="1097280"/>
            <a:ext cx="822960" cy="384048"/>
          </a:xfrm>
          <a:prstGeom prst="rect">
            <a:avLst/>
          </a:prstGeom>
          <a:noFill/>
          <a:ln/>
        </p:spPr>
        <p:txBody>
          <a:bodyPr wrap="square" lIns="0" tIns="0" rIns="0" bIns="0" rtlCol="0" anchor="ctr"/>
          <a:lstStyle/>
          <a:p>
            <a:pPr indent="0" marL="0">
              <a:buNone/>
            </a:pPr>
            <a:r>
              <a:rPr lang="en-US" sz="1400" dirty="0">
                <a:solidFill>
                  <a:srgbClr val="5A6B75"/>
                </a:solidFill>
              </a:rPr>
              <a:t>11 min</a:t>
            </a:r>
            <a:endParaRPr lang="en-US" sz="1400" dirty="0"/>
          </a:p>
        </p:txBody>
      </p:sp>
      <p:sp>
        <p:nvSpPr>
          <p:cNvPr id="10" name="Shape 7"/>
          <p:cNvSpPr/>
          <p:nvPr/>
        </p:nvSpPr>
        <p:spPr>
          <a:xfrm>
            <a:off x="457200" y="1627632"/>
            <a:ext cx="384048" cy="384048"/>
          </a:xfrm>
          <a:prstGeom prst="ellipse">
            <a:avLst/>
          </a:prstGeom>
          <a:solidFill>
            <a:srgbClr val="1C7293"/>
          </a:solidFill>
          <a:ln w="12700">
            <a:solidFill>
              <a:srgbClr val="1C7293"/>
            </a:solidFill>
            <a:prstDash val="solid"/>
          </a:ln>
        </p:spPr>
      </p:sp>
      <p:sp>
        <p:nvSpPr>
          <p:cNvPr id="11" name="Text 8"/>
          <p:cNvSpPr txBox="1"/>
          <p:nvPr/>
        </p:nvSpPr>
        <p:spPr>
          <a:xfrm>
            <a:off x="457200" y="1627632"/>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12" name="Text 9"/>
          <p:cNvSpPr txBox="1"/>
          <p:nvPr/>
        </p:nvSpPr>
        <p:spPr>
          <a:xfrm>
            <a:off x="1005840" y="1627632"/>
            <a:ext cx="2377440" cy="384048"/>
          </a:xfrm>
          <a:prstGeom prst="rect">
            <a:avLst/>
          </a:prstGeom>
          <a:noFill/>
          <a:ln/>
        </p:spPr>
        <p:txBody>
          <a:bodyPr wrap="square" lIns="0" tIns="0" rIns="0" bIns="0" rtlCol="0" anchor="ctr"/>
          <a:lstStyle/>
          <a:p>
            <a:pPr indent="0" marL="0">
              <a:buNone/>
            </a:pPr>
            <a:r>
              <a:rPr lang="en-US" sz="1800" b="1" dirty="0">
                <a:solidFill>
                  <a:srgbClr val="0B3D59"/>
                </a:solidFill>
                <a:latin typeface="Cambria" pitchFamily="34" charset="0"/>
                <a:ea typeface="Cambria" pitchFamily="34" charset="-122"/>
                <a:cs typeface="Cambria" pitchFamily="34" charset="-120"/>
              </a:rPr>
              <a:t>SQL, live</a:t>
            </a:r>
            <a:endParaRPr lang="en-US" sz="1800" dirty="0"/>
          </a:p>
        </p:txBody>
      </p:sp>
      <p:sp>
        <p:nvSpPr>
          <p:cNvPr id="13" name="Text 10"/>
          <p:cNvSpPr txBox="1"/>
          <p:nvPr/>
        </p:nvSpPr>
        <p:spPr>
          <a:xfrm>
            <a:off x="3383280" y="1627632"/>
            <a:ext cx="3657600" cy="384048"/>
          </a:xfrm>
          <a:prstGeom prst="rect">
            <a:avLst/>
          </a:prstGeom>
          <a:noFill/>
          <a:ln/>
        </p:spPr>
        <p:txBody>
          <a:bodyPr wrap="square" lIns="0" tIns="0" rIns="0" bIns="0" rtlCol="0" anchor="ctr"/>
          <a:lstStyle/>
          <a:p>
            <a:pPr indent="0" marL="0">
              <a:buNone/>
            </a:pPr>
            <a:r>
              <a:rPr lang="en-US" sz="1500" dirty="0">
                <a:solidFill>
                  <a:srgbClr val="1A1A1A"/>
                </a:solidFill>
              </a:rPr>
              <a:t>SELECT / WHERE / JOIN / GROUP BY</a:t>
            </a:r>
            <a:endParaRPr lang="en-US" sz="1500" dirty="0"/>
          </a:p>
        </p:txBody>
      </p:sp>
      <p:sp>
        <p:nvSpPr>
          <p:cNvPr id="14" name="Text 11"/>
          <p:cNvSpPr txBox="1"/>
          <p:nvPr/>
        </p:nvSpPr>
        <p:spPr>
          <a:xfrm>
            <a:off x="7132320" y="1627632"/>
            <a:ext cx="822960" cy="384048"/>
          </a:xfrm>
          <a:prstGeom prst="rect">
            <a:avLst/>
          </a:prstGeom>
          <a:noFill/>
          <a:ln/>
        </p:spPr>
        <p:txBody>
          <a:bodyPr wrap="square" lIns="0" tIns="0" rIns="0" bIns="0" rtlCol="0" anchor="ctr"/>
          <a:lstStyle/>
          <a:p>
            <a:pPr indent="0" marL="0">
              <a:buNone/>
            </a:pPr>
            <a:r>
              <a:rPr lang="en-US" sz="1400" dirty="0">
                <a:solidFill>
                  <a:srgbClr val="5A6B75"/>
                </a:solidFill>
              </a:rPr>
              <a:t>20 min</a:t>
            </a:r>
            <a:endParaRPr lang="en-US" sz="1400" dirty="0"/>
          </a:p>
        </p:txBody>
      </p:sp>
      <p:sp>
        <p:nvSpPr>
          <p:cNvPr id="15" name="Shape 12"/>
          <p:cNvSpPr/>
          <p:nvPr/>
        </p:nvSpPr>
        <p:spPr>
          <a:xfrm>
            <a:off x="457200" y="2157984"/>
            <a:ext cx="384048" cy="384048"/>
          </a:xfrm>
          <a:prstGeom prst="ellipse">
            <a:avLst/>
          </a:prstGeom>
          <a:solidFill>
            <a:srgbClr val="1C7293"/>
          </a:solidFill>
          <a:ln w="12700">
            <a:solidFill>
              <a:srgbClr val="1C7293"/>
            </a:solidFill>
            <a:prstDash val="solid"/>
          </a:ln>
        </p:spPr>
      </p:sp>
      <p:sp>
        <p:nvSpPr>
          <p:cNvPr id="16" name="Text 13"/>
          <p:cNvSpPr txBox="1"/>
          <p:nvPr/>
        </p:nvSpPr>
        <p:spPr>
          <a:xfrm>
            <a:off x="457200" y="2157984"/>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7" name="Text 14"/>
          <p:cNvSpPr txBox="1"/>
          <p:nvPr/>
        </p:nvSpPr>
        <p:spPr>
          <a:xfrm>
            <a:off x="1005840" y="2157984"/>
            <a:ext cx="2377440" cy="384048"/>
          </a:xfrm>
          <a:prstGeom prst="rect">
            <a:avLst/>
          </a:prstGeom>
          <a:noFill/>
          <a:ln/>
        </p:spPr>
        <p:txBody>
          <a:bodyPr wrap="square" lIns="0" tIns="0" rIns="0" bIns="0" rtlCol="0" anchor="ctr"/>
          <a:lstStyle/>
          <a:p>
            <a:pPr indent="0" marL="0">
              <a:buNone/>
            </a:pPr>
            <a:r>
              <a:rPr lang="en-US" sz="1800" b="1" dirty="0">
                <a:solidFill>
                  <a:srgbClr val="0B3D59"/>
                </a:solidFill>
                <a:latin typeface="Cambria" pitchFamily="34" charset="0"/>
                <a:ea typeface="Cambria" pitchFamily="34" charset="-122"/>
                <a:cs typeface="Cambria" pitchFamily="34" charset="-120"/>
              </a:rPr>
              <a:t>Joins that go wrong</a:t>
            </a:r>
            <a:endParaRPr lang="en-US" sz="1800" dirty="0"/>
          </a:p>
        </p:txBody>
      </p:sp>
      <p:sp>
        <p:nvSpPr>
          <p:cNvPr id="18" name="Text 15"/>
          <p:cNvSpPr txBox="1"/>
          <p:nvPr/>
        </p:nvSpPr>
        <p:spPr>
          <a:xfrm>
            <a:off x="3383280" y="2157984"/>
            <a:ext cx="3657600" cy="384048"/>
          </a:xfrm>
          <a:prstGeom prst="rect">
            <a:avLst/>
          </a:prstGeom>
          <a:noFill/>
          <a:ln/>
        </p:spPr>
        <p:txBody>
          <a:bodyPr wrap="square" lIns="0" tIns="0" rIns="0" bIns="0" rtlCol="0" anchor="ctr"/>
          <a:lstStyle/>
          <a:p>
            <a:pPr indent="0" marL="0">
              <a:buNone/>
            </a:pPr>
            <a:r>
              <a:rPr lang="en-US" sz="1500" dirty="0">
                <a:solidFill>
                  <a:srgbClr val="1A1A1A"/>
                </a:solidFill>
              </a:rPr>
              <a:t>Mismatched keys, silent row loss</a:t>
            </a:r>
            <a:endParaRPr lang="en-US" sz="1500" dirty="0"/>
          </a:p>
        </p:txBody>
      </p:sp>
      <p:sp>
        <p:nvSpPr>
          <p:cNvPr id="19" name="Text 16"/>
          <p:cNvSpPr txBox="1"/>
          <p:nvPr/>
        </p:nvSpPr>
        <p:spPr>
          <a:xfrm>
            <a:off x="7132320" y="2157984"/>
            <a:ext cx="822960" cy="384048"/>
          </a:xfrm>
          <a:prstGeom prst="rect">
            <a:avLst/>
          </a:prstGeom>
          <a:noFill/>
          <a:ln/>
        </p:spPr>
        <p:txBody>
          <a:bodyPr wrap="square" lIns="0" tIns="0" rIns="0" bIns="0" rtlCol="0" anchor="ctr"/>
          <a:lstStyle/>
          <a:p>
            <a:pPr indent="0" marL="0">
              <a:buNone/>
            </a:pPr>
            <a:r>
              <a:rPr lang="en-US" sz="1400" dirty="0">
                <a:solidFill>
                  <a:srgbClr val="5A6B75"/>
                </a:solidFill>
              </a:rPr>
              <a:t>7 min</a:t>
            </a:r>
            <a:endParaRPr lang="en-US" sz="1400" dirty="0"/>
          </a:p>
        </p:txBody>
      </p:sp>
      <p:sp>
        <p:nvSpPr>
          <p:cNvPr id="20" name="Shape 17"/>
          <p:cNvSpPr/>
          <p:nvPr/>
        </p:nvSpPr>
        <p:spPr>
          <a:xfrm>
            <a:off x="457200" y="2688336"/>
            <a:ext cx="384048" cy="384048"/>
          </a:xfrm>
          <a:prstGeom prst="ellipse">
            <a:avLst/>
          </a:prstGeom>
          <a:solidFill>
            <a:srgbClr val="1C7293"/>
          </a:solidFill>
          <a:ln w="12700">
            <a:solidFill>
              <a:srgbClr val="1C7293"/>
            </a:solidFill>
            <a:prstDash val="solid"/>
          </a:ln>
        </p:spPr>
      </p:sp>
      <p:sp>
        <p:nvSpPr>
          <p:cNvPr id="21" name="Text 18"/>
          <p:cNvSpPr txBox="1"/>
          <p:nvPr/>
        </p:nvSpPr>
        <p:spPr>
          <a:xfrm>
            <a:off x="457200" y="2688336"/>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rPr>
              <a:t>4</a:t>
            </a:r>
            <a:endParaRPr lang="en-US" sz="1600" dirty="0"/>
          </a:p>
        </p:txBody>
      </p:sp>
      <p:sp>
        <p:nvSpPr>
          <p:cNvPr id="22" name="Text 19"/>
          <p:cNvSpPr txBox="1"/>
          <p:nvPr/>
        </p:nvSpPr>
        <p:spPr>
          <a:xfrm>
            <a:off x="1005840" y="2688336"/>
            <a:ext cx="2377440" cy="384048"/>
          </a:xfrm>
          <a:prstGeom prst="rect">
            <a:avLst/>
          </a:prstGeom>
          <a:noFill/>
          <a:ln/>
        </p:spPr>
        <p:txBody>
          <a:bodyPr wrap="square" lIns="0" tIns="0" rIns="0" bIns="0" rtlCol="0" anchor="ctr"/>
          <a:lstStyle/>
          <a:p>
            <a:pPr indent="0" marL="0">
              <a:buNone/>
            </a:pPr>
            <a:r>
              <a:rPr lang="en-US" sz="1800" b="1" dirty="0">
                <a:solidFill>
                  <a:srgbClr val="0B3D59"/>
                </a:solidFill>
                <a:latin typeface="Cambria" pitchFamily="34" charset="0"/>
                <a:ea typeface="Cambria" pitchFamily="34" charset="-122"/>
                <a:cs typeface="Cambria" pitchFamily="34" charset="-120"/>
              </a:rPr>
              <a:t>Hands-on</a:t>
            </a:r>
            <a:endParaRPr lang="en-US" sz="1800" dirty="0"/>
          </a:p>
        </p:txBody>
      </p:sp>
      <p:sp>
        <p:nvSpPr>
          <p:cNvPr id="23" name="Text 20"/>
          <p:cNvSpPr txBox="1"/>
          <p:nvPr/>
        </p:nvSpPr>
        <p:spPr>
          <a:xfrm>
            <a:off x="3383280" y="2688336"/>
            <a:ext cx="3657600" cy="384048"/>
          </a:xfrm>
          <a:prstGeom prst="rect">
            <a:avLst/>
          </a:prstGeom>
          <a:noFill/>
          <a:ln/>
        </p:spPr>
        <p:txBody>
          <a:bodyPr wrap="square" lIns="0" tIns="0" rIns="0" bIns="0" rtlCol="0" anchor="ctr"/>
          <a:lstStyle/>
          <a:p>
            <a:pPr indent="0" marL="0">
              <a:buNone/>
            </a:pPr>
            <a:r>
              <a:rPr lang="en-US" sz="1500" dirty="0">
                <a:solidFill>
                  <a:srgbClr val="1A1A1A"/>
                </a:solidFill>
              </a:rPr>
              <a:t>Merge three tables yourself</a:t>
            </a:r>
            <a:endParaRPr lang="en-US" sz="1500" dirty="0"/>
          </a:p>
        </p:txBody>
      </p:sp>
      <p:sp>
        <p:nvSpPr>
          <p:cNvPr id="24" name="Text 21"/>
          <p:cNvSpPr txBox="1"/>
          <p:nvPr/>
        </p:nvSpPr>
        <p:spPr>
          <a:xfrm>
            <a:off x="7132320" y="2688336"/>
            <a:ext cx="822960" cy="384048"/>
          </a:xfrm>
          <a:prstGeom prst="rect">
            <a:avLst/>
          </a:prstGeom>
          <a:noFill/>
          <a:ln/>
        </p:spPr>
        <p:txBody>
          <a:bodyPr wrap="square" lIns="0" tIns="0" rIns="0" bIns="0" rtlCol="0" anchor="ctr"/>
          <a:lstStyle/>
          <a:p>
            <a:pPr indent="0" marL="0">
              <a:buNone/>
            </a:pPr>
            <a:r>
              <a:rPr lang="en-US" sz="1400" dirty="0">
                <a:solidFill>
                  <a:srgbClr val="5A6B75"/>
                </a:solidFill>
              </a:rPr>
              <a:t>10 min</a:t>
            </a:r>
            <a:endParaRPr lang="en-US" sz="1400" dirty="0"/>
          </a:p>
        </p:txBody>
      </p:sp>
      <p:sp>
        <p:nvSpPr>
          <p:cNvPr id="25" name="Shape 22"/>
          <p:cNvSpPr/>
          <p:nvPr/>
        </p:nvSpPr>
        <p:spPr>
          <a:xfrm>
            <a:off x="457200" y="3218688"/>
            <a:ext cx="384048" cy="384048"/>
          </a:xfrm>
          <a:prstGeom prst="ellipse">
            <a:avLst/>
          </a:prstGeom>
          <a:solidFill>
            <a:srgbClr val="1C7293"/>
          </a:solidFill>
          <a:ln w="12700">
            <a:solidFill>
              <a:srgbClr val="1C7293"/>
            </a:solidFill>
            <a:prstDash val="solid"/>
          </a:ln>
        </p:spPr>
      </p:sp>
      <p:sp>
        <p:nvSpPr>
          <p:cNvPr id="26" name="Text 23"/>
          <p:cNvSpPr txBox="1"/>
          <p:nvPr/>
        </p:nvSpPr>
        <p:spPr>
          <a:xfrm>
            <a:off x="457200" y="3218688"/>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rPr>
              <a:t>5</a:t>
            </a:r>
            <a:endParaRPr lang="en-US" sz="1600" dirty="0"/>
          </a:p>
        </p:txBody>
      </p:sp>
      <p:sp>
        <p:nvSpPr>
          <p:cNvPr id="27" name="Text 24"/>
          <p:cNvSpPr txBox="1"/>
          <p:nvPr/>
        </p:nvSpPr>
        <p:spPr>
          <a:xfrm>
            <a:off x="1005840" y="3218688"/>
            <a:ext cx="2377440" cy="384048"/>
          </a:xfrm>
          <a:prstGeom prst="rect">
            <a:avLst/>
          </a:prstGeom>
          <a:noFill/>
          <a:ln/>
        </p:spPr>
        <p:txBody>
          <a:bodyPr wrap="square" lIns="0" tIns="0" rIns="0" bIns="0" rtlCol="0" anchor="ctr"/>
          <a:lstStyle/>
          <a:p>
            <a:pPr indent="0" marL="0">
              <a:buNone/>
            </a:pPr>
            <a:r>
              <a:rPr lang="en-US" sz="1800" b="1" dirty="0">
                <a:solidFill>
                  <a:srgbClr val="0B3D59"/>
                </a:solidFill>
                <a:latin typeface="Cambria" pitchFamily="34" charset="0"/>
                <a:ea typeface="Cambria" pitchFamily="34" charset="-122"/>
                <a:cs typeface="Cambria" pitchFamily="34" charset="-120"/>
              </a:rPr>
              <a:t>UCSC and NCBI</a:t>
            </a:r>
            <a:endParaRPr lang="en-US" sz="1800" dirty="0"/>
          </a:p>
        </p:txBody>
      </p:sp>
      <p:sp>
        <p:nvSpPr>
          <p:cNvPr id="28" name="Text 25"/>
          <p:cNvSpPr txBox="1"/>
          <p:nvPr/>
        </p:nvSpPr>
        <p:spPr>
          <a:xfrm>
            <a:off x="3383280" y="3218688"/>
            <a:ext cx="3657600" cy="384048"/>
          </a:xfrm>
          <a:prstGeom prst="rect">
            <a:avLst/>
          </a:prstGeom>
          <a:noFill/>
          <a:ln/>
        </p:spPr>
        <p:txBody>
          <a:bodyPr wrap="square" lIns="0" tIns="0" rIns="0" bIns="0" rtlCol="0" anchor="ctr"/>
          <a:lstStyle/>
          <a:p>
            <a:pPr indent="0" marL="0">
              <a:buNone/>
            </a:pPr>
            <a:r>
              <a:rPr lang="en-US" sz="1500" dirty="0">
                <a:solidFill>
                  <a:srgbClr val="1A1A1A"/>
                </a:solidFill>
              </a:rPr>
              <a:t>Genomic databases are relational too</a:t>
            </a:r>
            <a:endParaRPr lang="en-US" sz="1500" dirty="0"/>
          </a:p>
        </p:txBody>
      </p:sp>
      <p:sp>
        <p:nvSpPr>
          <p:cNvPr id="29" name="Text 26"/>
          <p:cNvSpPr txBox="1"/>
          <p:nvPr/>
        </p:nvSpPr>
        <p:spPr>
          <a:xfrm>
            <a:off x="7132320" y="3218688"/>
            <a:ext cx="822960" cy="384048"/>
          </a:xfrm>
          <a:prstGeom prst="rect">
            <a:avLst/>
          </a:prstGeom>
          <a:noFill/>
          <a:ln/>
        </p:spPr>
        <p:txBody>
          <a:bodyPr wrap="square" lIns="0" tIns="0" rIns="0" bIns="0" rtlCol="0" anchor="ctr"/>
          <a:lstStyle/>
          <a:p>
            <a:pPr indent="0" marL="0">
              <a:buNone/>
            </a:pPr>
            <a:r>
              <a:rPr lang="en-US" sz="1400" dirty="0">
                <a:solidFill>
                  <a:srgbClr val="5A6B75"/>
                </a:solidFill>
              </a:rPr>
              <a:t>12 min</a:t>
            </a:r>
            <a:endParaRPr lang="en-US" sz="1400" dirty="0"/>
          </a:p>
        </p:txBody>
      </p:sp>
      <p:sp>
        <p:nvSpPr>
          <p:cNvPr id="30" name="Shape 27"/>
          <p:cNvSpPr/>
          <p:nvPr/>
        </p:nvSpPr>
        <p:spPr>
          <a:xfrm>
            <a:off x="457200" y="3749040"/>
            <a:ext cx="384048" cy="384048"/>
          </a:xfrm>
          <a:prstGeom prst="ellipse">
            <a:avLst/>
          </a:prstGeom>
          <a:solidFill>
            <a:srgbClr val="1C7293"/>
          </a:solidFill>
          <a:ln w="12700">
            <a:solidFill>
              <a:srgbClr val="1C7293"/>
            </a:solidFill>
            <a:prstDash val="solid"/>
          </a:ln>
        </p:spPr>
      </p:sp>
      <p:sp>
        <p:nvSpPr>
          <p:cNvPr id="31" name="Text 28"/>
          <p:cNvSpPr txBox="1"/>
          <p:nvPr/>
        </p:nvSpPr>
        <p:spPr>
          <a:xfrm>
            <a:off x="457200" y="374904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rPr>
              <a:t>6</a:t>
            </a:r>
            <a:endParaRPr lang="en-US" sz="1600" dirty="0"/>
          </a:p>
        </p:txBody>
      </p:sp>
      <p:sp>
        <p:nvSpPr>
          <p:cNvPr id="32" name="Text 29"/>
          <p:cNvSpPr txBox="1"/>
          <p:nvPr/>
        </p:nvSpPr>
        <p:spPr>
          <a:xfrm>
            <a:off x="1005840" y="3749040"/>
            <a:ext cx="2377440" cy="384048"/>
          </a:xfrm>
          <a:prstGeom prst="rect">
            <a:avLst/>
          </a:prstGeom>
          <a:noFill/>
          <a:ln/>
        </p:spPr>
        <p:txBody>
          <a:bodyPr wrap="square" lIns="0" tIns="0" rIns="0" bIns="0" rtlCol="0" anchor="ctr"/>
          <a:lstStyle/>
          <a:p>
            <a:pPr indent="0" marL="0">
              <a:buNone/>
            </a:pPr>
            <a:r>
              <a:rPr lang="en-US" sz="1800" b="1" dirty="0">
                <a:solidFill>
                  <a:srgbClr val="0B3D59"/>
                </a:solidFill>
                <a:latin typeface="Cambria" pitchFamily="34" charset="0"/>
                <a:ea typeface="Cambria" pitchFamily="34" charset="-122"/>
                <a:cs typeface="Cambria" pitchFamily="34" charset="-120"/>
              </a:rPr>
              <a:t>AI-written SQL</a:t>
            </a:r>
            <a:endParaRPr lang="en-US" sz="1800" dirty="0"/>
          </a:p>
        </p:txBody>
      </p:sp>
      <p:sp>
        <p:nvSpPr>
          <p:cNvPr id="33" name="Text 30"/>
          <p:cNvSpPr txBox="1"/>
          <p:nvPr/>
        </p:nvSpPr>
        <p:spPr>
          <a:xfrm>
            <a:off x="3383280" y="3749040"/>
            <a:ext cx="3657600" cy="384048"/>
          </a:xfrm>
          <a:prstGeom prst="rect">
            <a:avLst/>
          </a:prstGeom>
          <a:noFill/>
          <a:ln/>
        </p:spPr>
        <p:txBody>
          <a:bodyPr wrap="square" lIns="0" tIns="0" rIns="0" bIns="0" rtlCol="0" anchor="ctr"/>
          <a:lstStyle/>
          <a:p>
            <a:pPr indent="0" marL="0">
              <a:buNone/>
            </a:pPr>
            <a:r>
              <a:rPr lang="en-US" sz="1500" dirty="0">
                <a:solidFill>
                  <a:srgbClr val="1A1A1A"/>
                </a:solidFill>
              </a:rPr>
              <a:t>Ask, then audit</a:t>
            </a:r>
            <a:endParaRPr lang="en-US" sz="1500" dirty="0"/>
          </a:p>
        </p:txBody>
      </p:sp>
      <p:sp>
        <p:nvSpPr>
          <p:cNvPr id="34" name="Text 31"/>
          <p:cNvSpPr txBox="1"/>
          <p:nvPr/>
        </p:nvSpPr>
        <p:spPr>
          <a:xfrm>
            <a:off x="7132320" y="3749040"/>
            <a:ext cx="822960" cy="384048"/>
          </a:xfrm>
          <a:prstGeom prst="rect">
            <a:avLst/>
          </a:prstGeom>
          <a:noFill/>
          <a:ln/>
        </p:spPr>
        <p:txBody>
          <a:bodyPr wrap="square" lIns="0" tIns="0" rIns="0" bIns="0" rtlCol="0" anchor="ctr"/>
          <a:lstStyle/>
          <a:p>
            <a:pPr indent="0" marL="0">
              <a:buNone/>
            </a:pPr>
            <a:r>
              <a:rPr lang="en-US" sz="1400" dirty="0">
                <a:solidFill>
                  <a:srgbClr val="5A6B75"/>
                </a:solidFill>
              </a:rPr>
              <a:t>9 min</a:t>
            </a:r>
            <a:endParaRPr lang="en-US" sz="1400" dirty="0"/>
          </a:p>
        </p:txBody>
      </p:sp>
      <p:sp>
        <p:nvSpPr>
          <p:cNvPr id="35" name="Shape 32"/>
          <p:cNvSpPr/>
          <p:nvPr/>
        </p:nvSpPr>
        <p:spPr>
          <a:xfrm>
            <a:off x="457200" y="4343400"/>
            <a:ext cx="7498080" cy="502920"/>
          </a:xfrm>
          <a:prstGeom prst="roundRect">
            <a:avLst>
              <a:gd name="adj" fmla="val 14545"/>
            </a:avLst>
          </a:prstGeom>
          <a:solidFill>
            <a:srgbClr val="E3E9EC"/>
          </a:solidFill>
          <a:ln w="12700">
            <a:solidFill>
              <a:srgbClr val="E3E9EC"/>
            </a:solidFill>
            <a:prstDash val="solid"/>
          </a:ln>
        </p:spPr>
      </p:sp>
      <p:sp>
        <p:nvSpPr>
          <p:cNvPr id="36" name="Text 33"/>
          <p:cNvSpPr txBox="1"/>
          <p:nvPr/>
        </p:nvSpPr>
        <p:spPr>
          <a:xfrm>
            <a:off x="640080" y="4389120"/>
            <a:ext cx="7223760" cy="411480"/>
          </a:xfrm>
          <a:prstGeom prst="rect">
            <a:avLst/>
          </a:prstGeom>
          <a:noFill/>
          <a:ln/>
        </p:spPr>
        <p:txBody>
          <a:bodyPr wrap="square" lIns="0" tIns="0" rIns="0" bIns="0" rtlCol="0" anchor="ctr"/>
          <a:lstStyle/>
          <a:p>
            <a:pPr indent="0" marL="0">
              <a:buNone/>
            </a:pPr>
            <a:r>
              <a:rPr lang="en-US" sz="1500" b="1" dirty="0">
                <a:solidFill>
                  <a:srgbClr val="0B3D59"/>
                </a:solidFill>
              </a:rPr>
              <a:t>Lab 4 </a:t>
            </a:r>
            <a:pPr indent="0" marL="0">
              <a:buNone/>
            </a:pPr>
            <a:r>
              <a:rPr lang="en-US" sz="1500" dirty="0">
                <a:solidFill>
                  <a:srgbClr val="1A1A1A"/>
                </a:solidFill>
              </a:rPr>
              <a:t>(Database-Driven Feature Table) is assigned next week, due Wed Oct 28, 11:59pm. Today is the groundwork.</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9"/>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0B3D59"/>
                </a:solidFill>
                <a:latin typeface="Cambria" pitchFamily="34" charset="0"/>
                <a:ea typeface="Cambria" pitchFamily="34" charset="-122"/>
                <a:cs typeface="Cambria" pitchFamily="34" charset="-120"/>
              </a:rPr>
              <a:t>Why not one big spreadsheet?</a:t>
            </a:r>
            <a:endParaRPr lang="en-US" sz="3000" dirty="0"/>
          </a:p>
        </p:txBody>
      </p:sp>
      <p:sp>
        <p:nvSpPr>
          <p:cNvPr id="3" name="Text 1"/>
          <p:cNvSpPr txBox="1"/>
          <p:nvPr/>
        </p:nvSpPr>
        <p:spPr>
          <a:xfrm>
            <a:off x="8412480" y="4754880"/>
            <a:ext cx="365760" cy="228600"/>
          </a:xfrm>
          <a:prstGeom prst="rect">
            <a:avLst/>
          </a:prstGeom>
          <a:noFill/>
          <a:ln/>
        </p:spPr>
        <p:txBody>
          <a:bodyPr wrap="square" lIns="0" tIns="0" rIns="0" bIns="0" rtlCol="0" anchor="ctr"/>
          <a:lstStyle/>
          <a:p>
            <a:pPr algn="r" indent="0" marL="0">
              <a:buNone/>
            </a:pPr>
            <a:r>
              <a:rPr lang="en-US" sz="1000" dirty="0">
                <a:solidFill>
                  <a:srgbClr val="5A6B75"/>
                </a:solidFill>
              </a:rPr>
              <a:t>3</a:t>
            </a:r>
            <a:endParaRPr lang="en-US" sz="1000" dirty="0"/>
          </a:p>
        </p:txBody>
      </p:sp>
      <p:sp>
        <p:nvSpPr>
          <p:cNvPr id="5" name="Text 2"/>
          <p:cNvSpPr txBox="1"/>
          <p:nvPr/>
        </p:nvSpPr>
        <p:spPr>
          <a:xfrm>
            <a:off x="457200" y="1005840"/>
            <a:ext cx="4023360" cy="320040"/>
          </a:xfrm>
          <a:prstGeom prst="rect">
            <a:avLst/>
          </a:prstGeom>
          <a:noFill/>
          <a:ln/>
        </p:spPr>
        <p:txBody>
          <a:bodyPr wrap="square" lIns="0" tIns="0" rIns="0" bIns="0" rtlCol="0" anchor="ctr"/>
          <a:lstStyle/>
          <a:p>
            <a:pPr indent="0" marL="0">
              <a:buNone/>
            </a:pPr>
            <a:r>
              <a:rPr lang="en-US" sz="1800" b="1" dirty="0">
                <a:solidFill>
                  <a:srgbClr val="0B3D59"/>
                </a:solidFill>
                <a:latin typeface="Cambria" pitchFamily="34" charset="0"/>
                <a:ea typeface="Cambria" pitchFamily="34" charset="-122"/>
                <a:cs typeface="Cambria" pitchFamily="34" charset="-120"/>
              </a:rPr>
              <a:t>One flat file</a:t>
            </a:r>
            <a:endParaRPr lang="en-US" sz="1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4114800" cy="914400"/>
        </p:xfrm>
        <a:graphic>
          <a:graphicData uri="http://schemas.openxmlformats.org/drawingml/2006/table">
            <a:tbl>
              <a:tblPr/>
              <a:tblGrid>
                <a:gridCol w="685800"/>
                <a:gridCol w="457200"/>
                <a:gridCol w="1143000"/>
                <a:gridCol w="1051560"/>
                <a:gridCol w="777240"/>
              </a:tblGrid>
              <a:tr h="310896">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patient</a:t>
                      </a:r>
                      <a:endParaRPr lang="en-US" sz="1200" dirty="0">
                        <a:latin typeface="Calibri" charset="0"/>
                        <a:ea typeface="Calibri" charset="0"/>
                        <a:cs typeface="Calibri" charset="0"/>
                      </a:endParaRPr>
                    </a:p>
                  </a:txBody>
                  <a:tcPr marL="73152" marR="73152" marT="27432" marB="27432" anchor="ctr">
                    <a:lnL w="6350" cap="flat" cmpd="sng" algn="ctr">
                      <a:solidFill>
                        <a:srgbClr val="D6DEE2"/>
                      </a:solidFill>
                      <a:prstDash val="solid"/>
                      <a:round/>
                      <a:headEnd type="none" w="med" len="med"/>
                      <a:tailEnd type="none" w="med" len="med"/>
                    </a:lnL>
                    <a:lnR w="6350" cap="flat" cmpd="sng" algn="ctr">
                      <a:solidFill>
                        <a:srgbClr val="D6DEE2"/>
                      </a:solidFill>
                      <a:prstDash val="solid"/>
                      <a:round/>
                      <a:headEnd type="none" w="med" len="med"/>
                      <a:tailEnd type="none" w="med" len="med"/>
                    </a:lnR>
                    <a:lnT w="6350" cap="flat" cmpd="sng" algn="ctr">
                      <a:solidFill>
                        <a:srgbClr val="D6DEE2"/>
                      </a:solidFill>
                      <a:prstDash val="solid"/>
                      <a:round/>
                      <a:headEnd type="none" w="med" len="med"/>
                      <a:tailEnd type="none" w="med" len="med"/>
                    </a:lnT>
                    <a:lnB w="6350" cap="flat" cmpd="sng" algn="ctr">
                      <a:solidFill>
                        <a:srgbClr val="D6DEE2"/>
                      </a:solidFill>
                      <a:prstDash val="solid"/>
                      <a:round/>
                      <a:headEnd type="none" w="med" len="med"/>
                      <a:tailEnd type="none" w="med" len="med"/>
                    </a:lnB>
                    <a:solidFill>
                      <a:srgbClr val="1C7293"/>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sex</a:t>
                      </a:r>
                      <a:endParaRPr lang="en-US" sz="1200" dirty="0">
                        <a:latin typeface="Calibri" charset="0"/>
                        <a:ea typeface="Calibri" charset="0"/>
                        <a:cs typeface="Calibri" charset="0"/>
                      </a:endParaRPr>
                    </a:p>
                  </a:txBody>
                  <a:tcPr marL="73152" marR="73152" marT="27432" marB="27432" anchor="ctr">
                    <a:lnL w="6350" cap="flat" cmpd="sng" algn="ctr">
                      <a:solidFill>
                        <a:srgbClr val="D6DEE2"/>
                      </a:solidFill>
                      <a:prstDash val="solid"/>
                      <a:round/>
                      <a:headEnd type="none" w="med" len="med"/>
                      <a:tailEnd type="none" w="med" len="med"/>
                    </a:lnL>
                    <a:lnR w="6350" cap="flat" cmpd="sng" algn="ctr">
                      <a:solidFill>
                        <a:srgbClr val="D6DEE2"/>
                      </a:solidFill>
                      <a:prstDash val="solid"/>
                      <a:round/>
                      <a:headEnd type="none" w="med" len="med"/>
                      <a:tailEnd type="none" w="med" len="med"/>
                    </a:lnR>
                    <a:lnT w="6350" cap="flat" cmpd="sng" algn="ctr">
                      <a:solidFill>
                        <a:srgbClr val="D6DEE2"/>
                      </a:solidFill>
                      <a:prstDash val="solid"/>
                      <a:round/>
                      <a:headEnd type="none" w="med" len="med"/>
                      <a:tailEnd type="none" w="med" len="med"/>
                    </a:lnT>
                    <a:lnB w="6350" cap="flat" cmpd="sng" algn="ctr">
                      <a:solidFill>
                        <a:srgbClr val="D6DEE2"/>
                      </a:solidFill>
                      <a:prstDash val="solid"/>
                      <a:round/>
                      <a:headEnd type="none" w="med" len="med"/>
                      <a:tailEnd type="none" w="med" len="med"/>
                    </a:lnB>
                    <a:solidFill>
                      <a:srgbClr val="1C7293"/>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site</a:t>
                      </a:r>
                      <a:endParaRPr lang="en-US" sz="1200" dirty="0">
                        <a:latin typeface="Calibri" charset="0"/>
                        <a:ea typeface="Calibri" charset="0"/>
                        <a:cs typeface="Calibri" charset="0"/>
                      </a:endParaRPr>
                    </a:p>
                  </a:txBody>
                  <a:tcPr marL="73152" marR="73152" marT="27432" marB="27432" anchor="ctr">
                    <a:lnL w="6350" cap="flat" cmpd="sng" algn="ctr">
                      <a:solidFill>
                        <a:srgbClr val="D6DEE2"/>
                      </a:solidFill>
                      <a:prstDash val="solid"/>
                      <a:round/>
                      <a:headEnd type="none" w="med" len="med"/>
                      <a:tailEnd type="none" w="med" len="med"/>
                    </a:lnL>
                    <a:lnR w="6350" cap="flat" cmpd="sng" algn="ctr">
                      <a:solidFill>
                        <a:srgbClr val="D6DEE2"/>
                      </a:solidFill>
                      <a:prstDash val="solid"/>
                      <a:round/>
                      <a:headEnd type="none" w="med" len="med"/>
                      <a:tailEnd type="none" w="med" len="med"/>
                    </a:lnR>
                    <a:lnT w="6350" cap="flat" cmpd="sng" algn="ctr">
                      <a:solidFill>
                        <a:srgbClr val="D6DEE2"/>
                      </a:solidFill>
                      <a:prstDash val="solid"/>
                      <a:round/>
                      <a:headEnd type="none" w="med" len="med"/>
                      <a:tailEnd type="none" w="med" len="med"/>
                    </a:lnT>
                    <a:lnB w="6350" cap="flat" cmpd="sng" algn="ctr">
                      <a:solidFill>
                        <a:srgbClr val="D6DEE2"/>
                      </a:solidFill>
                      <a:prstDash val="solid"/>
                      <a:round/>
                      <a:headEnd type="none" w="med" len="med"/>
                      <a:tailEnd type="none" w="med" len="med"/>
                    </a:lnB>
                    <a:solidFill>
                      <a:srgbClr val="1C7293"/>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site_city</a:t>
                      </a:r>
                      <a:endParaRPr lang="en-US" sz="1200" dirty="0">
                        <a:latin typeface="Calibri" charset="0"/>
                        <a:ea typeface="Calibri" charset="0"/>
                        <a:cs typeface="Calibri" charset="0"/>
                      </a:endParaRPr>
                    </a:p>
                  </a:txBody>
                  <a:tcPr marL="73152" marR="73152" marT="27432" marB="27432" anchor="ctr">
                    <a:lnL w="6350" cap="flat" cmpd="sng" algn="ctr">
                      <a:solidFill>
                        <a:srgbClr val="D6DEE2"/>
                      </a:solidFill>
                      <a:prstDash val="solid"/>
                      <a:round/>
                      <a:headEnd type="none" w="med" len="med"/>
                      <a:tailEnd type="none" w="med" len="med"/>
                    </a:lnL>
                    <a:lnR w="6350" cap="flat" cmpd="sng" algn="ctr">
                      <a:solidFill>
                        <a:srgbClr val="D6DEE2"/>
                      </a:solidFill>
                      <a:prstDash val="solid"/>
                      <a:round/>
                      <a:headEnd type="none" w="med" len="med"/>
                      <a:tailEnd type="none" w="med" len="med"/>
                    </a:lnR>
                    <a:lnT w="6350" cap="flat" cmpd="sng" algn="ctr">
                      <a:solidFill>
                        <a:srgbClr val="D6DEE2"/>
                      </a:solidFill>
                      <a:prstDash val="solid"/>
                      <a:round/>
                      <a:headEnd type="none" w="med" len="med"/>
                      <a:tailEnd type="none" w="med" len="med"/>
                    </a:lnT>
                    <a:lnB w="6350" cap="flat" cmpd="sng" algn="ctr">
                      <a:solidFill>
                        <a:srgbClr val="D6DEE2"/>
                      </a:solidFill>
                      <a:prstDash val="solid"/>
                      <a:round/>
                      <a:headEnd type="none" w="med" len="med"/>
                      <a:tailEnd type="none" w="med" len="med"/>
                    </a:lnB>
                    <a:solidFill>
                      <a:srgbClr val="1C7293"/>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glucose</a:t>
                      </a:r>
                      <a:endParaRPr lang="en-US" sz="1200" dirty="0">
                        <a:latin typeface="Calibri" charset="0"/>
                        <a:ea typeface="Calibri" charset="0"/>
                        <a:cs typeface="Calibri" charset="0"/>
                      </a:endParaRPr>
                    </a:p>
                  </a:txBody>
                  <a:tcPr marL="73152" marR="73152" marT="27432" marB="27432" anchor="ctr">
                    <a:lnL w="6350" cap="flat" cmpd="sng" algn="ctr">
                      <a:solidFill>
                        <a:srgbClr val="D6DEE2"/>
                      </a:solidFill>
                      <a:prstDash val="solid"/>
                      <a:round/>
                      <a:headEnd type="none" w="med" len="med"/>
                      <a:tailEnd type="none" w="med" len="med"/>
                    </a:lnL>
                    <a:lnR w="6350" cap="flat" cmpd="sng" algn="ctr">
                      <a:solidFill>
                        <a:srgbClr val="D6DEE2"/>
                      </a:solidFill>
                      <a:prstDash val="solid"/>
                      <a:round/>
                      <a:headEnd type="none" w="med" len="med"/>
                      <a:tailEnd type="none" w="med" len="med"/>
                    </a:lnR>
                    <a:lnT w="6350" cap="flat" cmpd="sng" algn="ctr">
                      <a:solidFill>
                        <a:srgbClr val="D6DEE2"/>
                      </a:solidFill>
                      <a:prstDash val="solid"/>
                      <a:round/>
                      <a:headEnd type="none" w="med" len="med"/>
                      <a:tailEnd type="none" w="med" len="med"/>
                    </a:lnT>
                    <a:lnB w="6350" cap="flat" cmpd="sng" algn="ctr">
                      <a:solidFill>
                        <a:srgbClr val="D6DEE2"/>
                      </a:solidFill>
                      <a:prstDash val="solid"/>
                      <a:round/>
                      <a:headEnd type="none" w="med" len="med"/>
                      <a:tailEnd type="none" w="med" len="med"/>
                    </a:lnB>
                    <a:solidFill>
                      <a:srgbClr val="1C7293"/>
                    </a:solidFill>
                  </a:tcPr>
                </a:tc>
              </a:tr>
              <a:tr h="310896">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P1</a:t>
                      </a:r>
                      <a:endParaRPr lang="en-US" sz="1200" dirty="0">
                        <a:latin typeface="Calibri" charset="0"/>
                        <a:ea typeface="Calibri" charset="0"/>
                        <a:cs typeface="Calibri" charset="0"/>
                      </a:endParaRPr>
                    </a:p>
                  </a:txBody>
                  <a:tcPr marL="73152" marR="73152" marT="27432" marB="27432" anchor="ctr">
                    <a:lnL w="6350" cap="flat" cmpd="sng" algn="ctr">
                      <a:solidFill>
                        <a:srgbClr val="D6DEE2"/>
                      </a:solidFill>
                      <a:prstDash val="solid"/>
                      <a:round/>
                      <a:headEnd type="none" w="med" len="med"/>
                      <a:tailEnd type="none" w="med" len="med"/>
                    </a:lnL>
                    <a:lnR w="6350" cap="flat" cmpd="sng" algn="ctr">
                      <a:solidFill>
                        <a:srgbClr val="D6DEE2"/>
                      </a:solidFill>
                      <a:prstDash val="solid"/>
                      <a:round/>
                      <a:headEnd type="none" w="med" len="med"/>
                      <a:tailEnd type="none" w="med" len="med"/>
                    </a:lnR>
                    <a:lnT w="6350" cap="flat" cmpd="sng" algn="ctr">
                      <a:solidFill>
                        <a:srgbClr val="D6DEE2"/>
                      </a:solidFill>
                      <a:prstDash val="solid"/>
                      <a:round/>
                      <a:headEnd type="none" w="med" len="med"/>
                      <a:tailEnd type="none" w="med" len="med"/>
                    </a:lnT>
                    <a:lnB w="6350" cap="flat" cmpd="sng" algn="ctr">
                      <a:solidFill>
                        <a:srgbClr val="D6DEE2"/>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F</a:t>
                      </a:r>
                      <a:endParaRPr lang="en-US" sz="1200" dirty="0">
                        <a:latin typeface="Calibri" charset="0"/>
                        <a:ea typeface="Calibri" charset="0"/>
                        <a:cs typeface="Calibri" charset="0"/>
                      </a:endParaRPr>
                    </a:p>
                  </a:txBody>
                  <a:tcPr marL="73152" marR="73152" marT="27432" marB="27432" anchor="ctr">
                    <a:lnL w="6350" cap="flat" cmpd="sng" algn="ctr">
                      <a:solidFill>
                        <a:srgbClr val="D6DEE2"/>
                      </a:solidFill>
                      <a:prstDash val="solid"/>
                      <a:round/>
                      <a:headEnd type="none" w="med" len="med"/>
                      <a:tailEnd type="none" w="med" len="med"/>
                    </a:lnL>
                    <a:lnR w="6350" cap="flat" cmpd="sng" algn="ctr">
                      <a:solidFill>
                        <a:srgbClr val="D6DEE2"/>
                      </a:solidFill>
                      <a:prstDash val="solid"/>
                      <a:round/>
                      <a:headEnd type="none" w="med" len="med"/>
                      <a:tailEnd type="none" w="med" len="med"/>
                    </a:lnR>
                    <a:lnT w="6350" cap="flat" cmpd="sng" algn="ctr">
                      <a:solidFill>
                        <a:srgbClr val="D6DEE2"/>
                      </a:solidFill>
                      <a:prstDash val="solid"/>
                      <a:round/>
                      <a:headEnd type="none" w="med" len="med"/>
                      <a:tailEnd type="none" w="med" len="med"/>
                    </a:lnT>
                    <a:lnB w="6350" cap="flat" cmpd="sng" algn="ctr">
                      <a:solidFill>
                        <a:srgbClr val="D6DEE2"/>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Foggy Bottom</a:t>
                      </a:r>
                      <a:endParaRPr lang="en-US" sz="1200" dirty="0">
                        <a:latin typeface="Calibri" charset="0"/>
                        <a:ea typeface="Calibri" charset="0"/>
                        <a:cs typeface="Calibri" charset="0"/>
                      </a:endParaRPr>
                    </a:p>
                  </a:txBody>
                  <a:tcPr marL="73152" marR="73152" marT="27432" marB="27432" anchor="ctr">
                    <a:lnL w="6350" cap="flat" cmpd="sng" algn="ctr">
                      <a:solidFill>
                        <a:srgbClr val="D6DEE2"/>
                      </a:solidFill>
                      <a:prstDash val="solid"/>
                      <a:round/>
                      <a:headEnd type="none" w="med" len="med"/>
                      <a:tailEnd type="none" w="med" len="med"/>
                    </a:lnL>
                    <a:lnR w="6350" cap="flat" cmpd="sng" algn="ctr">
                      <a:solidFill>
                        <a:srgbClr val="D6DEE2"/>
                      </a:solidFill>
                      <a:prstDash val="solid"/>
                      <a:round/>
                      <a:headEnd type="none" w="med" len="med"/>
                      <a:tailEnd type="none" w="med" len="med"/>
                    </a:lnR>
                    <a:lnT w="6350" cap="flat" cmpd="sng" algn="ctr">
                      <a:solidFill>
                        <a:srgbClr val="D6DEE2"/>
                      </a:solidFill>
                      <a:prstDash val="solid"/>
                      <a:round/>
                      <a:headEnd type="none" w="med" len="med"/>
                      <a:tailEnd type="none" w="med" len="med"/>
                    </a:lnT>
                    <a:lnB w="6350" cap="flat" cmpd="sng" algn="ctr">
                      <a:solidFill>
                        <a:srgbClr val="D6DEE2"/>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Washington</a:t>
                      </a:r>
                      <a:endParaRPr lang="en-US" sz="1200" dirty="0">
                        <a:latin typeface="Calibri" charset="0"/>
                        <a:ea typeface="Calibri" charset="0"/>
                        <a:cs typeface="Calibri" charset="0"/>
                      </a:endParaRPr>
                    </a:p>
                  </a:txBody>
                  <a:tcPr marL="73152" marR="73152" marT="27432" marB="27432" anchor="ctr">
                    <a:lnL w="6350" cap="flat" cmpd="sng" algn="ctr">
                      <a:solidFill>
                        <a:srgbClr val="D6DEE2"/>
                      </a:solidFill>
                      <a:prstDash val="solid"/>
                      <a:round/>
                      <a:headEnd type="none" w="med" len="med"/>
                      <a:tailEnd type="none" w="med" len="med"/>
                    </a:lnL>
                    <a:lnR w="6350" cap="flat" cmpd="sng" algn="ctr">
                      <a:solidFill>
                        <a:srgbClr val="D6DEE2"/>
                      </a:solidFill>
                      <a:prstDash val="solid"/>
                      <a:round/>
                      <a:headEnd type="none" w="med" len="med"/>
                      <a:tailEnd type="none" w="med" len="med"/>
                    </a:lnR>
                    <a:lnT w="6350" cap="flat" cmpd="sng" algn="ctr">
                      <a:solidFill>
                        <a:srgbClr val="D6DEE2"/>
                      </a:solidFill>
                      <a:prstDash val="solid"/>
                      <a:round/>
                      <a:headEnd type="none" w="med" len="med"/>
                      <a:tailEnd type="none" w="med" len="med"/>
                    </a:lnT>
                    <a:lnB w="6350" cap="flat" cmpd="sng" algn="ctr">
                      <a:solidFill>
                        <a:srgbClr val="D6DEE2"/>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148</a:t>
                      </a:r>
                      <a:endParaRPr lang="en-US" sz="1200" dirty="0">
                        <a:latin typeface="Calibri" charset="0"/>
                        <a:ea typeface="Calibri" charset="0"/>
                        <a:cs typeface="Calibri" charset="0"/>
                      </a:endParaRPr>
                    </a:p>
                  </a:txBody>
                  <a:tcPr marL="73152" marR="73152" marT="27432" marB="27432" anchor="ctr">
                    <a:lnL w="6350" cap="flat" cmpd="sng" algn="ctr">
                      <a:solidFill>
                        <a:srgbClr val="D6DEE2"/>
                      </a:solidFill>
                      <a:prstDash val="solid"/>
                      <a:round/>
                      <a:headEnd type="none" w="med" len="med"/>
                      <a:tailEnd type="none" w="med" len="med"/>
                    </a:lnL>
                    <a:lnR w="6350" cap="flat" cmpd="sng" algn="ctr">
                      <a:solidFill>
                        <a:srgbClr val="D6DEE2"/>
                      </a:solidFill>
                      <a:prstDash val="solid"/>
                      <a:round/>
                      <a:headEnd type="none" w="med" len="med"/>
                      <a:tailEnd type="none" w="med" len="med"/>
                    </a:lnR>
                    <a:lnT w="6350" cap="flat" cmpd="sng" algn="ctr">
                      <a:solidFill>
                        <a:srgbClr val="D6DEE2"/>
                      </a:solidFill>
                      <a:prstDash val="solid"/>
                      <a:round/>
                      <a:headEnd type="none" w="med" len="med"/>
                      <a:tailEnd type="none" w="med" len="med"/>
                    </a:lnT>
                    <a:lnB w="6350" cap="flat" cmpd="sng" algn="ctr">
                      <a:solidFill>
                        <a:srgbClr val="D6DEE2"/>
                      </a:solidFill>
                      <a:prstDash val="solid"/>
                      <a:round/>
                      <a:headEnd type="none" w="med" len="med"/>
                      <a:tailEnd type="none" w="med" len="med"/>
                    </a:lnB>
                    <a:solidFill>
                      <a:srgbClr val="FFFFFF"/>
                    </a:solidFill>
                  </a:tcPr>
                </a:tc>
              </a:tr>
              <a:tr h="310896">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P1</a:t>
                      </a:r>
                      <a:endParaRPr lang="en-US" sz="1200" dirty="0">
                        <a:latin typeface="Calibri" charset="0"/>
                        <a:ea typeface="Calibri" charset="0"/>
                        <a:cs typeface="Calibri" charset="0"/>
                      </a:endParaRPr>
                    </a:p>
                  </a:txBody>
                  <a:tcPr marL="73152" marR="73152" marT="27432" marB="27432" anchor="ctr">
                    <a:lnL w="6350" cap="flat" cmpd="sng" algn="ctr">
                      <a:solidFill>
                        <a:srgbClr val="D6DEE2"/>
                      </a:solidFill>
                      <a:prstDash val="solid"/>
                      <a:round/>
                      <a:headEnd type="none" w="med" len="med"/>
                      <a:tailEnd type="none" w="med" len="med"/>
                    </a:lnL>
                    <a:lnR w="6350" cap="flat" cmpd="sng" algn="ctr">
                      <a:solidFill>
                        <a:srgbClr val="D6DEE2"/>
                      </a:solidFill>
                      <a:prstDash val="solid"/>
                      <a:round/>
                      <a:headEnd type="none" w="med" len="med"/>
                      <a:tailEnd type="none" w="med" len="med"/>
                    </a:lnR>
                    <a:lnT w="6350" cap="flat" cmpd="sng" algn="ctr">
                      <a:solidFill>
                        <a:srgbClr val="D6DEE2"/>
                      </a:solidFill>
                      <a:prstDash val="solid"/>
                      <a:round/>
                      <a:headEnd type="none" w="med" len="med"/>
                      <a:tailEnd type="none" w="med" len="med"/>
                    </a:lnT>
                    <a:lnB w="6350" cap="flat" cmpd="sng" algn="ctr">
                      <a:solidFill>
                        <a:srgbClr val="D6DEE2"/>
                      </a:solidFill>
                      <a:prstDash val="solid"/>
                      <a:round/>
                      <a:headEnd type="none" w="med" len="med"/>
                      <a:tailEnd type="none" w="med" len="med"/>
                    </a:lnB>
                    <a:solidFill>
                      <a:srgbClr val="E3E9EC"/>
                    </a:solidFill>
                  </a:tcPr>
                </a:tc>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F</a:t>
                      </a:r>
                      <a:endParaRPr lang="en-US" sz="1200" dirty="0">
                        <a:latin typeface="Calibri" charset="0"/>
                        <a:ea typeface="Calibri" charset="0"/>
                        <a:cs typeface="Calibri" charset="0"/>
                      </a:endParaRPr>
                    </a:p>
                  </a:txBody>
                  <a:tcPr marL="73152" marR="73152" marT="27432" marB="27432" anchor="ctr">
                    <a:lnL w="6350" cap="flat" cmpd="sng" algn="ctr">
                      <a:solidFill>
                        <a:srgbClr val="D6DEE2"/>
                      </a:solidFill>
                      <a:prstDash val="solid"/>
                      <a:round/>
                      <a:headEnd type="none" w="med" len="med"/>
                      <a:tailEnd type="none" w="med" len="med"/>
                    </a:lnL>
                    <a:lnR w="6350" cap="flat" cmpd="sng" algn="ctr">
                      <a:solidFill>
                        <a:srgbClr val="D6DEE2"/>
                      </a:solidFill>
                      <a:prstDash val="solid"/>
                      <a:round/>
                      <a:headEnd type="none" w="med" len="med"/>
                      <a:tailEnd type="none" w="med" len="med"/>
                    </a:lnR>
                    <a:lnT w="6350" cap="flat" cmpd="sng" algn="ctr">
                      <a:solidFill>
                        <a:srgbClr val="D6DEE2"/>
                      </a:solidFill>
                      <a:prstDash val="solid"/>
                      <a:round/>
                      <a:headEnd type="none" w="med" len="med"/>
                      <a:tailEnd type="none" w="med" len="med"/>
                    </a:lnT>
                    <a:lnB w="6350" cap="flat" cmpd="sng" algn="ctr">
                      <a:solidFill>
                        <a:srgbClr val="D6DEE2"/>
                      </a:solidFill>
                      <a:prstDash val="solid"/>
                      <a:round/>
                      <a:headEnd type="none" w="med" len="med"/>
                      <a:tailEnd type="none" w="med" len="med"/>
                    </a:lnB>
                    <a:solidFill>
                      <a:srgbClr val="E3E9EC"/>
                    </a:solidFill>
                  </a:tcPr>
                </a:tc>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Foggy Bottom</a:t>
                      </a:r>
                      <a:endParaRPr lang="en-US" sz="1200" dirty="0">
                        <a:latin typeface="Calibri" charset="0"/>
                        <a:ea typeface="Calibri" charset="0"/>
                        <a:cs typeface="Calibri" charset="0"/>
                      </a:endParaRPr>
                    </a:p>
                  </a:txBody>
                  <a:tcPr marL="73152" marR="73152" marT="27432" marB="27432" anchor="ctr">
                    <a:lnL w="6350" cap="flat" cmpd="sng" algn="ctr">
                      <a:solidFill>
                        <a:srgbClr val="D6DEE2"/>
                      </a:solidFill>
                      <a:prstDash val="solid"/>
                      <a:round/>
                      <a:headEnd type="none" w="med" len="med"/>
                      <a:tailEnd type="none" w="med" len="med"/>
                    </a:lnL>
                    <a:lnR w="6350" cap="flat" cmpd="sng" algn="ctr">
                      <a:solidFill>
                        <a:srgbClr val="D6DEE2"/>
                      </a:solidFill>
                      <a:prstDash val="solid"/>
                      <a:round/>
                      <a:headEnd type="none" w="med" len="med"/>
                      <a:tailEnd type="none" w="med" len="med"/>
                    </a:lnR>
                    <a:lnT w="6350" cap="flat" cmpd="sng" algn="ctr">
                      <a:solidFill>
                        <a:srgbClr val="D6DEE2"/>
                      </a:solidFill>
                      <a:prstDash val="solid"/>
                      <a:round/>
                      <a:headEnd type="none" w="med" len="med"/>
                      <a:tailEnd type="none" w="med" len="med"/>
                    </a:lnT>
                    <a:lnB w="6350" cap="flat" cmpd="sng" algn="ctr">
                      <a:solidFill>
                        <a:srgbClr val="D6DEE2"/>
                      </a:solidFill>
                      <a:prstDash val="solid"/>
                      <a:round/>
                      <a:headEnd type="none" w="med" len="med"/>
                      <a:tailEnd type="none" w="med" len="med"/>
                    </a:lnB>
                    <a:solidFill>
                      <a:srgbClr val="E3E9EC"/>
                    </a:solidFill>
                  </a:tcPr>
                </a:tc>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Washington</a:t>
                      </a:r>
                      <a:endParaRPr lang="en-US" sz="1200" dirty="0">
                        <a:latin typeface="Calibri" charset="0"/>
                        <a:ea typeface="Calibri" charset="0"/>
                        <a:cs typeface="Calibri" charset="0"/>
                      </a:endParaRPr>
                    </a:p>
                  </a:txBody>
                  <a:tcPr marL="73152" marR="73152" marT="27432" marB="27432" anchor="ctr">
                    <a:lnL w="6350" cap="flat" cmpd="sng" algn="ctr">
                      <a:solidFill>
                        <a:srgbClr val="D6DEE2"/>
                      </a:solidFill>
                      <a:prstDash val="solid"/>
                      <a:round/>
                      <a:headEnd type="none" w="med" len="med"/>
                      <a:tailEnd type="none" w="med" len="med"/>
                    </a:lnL>
                    <a:lnR w="6350" cap="flat" cmpd="sng" algn="ctr">
                      <a:solidFill>
                        <a:srgbClr val="D6DEE2"/>
                      </a:solidFill>
                      <a:prstDash val="solid"/>
                      <a:round/>
                      <a:headEnd type="none" w="med" len="med"/>
                      <a:tailEnd type="none" w="med" len="med"/>
                    </a:lnR>
                    <a:lnT w="6350" cap="flat" cmpd="sng" algn="ctr">
                      <a:solidFill>
                        <a:srgbClr val="D6DEE2"/>
                      </a:solidFill>
                      <a:prstDash val="solid"/>
                      <a:round/>
                      <a:headEnd type="none" w="med" len="med"/>
                      <a:tailEnd type="none" w="med" len="med"/>
                    </a:lnT>
                    <a:lnB w="6350" cap="flat" cmpd="sng" algn="ctr">
                      <a:solidFill>
                        <a:srgbClr val="D6DEE2"/>
                      </a:solidFill>
                      <a:prstDash val="solid"/>
                      <a:round/>
                      <a:headEnd type="none" w="med" len="med"/>
                      <a:tailEnd type="none" w="med" len="med"/>
                    </a:lnB>
                    <a:solidFill>
                      <a:srgbClr val="E3E9EC"/>
                    </a:solidFill>
                  </a:tcPr>
                </a:tc>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162</a:t>
                      </a:r>
                      <a:endParaRPr lang="en-US" sz="1200" dirty="0">
                        <a:latin typeface="Calibri" charset="0"/>
                        <a:ea typeface="Calibri" charset="0"/>
                        <a:cs typeface="Calibri" charset="0"/>
                      </a:endParaRPr>
                    </a:p>
                  </a:txBody>
                  <a:tcPr marL="73152" marR="73152" marT="27432" marB="27432" anchor="ctr">
                    <a:lnL w="6350" cap="flat" cmpd="sng" algn="ctr">
                      <a:solidFill>
                        <a:srgbClr val="D6DEE2"/>
                      </a:solidFill>
                      <a:prstDash val="solid"/>
                      <a:round/>
                      <a:headEnd type="none" w="med" len="med"/>
                      <a:tailEnd type="none" w="med" len="med"/>
                    </a:lnL>
                    <a:lnR w="6350" cap="flat" cmpd="sng" algn="ctr">
                      <a:solidFill>
                        <a:srgbClr val="D6DEE2"/>
                      </a:solidFill>
                      <a:prstDash val="solid"/>
                      <a:round/>
                      <a:headEnd type="none" w="med" len="med"/>
                      <a:tailEnd type="none" w="med" len="med"/>
                    </a:lnR>
                    <a:lnT w="6350" cap="flat" cmpd="sng" algn="ctr">
                      <a:solidFill>
                        <a:srgbClr val="D6DEE2"/>
                      </a:solidFill>
                      <a:prstDash val="solid"/>
                      <a:round/>
                      <a:headEnd type="none" w="med" len="med"/>
                      <a:tailEnd type="none" w="med" len="med"/>
                    </a:lnT>
                    <a:lnB w="6350" cap="flat" cmpd="sng" algn="ctr">
                      <a:solidFill>
                        <a:srgbClr val="D6DEE2"/>
                      </a:solidFill>
                      <a:prstDash val="solid"/>
                      <a:round/>
                      <a:headEnd type="none" w="med" len="med"/>
                      <a:tailEnd type="none" w="med" len="med"/>
                    </a:lnB>
                    <a:solidFill>
                      <a:srgbClr val="E3E9EC"/>
                    </a:solidFill>
                  </a:tcPr>
                </a:tc>
              </a:tr>
              <a:tr h="310896">
                <a:tc>
                  <a:txBody>
                    <a:bodyPr/>
                    <a:lstStyle/>
                    <a:p>
                      <a:pPr algn="l" indent="0" marL="0">
                        <a:buNone/>
                      </a:pPr>
                      <a:r>
                        <a:rPr lang="en-US" sz="1200" dirty="0">
                          <a:solidFill>
                            <a:srgbClr val="B23A48"/>
                          </a:solidFill>
                          <a:latin typeface="Calibri" pitchFamily="34" charset="0"/>
                          <a:ea typeface="Calibri" pitchFamily="34" charset="-122"/>
                          <a:cs typeface="Calibri" pitchFamily="34" charset="-120"/>
                        </a:rPr>
                        <a:t>P1</a:t>
                      </a:r>
                      <a:endParaRPr lang="en-US" sz="1200" dirty="0">
                        <a:latin typeface="Calibri" charset="0"/>
                        <a:ea typeface="Calibri" charset="0"/>
                        <a:cs typeface="Calibri" charset="0"/>
                      </a:endParaRPr>
                    </a:p>
                  </a:txBody>
                  <a:tcPr marL="73152" marR="73152" marT="27432" marB="27432" anchor="ctr">
                    <a:lnL w="6350" cap="flat" cmpd="sng" algn="ctr">
                      <a:solidFill>
                        <a:srgbClr val="D6DEE2"/>
                      </a:solidFill>
                      <a:prstDash val="solid"/>
                      <a:round/>
                      <a:headEnd type="none" w="med" len="med"/>
                      <a:tailEnd type="none" w="med" len="med"/>
                    </a:lnL>
                    <a:lnR w="6350" cap="flat" cmpd="sng" algn="ctr">
                      <a:solidFill>
                        <a:srgbClr val="D6DEE2"/>
                      </a:solidFill>
                      <a:prstDash val="solid"/>
                      <a:round/>
                      <a:headEnd type="none" w="med" len="med"/>
                      <a:tailEnd type="none" w="med" len="med"/>
                    </a:lnR>
                    <a:lnT w="6350" cap="flat" cmpd="sng" algn="ctr">
                      <a:solidFill>
                        <a:srgbClr val="D6DEE2"/>
                      </a:solidFill>
                      <a:prstDash val="solid"/>
                      <a:round/>
                      <a:headEnd type="none" w="med" len="med"/>
                      <a:tailEnd type="none" w="med" len="med"/>
                    </a:lnT>
                    <a:lnB w="6350" cap="flat" cmpd="sng" algn="ctr">
                      <a:solidFill>
                        <a:srgbClr val="D6DEE2"/>
                      </a:solidFill>
                      <a:prstDash val="solid"/>
                      <a:round/>
                      <a:headEnd type="none" w="med" len="med"/>
                      <a:tailEnd type="none" w="med" len="med"/>
                    </a:lnB>
                    <a:solidFill>
                      <a:srgbClr val="F6E3E5"/>
                    </a:solidFill>
                  </a:tcPr>
                </a:tc>
                <a:tc>
                  <a:txBody>
                    <a:bodyPr/>
                    <a:lstStyle/>
                    <a:p>
                      <a:pPr algn="l" indent="0" marL="0">
                        <a:buNone/>
                      </a:pPr>
                      <a:r>
                        <a:rPr lang="en-US" sz="1200" dirty="0">
                          <a:solidFill>
                            <a:srgbClr val="B23A48"/>
                          </a:solidFill>
                          <a:latin typeface="Calibri" pitchFamily="34" charset="0"/>
                          <a:ea typeface="Calibri" pitchFamily="34" charset="-122"/>
                          <a:cs typeface="Calibri" pitchFamily="34" charset="-120"/>
                        </a:rPr>
                        <a:t>F</a:t>
                      </a:r>
                      <a:endParaRPr lang="en-US" sz="1200" dirty="0">
                        <a:latin typeface="Calibri" charset="0"/>
                        <a:ea typeface="Calibri" charset="0"/>
                        <a:cs typeface="Calibri" charset="0"/>
                      </a:endParaRPr>
                    </a:p>
                  </a:txBody>
                  <a:tcPr marL="73152" marR="73152" marT="27432" marB="27432" anchor="ctr">
                    <a:lnL w="6350" cap="flat" cmpd="sng" algn="ctr">
                      <a:solidFill>
                        <a:srgbClr val="D6DEE2"/>
                      </a:solidFill>
                      <a:prstDash val="solid"/>
                      <a:round/>
                      <a:headEnd type="none" w="med" len="med"/>
                      <a:tailEnd type="none" w="med" len="med"/>
                    </a:lnL>
                    <a:lnR w="6350" cap="flat" cmpd="sng" algn="ctr">
                      <a:solidFill>
                        <a:srgbClr val="D6DEE2"/>
                      </a:solidFill>
                      <a:prstDash val="solid"/>
                      <a:round/>
                      <a:headEnd type="none" w="med" len="med"/>
                      <a:tailEnd type="none" w="med" len="med"/>
                    </a:lnR>
                    <a:lnT w="6350" cap="flat" cmpd="sng" algn="ctr">
                      <a:solidFill>
                        <a:srgbClr val="D6DEE2"/>
                      </a:solidFill>
                      <a:prstDash val="solid"/>
                      <a:round/>
                      <a:headEnd type="none" w="med" len="med"/>
                      <a:tailEnd type="none" w="med" len="med"/>
                    </a:lnT>
                    <a:lnB w="6350" cap="flat" cmpd="sng" algn="ctr">
                      <a:solidFill>
                        <a:srgbClr val="D6DEE2"/>
                      </a:solidFill>
                      <a:prstDash val="solid"/>
                      <a:round/>
                      <a:headEnd type="none" w="med" len="med"/>
                      <a:tailEnd type="none" w="med" len="med"/>
                    </a:lnB>
                    <a:solidFill>
                      <a:srgbClr val="F6E3E5"/>
                    </a:solidFill>
                  </a:tcPr>
                </a:tc>
                <a:tc>
                  <a:txBody>
                    <a:bodyPr/>
                    <a:lstStyle/>
                    <a:p>
                      <a:pPr algn="l" indent="0" marL="0">
                        <a:buNone/>
                      </a:pPr>
                      <a:r>
                        <a:rPr lang="en-US" sz="1200" dirty="0">
                          <a:solidFill>
                            <a:srgbClr val="B23A48"/>
                          </a:solidFill>
                          <a:latin typeface="Calibri" pitchFamily="34" charset="0"/>
                          <a:ea typeface="Calibri" pitchFamily="34" charset="-122"/>
                          <a:cs typeface="Calibri" pitchFamily="34" charset="-120"/>
                        </a:rPr>
                        <a:t>Foggy Botom</a:t>
                      </a:r>
                      <a:endParaRPr lang="en-US" sz="1200" dirty="0">
                        <a:latin typeface="Calibri" charset="0"/>
                        <a:ea typeface="Calibri" charset="0"/>
                        <a:cs typeface="Calibri" charset="0"/>
                      </a:endParaRPr>
                    </a:p>
                  </a:txBody>
                  <a:tcPr marL="73152" marR="73152" marT="27432" marB="27432" anchor="ctr">
                    <a:lnL w="6350" cap="flat" cmpd="sng" algn="ctr">
                      <a:solidFill>
                        <a:srgbClr val="D6DEE2"/>
                      </a:solidFill>
                      <a:prstDash val="solid"/>
                      <a:round/>
                      <a:headEnd type="none" w="med" len="med"/>
                      <a:tailEnd type="none" w="med" len="med"/>
                    </a:lnL>
                    <a:lnR w="6350" cap="flat" cmpd="sng" algn="ctr">
                      <a:solidFill>
                        <a:srgbClr val="D6DEE2"/>
                      </a:solidFill>
                      <a:prstDash val="solid"/>
                      <a:round/>
                      <a:headEnd type="none" w="med" len="med"/>
                      <a:tailEnd type="none" w="med" len="med"/>
                    </a:lnR>
                    <a:lnT w="6350" cap="flat" cmpd="sng" algn="ctr">
                      <a:solidFill>
                        <a:srgbClr val="D6DEE2"/>
                      </a:solidFill>
                      <a:prstDash val="solid"/>
                      <a:round/>
                      <a:headEnd type="none" w="med" len="med"/>
                      <a:tailEnd type="none" w="med" len="med"/>
                    </a:lnT>
                    <a:lnB w="6350" cap="flat" cmpd="sng" algn="ctr">
                      <a:solidFill>
                        <a:srgbClr val="D6DEE2"/>
                      </a:solidFill>
                      <a:prstDash val="solid"/>
                      <a:round/>
                      <a:headEnd type="none" w="med" len="med"/>
                      <a:tailEnd type="none" w="med" len="med"/>
                    </a:lnB>
                    <a:solidFill>
                      <a:srgbClr val="F6E3E5"/>
                    </a:solidFill>
                  </a:tcPr>
                </a:tc>
                <a:tc>
                  <a:txBody>
                    <a:bodyPr/>
                    <a:lstStyle/>
                    <a:p>
                      <a:pPr algn="l" indent="0" marL="0">
                        <a:buNone/>
                      </a:pPr>
                      <a:r>
                        <a:rPr lang="en-US" sz="1200" dirty="0">
                          <a:solidFill>
                            <a:srgbClr val="B23A48"/>
                          </a:solidFill>
                          <a:latin typeface="Calibri" pitchFamily="34" charset="0"/>
                          <a:ea typeface="Calibri" pitchFamily="34" charset="-122"/>
                          <a:cs typeface="Calibri" pitchFamily="34" charset="-120"/>
                        </a:rPr>
                        <a:t>Washington</a:t>
                      </a:r>
                      <a:endParaRPr lang="en-US" sz="1200" dirty="0">
                        <a:latin typeface="Calibri" charset="0"/>
                        <a:ea typeface="Calibri" charset="0"/>
                        <a:cs typeface="Calibri" charset="0"/>
                      </a:endParaRPr>
                    </a:p>
                  </a:txBody>
                  <a:tcPr marL="73152" marR="73152" marT="27432" marB="27432" anchor="ctr">
                    <a:lnL w="6350" cap="flat" cmpd="sng" algn="ctr">
                      <a:solidFill>
                        <a:srgbClr val="D6DEE2"/>
                      </a:solidFill>
                      <a:prstDash val="solid"/>
                      <a:round/>
                      <a:headEnd type="none" w="med" len="med"/>
                      <a:tailEnd type="none" w="med" len="med"/>
                    </a:lnL>
                    <a:lnR w="6350" cap="flat" cmpd="sng" algn="ctr">
                      <a:solidFill>
                        <a:srgbClr val="D6DEE2"/>
                      </a:solidFill>
                      <a:prstDash val="solid"/>
                      <a:round/>
                      <a:headEnd type="none" w="med" len="med"/>
                      <a:tailEnd type="none" w="med" len="med"/>
                    </a:lnR>
                    <a:lnT w="6350" cap="flat" cmpd="sng" algn="ctr">
                      <a:solidFill>
                        <a:srgbClr val="D6DEE2"/>
                      </a:solidFill>
                      <a:prstDash val="solid"/>
                      <a:round/>
                      <a:headEnd type="none" w="med" len="med"/>
                      <a:tailEnd type="none" w="med" len="med"/>
                    </a:lnT>
                    <a:lnB w="6350" cap="flat" cmpd="sng" algn="ctr">
                      <a:solidFill>
                        <a:srgbClr val="D6DEE2"/>
                      </a:solidFill>
                      <a:prstDash val="solid"/>
                      <a:round/>
                      <a:headEnd type="none" w="med" len="med"/>
                      <a:tailEnd type="none" w="med" len="med"/>
                    </a:lnB>
                    <a:solidFill>
                      <a:srgbClr val="F6E3E5"/>
                    </a:solidFill>
                  </a:tcPr>
                </a:tc>
                <a:tc>
                  <a:txBody>
                    <a:bodyPr/>
                    <a:lstStyle/>
                    <a:p>
                      <a:pPr algn="l" indent="0" marL="0">
                        <a:buNone/>
                      </a:pPr>
                      <a:r>
                        <a:rPr lang="en-US" sz="1200" dirty="0">
                          <a:solidFill>
                            <a:srgbClr val="B23A48"/>
                          </a:solidFill>
                          <a:latin typeface="Calibri" pitchFamily="34" charset="0"/>
                          <a:ea typeface="Calibri" pitchFamily="34" charset="-122"/>
                          <a:cs typeface="Calibri" pitchFamily="34" charset="-120"/>
                        </a:rPr>
                        <a:t>171</a:t>
                      </a:r>
                      <a:endParaRPr lang="en-US" sz="1200" dirty="0">
                        <a:latin typeface="Calibri" charset="0"/>
                        <a:ea typeface="Calibri" charset="0"/>
                        <a:cs typeface="Calibri" charset="0"/>
                      </a:endParaRPr>
                    </a:p>
                  </a:txBody>
                  <a:tcPr marL="73152" marR="73152" marT="27432" marB="27432" anchor="ctr">
                    <a:lnL w="6350" cap="flat" cmpd="sng" algn="ctr">
                      <a:solidFill>
                        <a:srgbClr val="D6DEE2"/>
                      </a:solidFill>
                      <a:prstDash val="solid"/>
                      <a:round/>
                      <a:headEnd type="none" w="med" len="med"/>
                      <a:tailEnd type="none" w="med" len="med"/>
                    </a:lnL>
                    <a:lnR w="6350" cap="flat" cmpd="sng" algn="ctr">
                      <a:solidFill>
                        <a:srgbClr val="D6DEE2"/>
                      </a:solidFill>
                      <a:prstDash val="solid"/>
                      <a:round/>
                      <a:headEnd type="none" w="med" len="med"/>
                      <a:tailEnd type="none" w="med" len="med"/>
                    </a:lnR>
                    <a:lnT w="6350" cap="flat" cmpd="sng" algn="ctr">
                      <a:solidFill>
                        <a:srgbClr val="D6DEE2"/>
                      </a:solidFill>
                      <a:prstDash val="solid"/>
                      <a:round/>
                      <a:headEnd type="none" w="med" len="med"/>
                      <a:tailEnd type="none" w="med" len="med"/>
                    </a:lnT>
                    <a:lnB w="6350" cap="flat" cmpd="sng" algn="ctr">
                      <a:solidFill>
                        <a:srgbClr val="D6DEE2"/>
                      </a:solidFill>
                      <a:prstDash val="solid"/>
                      <a:round/>
                      <a:headEnd type="none" w="med" len="med"/>
                      <a:tailEnd type="none" w="med" len="med"/>
                    </a:lnB>
                    <a:solidFill>
                      <a:srgbClr val="F6E3E5"/>
                    </a:solidFill>
                  </a:tcPr>
                </a:tc>
              </a:tr>
              <a:tr h="310896">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P2</a:t>
                      </a:r>
                      <a:endParaRPr lang="en-US" sz="1200" dirty="0">
                        <a:latin typeface="Calibri" charset="0"/>
                        <a:ea typeface="Calibri" charset="0"/>
                        <a:cs typeface="Calibri" charset="0"/>
                      </a:endParaRPr>
                    </a:p>
                  </a:txBody>
                  <a:tcPr marL="73152" marR="73152" marT="27432" marB="27432" anchor="ctr">
                    <a:lnL w="6350" cap="flat" cmpd="sng" algn="ctr">
                      <a:solidFill>
                        <a:srgbClr val="D6DEE2"/>
                      </a:solidFill>
                      <a:prstDash val="solid"/>
                      <a:round/>
                      <a:headEnd type="none" w="med" len="med"/>
                      <a:tailEnd type="none" w="med" len="med"/>
                    </a:lnL>
                    <a:lnR w="6350" cap="flat" cmpd="sng" algn="ctr">
                      <a:solidFill>
                        <a:srgbClr val="D6DEE2"/>
                      </a:solidFill>
                      <a:prstDash val="solid"/>
                      <a:round/>
                      <a:headEnd type="none" w="med" len="med"/>
                      <a:tailEnd type="none" w="med" len="med"/>
                    </a:lnR>
                    <a:lnT w="6350" cap="flat" cmpd="sng" algn="ctr">
                      <a:solidFill>
                        <a:srgbClr val="D6DEE2"/>
                      </a:solidFill>
                      <a:prstDash val="solid"/>
                      <a:round/>
                      <a:headEnd type="none" w="med" len="med"/>
                      <a:tailEnd type="none" w="med" len="med"/>
                    </a:lnT>
                    <a:lnB w="6350" cap="flat" cmpd="sng" algn="ctr">
                      <a:solidFill>
                        <a:srgbClr val="D6DEE2"/>
                      </a:solidFill>
                      <a:prstDash val="solid"/>
                      <a:round/>
                      <a:headEnd type="none" w="med" len="med"/>
                      <a:tailEnd type="none" w="med" len="med"/>
                    </a:lnB>
                    <a:solidFill>
                      <a:srgbClr val="E3E9EC"/>
                    </a:solidFill>
                  </a:tcPr>
                </a:tc>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M</a:t>
                      </a:r>
                      <a:endParaRPr lang="en-US" sz="1200" dirty="0">
                        <a:latin typeface="Calibri" charset="0"/>
                        <a:ea typeface="Calibri" charset="0"/>
                        <a:cs typeface="Calibri" charset="0"/>
                      </a:endParaRPr>
                    </a:p>
                  </a:txBody>
                  <a:tcPr marL="73152" marR="73152" marT="27432" marB="27432" anchor="ctr">
                    <a:lnL w="6350" cap="flat" cmpd="sng" algn="ctr">
                      <a:solidFill>
                        <a:srgbClr val="D6DEE2"/>
                      </a:solidFill>
                      <a:prstDash val="solid"/>
                      <a:round/>
                      <a:headEnd type="none" w="med" len="med"/>
                      <a:tailEnd type="none" w="med" len="med"/>
                    </a:lnL>
                    <a:lnR w="6350" cap="flat" cmpd="sng" algn="ctr">
                      <a:solidFill>
                        <a:srgbClr val="D6DEE2"/>
                      </a:solidFill>
                      <a:prstDash val="solid"/>
                      <a:round/>
                      <a:headEnd type="none" w="med" len="med"/>
                      <a:tailEnd type="none" w="med" len="med"/>
                    </a:lnR>
                    <a:lnT w="6350" cap="flat" cmpd="sng" algn="ctr">
                      <a:solidFill>
                        <a:srgbClr val="D6DEE2"/>
                      </a:solidFill>
                      <a:prstDash val="solid"/>
                      <a:round/>
                      <a:headEnd type="none" w="med" len="med"/>
                      <a:tailEnd type="none" w="med" len="med"/>
                    </a:lnT>
                    <a:lnB w="6350" cap="flat" cmpd="sng" algn="ctr">
                      <a:solidFill>
                        <a:srgbClr val="D6DEE2"/>
                      </a:solidFill>
                      <a:prstDash val="solid"/>
                      <a:round/>
                      <a:headEnd type="none" w="med" len="med"/>
                      <a:tailEnd type="none" w="med" len="med"/>
                    </a:lnB>
                    <a:solidFill>
                      <a:srgbClr val="E3E9EC"/>
                    </a:solidFill>
                  </a:tcPr>
                </a:tc>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Riverside</a:t>
                      </a:r>
                      <a:endParaRPr lang="en-US" sz="1200" dirty="0">
                        <a:latin typeface="Calibri" charset="0"/>
                        <a:ea typeface="Calibri" charset="0"/>
                        <a:cs typeface="Calibri" charset="0"/>
                      </a:endParaRPr>
                    </a:p>
                  </a:txBody>
                  <a:tcPr marL="73152" marR="73152" marT="27432" marB="27432" anchor="ctr">
                    <a:lnL w="6350" cap="flat" cmpd="sng" algn="ctr">
                      <a:solidFill>
                        <a:srgbClr val="D6DEE2"/>
                      </a:solidFill>
                      <a:prstDash val="solid"/>
                      <a:round/>
                      <a:headEnd type="none" w="med" len="med"/>
                      <a:tailEnd type="none" w="med" len="med"/>
                    </a:lnL>
                    <a:lnR w="6350" cap="flat" cmpd="sng" algn="ctr">
                      <a:solidFill>
                        <a:srgbClr val="D6DEE2"/>
                      </a:solidFill>
                      <a:prstDash val="solid"/>
                      <a:round/>
                      <a:headEnd type="none" w="med" len="med"/>
                      <a:tailEnd type="none" w="med" len="med"/>
                    </a:lnR>
                    <a:lnT w="6350" cap="flat" cmpd="sng" algn="ctr">
                      <a:solidFill>
                        <a:srgbClr val="D6DEE2"/>
                      </a:solidFill>
                      <a:prstDash val="solid"/>
                      <a:round/>
                      <a:headEnd type="none" w="med" len="med"/>
                      <a:tailEnd type="none" w="med" len="med"/>
                    </a:lnT>
                    <a:lnB w="6350" cap="flat" cmpd="sng" algn="ctr">
                      <a:solidFill>
                        <a:srgbClr val="D6DEE2"/>
                      </a:solidFill>
                      <a:prstDash val="solid"/>
                      <a:round/>
                      <a:headEnd type="none" w="med" len="med"/>
                      <a:tailEnd type="none" w="med" len="med"/>
                    </a:lnB>
                    <a:solidFill>
                      <a:srgbClr val="E3E9EC"/>
                    </a:solidFill>
                  </a:tcPr>
                </a:tc>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Alexandria</a:t>
                      </a:r>
                      <a:endParaRPr lang="en-US" sz="1200" dirty="0">
                        <a:latin typeface="Calibri" charset="0"/>
                        <a:ea typeface="Calibri" charset="0"/>
                        <a:cs typeface="Calibri" charset="0"/>
                      </a:endParaRPr>
                    </a:p>
                  </a:txBody>
                  <a:tcPr marL="73152" marR="73152" marT="27432" marB="27432" anchor="ctr">
                    <a:lnL w="6350" cap="flat" cmpd="sng" algn="ctr">
                      <a:solidFill>
                        <a:srgbClr val="D6DEE2"/>
                      </a:solidFill>
                      <a:prstDash val="solid"/>
                      <a:round/>
                      <a:headEnd type="none" w="med" len="med"/>
                      <a:tailEnd type="none" w="med" len="med"/>
                    </a:lnL>
                    <a:lnR w="6350" cap="flat" cmpd="sng" algn="ctr">
                      <a:solidFill>
                        <a:srgbClr val="D6DEE2"/>
                      </a:solidFill>
                      <a:prstDash val="solid"/>
                      <a:round/>
                      <a:headEnd type="none" w="med" len="med"/>
                      <a:tailEnd type="none" w="med" len="med"/>
                    </a:lnR>
                    <a:lnT w="6350" cap="flat" cmpd="sng" algn="ctr">
                      <a:solidFill>
                        <a:srgbClr val="D6DEE2"/>
                      </a:solidFill>
                      <a:prstDash val="solid"/>
                      <a:round/>
                      <a:headEnd type="none" w="med" len="med"/>
                      <a:tailEnd type="none" w="med" len="med"/>
                    </a:lnT>
                    <a:lnB w="6350" cap="flat" cmpd="sng" algn="ctr">
                      <a:solidFill>
                        <a:srgbClr val="D6DEE2"/>
                      </a:solidFill>
                      <a:prstDash val="solid"/>
                      <a:round/>
                      <a:headEnd type="none" w="med" len="med"/>
                      <a:tailEnd type="none" w="med" len="med"/>
                    </a:lnB>
                    <a:solidFill>
                      <a:srgbClr val="E3E9EC"/>
                    </a:solidFill>
                  </a:tcPr>
                </a:tc>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99</a:t>
                      </a:r>
                      <a:endParaRPr lang="en-US" sz="1200" dirty="0">
                        <a:latin typeface="Calibri" charset="0"/>
                        <a:ea typeface="Calibri" charset="0"/>
                        <a:cs typeface="Calibri" charset="0"/>
                      </a:endParaRPr>
                    </a:p>
                  </a:txBody>
                  <a:tcPr marL="73152" marR="73152" marT="27432" marB="27432" anchor="ctr">
                    <a:lnL w="6350" cap="flat" cmpd="sng" algn="ctr">
                      <a:solidFill>
                        <a:srgbClr val="D6DEE2"/>
                      </a:solidFill>
                      <a:prstDash val="solid"/>
                      <a:round/>
                      <a:headEnd type="none" w="med" len="med"/>
                      <a:tailEnd type="none" w="med" len="med"/>
                    </a:lnL>
                    <a:lnR w="6350" cap="flat" cmpd="sng" algn="ctr">
                      <a:solidFill>
                        <a:srgbClr val="D6DEE2"/>
                      </a:solidFill>
                      <a:prstDash val="solid"/>
                      <a:round/>
                      <a:headEnd type="none" w="med" len="med"/>
                      <a:tailEnd type="none" w="med" len="med"/>
                    </a:lnR>
                    <a:lnT w="6350" cap="flat" cmpd="sng" algn="ctr">
                      <a:solidFill>
                        <a:srgbClr val="D6DEE2"/>
                      </a:solidFill>
                      <a:prstDash val="solid"/>
                      <a:round/>
                      <a:headEnd type="none" w="med" len="med"/>
                      <a:tailEnd type="none" w="med" len="med"/>
                    </a:lnT>
                    <a:lnB w="6350" cap="flat" cmpd="sng" algn="ctr">
                      <a:solidFill>
                        <a:srgbClr val="D6DEE2"/>
                      </a:solidFill>
                      <a:prstDash val="solid"/>
                      <a:round/>
                      <a:headEnd type="none" w="med" len="med"/>
                      <a:tailEnd type="none" w="med" len="med"/>
                    </a:lnB>
                    <a:solidFill>
                      <a:srgbClr val="E3E9EC"/>
                    </a:solidFill>
                  </a:tcPr>
                </a:tc>
              </a:tr>
            </a:tbl>
          </a:graphicData>
        </a:graphic>
      </p:graphicFrame>
      <p:sp>
        <p:nvSpPr>
          <p:cNvPr id="7" name="Text 3"/>
          <p:cNvSpPr txBox="1"/>
          <p:nvPr/>
        </p:nvSpPr>
        <p:spPr>
          <a:xfrm>
            <a:off x="457200" y="3063240"/>
            <a:ext cx="4114800" cy="457200"/>
          </a:xfrm>
          <a:prstGeom prst="rect">
            <a:avLst/>
          </a:prstGeom>
          <a:noFill/>
          <a:ln/>
        </p:spPr>
        <p:txBody>
          <a:bodyPr wrap="square" lIns="0" tIns="0" rIns="0" bIns="0" rtlCol="0" anchor="ctr"/>
          <a:lstStyle/>
          <a:p>
            <a:pPr indent="0" marL="0">
              <a:buNone/>
            </a:pPr>
            <a:r>
              <a:rPr lang="en-US" sz="1400" dirty="0">
                <a:solidFill>
                  <a:srgbClr val="B23A48"/>
                </a:solidFill>
              </a:rPr>
              <a:t>Typo in one row = a "new" clinic. City repeated everywhere.</a:t>
            </a:r>
            <a:endParaRPr lang="en-US" sz="1400" dirty="0"/>
          </a:p>
        </p:txBody>
      </p:sp>
      <p:sp>
        <p:nvSpPr>
          <p:cNvPr id="8" name="Text 4"/>
          <p:cNvSpPr txBox="1"/>
          <p:nvPr/>
        </p:nvSpPr>
        <p:spPr>
          <a:xfrm>
            <a:off x="4937760" y="1005840"/>
            <a:ext cx="3749040" cy="320040"/>
          </a:xfrm>
          <a:prstGeom prst="rect">
            <a:avLst/>
          </a:prstGeom>
          <a:noFill/>
          <a:ln/>
        </p:spPr>
        <p:txBody>
          <a:bodyPr wrap="square" lIns="0" tIns="0" rIns="0" bIns="0" rtlCol="0" anchor="ctr"/>
          <a:lstStyle/>
          <a:p>
            <a:pPr indent="0" marL="0">
              <a:buNone/>
            </a:pPr>
            <a:r>
              <a:rPr lang="en-US" sz="1800" b="1" dirty="0">
                <a:solidFill>
                  <a:srgbClr val="0B3D59"/>
                </a:solidFill>
                <a:latin typeface="Cambria" pitchFamily="34" charset="0"/>
                <a:ea typeface="Cambria" pitchFamily="34" charset="-122"/>
                <a:cs typeface="Cambria" pitchFamily="34" charset="-120"/>
              </a:rPr>
              <a:t>Linked tables</a:t>
            </a:r>
            <a:endParaRPr lang="en-US" sz="1800" dirty="0"/>
          </a:p>
        </p:txBody>
      </p:sp>
      <p:graphicFrame>
        <p:nvGraphicFramePr>
          <p:cNvPr id="7" name="Table 1"/>
          <p:cNvGraphicFramePr>
            <a:graphicFrameLocks noGrp="1"/>
          </p:cNvGraphicFramePr>
          <p:nvPr>
            <p:extLst>
              <p:ext uri="{D42A27DB-BD31-4B8C-83A1-F6EECF244321}">
                <p14:modId xmlns:p14="http://schemas.microsoft.com/office/powerpoint/2010/main" val="1579011935"/>
              </p:ext>
            </p:extLst>
          </p:nvPr>
        </p:nvGraphicFramePr>
        <p:xfrm>
          <a:off x="4937760" y="1371600"/>
          <a:ext cx="3749040" cy="914400"/>
        </p:xfrm>
        <a:graphic>
          <a:graphicData uri="http://schemas.openxmlformats.org/drawingml/2006/table">
            <a:tbl>
              <a:tblPr/>
              <a:tblGrid>
                <a:gridCol w="731520"/>
                <a:gridCol w="1554480"/>
                <a:gridCol w="1463040"/>
              </a:tblGrid>
              <a:tr h="274320">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site_id</a:t>
                      </a:r>
                      <a:endParaRPr lang="en-US" sz="1200" dirty="0">
                        <a:latin typeface="Calibri" charset="0"/>
                        <a:ea typeface="Calibri" charset="0"/>
                        <a:cs typeface="Calibri" charset="0"/>
                      </a:endParaRPr>
                    </a:p>
                  </a:txBody>
                  <a:tcPr marL="73152" marR="73152" marT="27432" marB="27432" anchor="ctr">
                    <a:lnL w="6350" cap="flat" cmpd="sng" algn="ctr">
                      <a:solidFill>
                        <a:srgbClr val="D6DEE2"/>
                      </a:solidFill>
                      <a:prstDash val="solid"/>
                      <a:round/>
                      <a:headEnd type="none" w="med" len="med"/>
                      <a:tailEnd type="none" w="med" len="med"/>
                    </a:lnL>
                    <a:lnR w="6350" cap="flat" cmpd="sng" algn="ctr">
                      <a:solidFill>
                        <a:srgbClr val="D6DEE2"/>
                      </a:solidFill>
                      <a:prstDash val="solid"/>
                      <a:round/>
                      <a:headEnd type="none" w="med" len="med"/>
                      <a:tailEnd type="none" w="med" len="med"/>
                    </a:lnR>
                    <a:lnT w="6350" cap="flat" cmpd="sng" algn="ctr">
                      <a:solidFill>
                        <a:srgbClr val="D6DEE2"/>
                      </a:solidFill>
                      <a:prstDash val="solid"/>
                      <a:round/>
                      <a:headEnd type="none" w="med" len="med"/>
                      <a:tailEnd type="none" w="med" len="med"/>
                    </a:lnT>
                    <a:lnB w="6350" cap="flat" cmpd="sng" algn="ctr">
                      <a:solidFill>
                        <a:srgbClr val="D6DEE2"/>
                      </a:solidFill>
                      <a:prstDash val="solid"/>
                      <a:round/>
                      <a:headEnd type="none" w="med" len="med"/>
                      <a:tailEnd type="none" w="med" len="med"/>
                    </a:lnB>
                    <a:solidFill>
                      <a:srgbClr val="1C7293"/>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name</a:t>
                      </a:r>
                      <a:endParaRPr lang="en-US" sz="1200" dirty="0">
                        <a:latin typeface="Calibri" charset="0"/>
                        <a:ea typeface="Calibri" charset="0"/>
                        <a:cs typeface="Calibri" charset="0"/>
                      </a:endParaRPr>
                    </a:p>
                  </a:txBody>
                  <a:tcPr marL="73152" marR="73152" marT="27432" marB="27432" anchor="ctr">
                    <a:lnL w="6350" cap="flat" cmpd="sng" algn="ctr">
                      <a:solidFill>
                        <a:srgbClr val="D6DEE2"/>
                      </a:solidFill>
                      <a:prstDash val="solid"/>
                      <a:round/>
                      <a:headEnd type="none" w="med" len="med"/>
                      <a:tailEnd type="none" w="med" len="med"/>
                    </a:lnL>
                    <a:lnR w="6350" cap="flat" cmpd="sng" algn="ctr">
                      <a:solidFill>
                        <a:srgbClr val="D6DEE2"/>
                      </a:solidFill>
                      <a:prstDash val="solid"/>
                      <a:round/>
                      <a:headEnd type="none" w="med" len="med"/>
                      <a:tailEnd type="none" w="med" len="med"/>
                    </a:lnR>
                    <a:lnT w="6350" cap="flat" cmpd="sng" algn="ctr">
                      <a:solidFill>
                        <a:srgbClr val="D6DEE2"/>
                      </a:solidFill>
                      <a:prstDash val="solid"/>
                      <a:round/>
                      <a:headEnd type="none" w="med" len="med"/>
                      <a:tailEnd type="none" w="med" len="med"/>
                    </a:lnT>
                    <a:lnB w="6350" cap="flat" cmpd="sng" algn="ctr">
                      <a:solidFill>
                        <a:srgbClr val="D6DEE2"/>
                      </a:solidFill>
                      <a:prstDash val="solid"/>
                      <a:round/>
                      <a:headEnd type="none" w="med" len="med"/>
                      <a:tailEnd type="none" w="med" len="med"/>
                    </a:lnB>
                    <a:solidFill>
                      <a:srgbClr val="1C7293"/>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city</a:t>
                      </a:r>
                      <a:endParaRPr lang="en-US" sz="1200" dirty="0">
                        <a:latin typeface="Calibri" charset="0"/>
                        <a:ea typeface="Calibri" charset="0"/>
                        <a:cs typeface="Calibri" charset="0"/>
                      </a:endParaRPr>
                    </a:p>
                  </a:txBody>
                  <a:tcPr marL="73152" marR="73152" marT="27432" marB="27432" anchor="ctr">
                    <a:lnL w="6350" cap="flat" cmpd="sng" algn="ctr">
                      <a:solidFill>
                        <a:srgbClr val="D6DEE2"/>
                      </a:solidFill>
                      <a:prstDash val="solid"/>
                      <a:round/>
                      <a:headEnd type="none" w="med" len="med"/>
                      <a:tailEnd type="none" w="med" len="med"/>
                    </a:lnL>
                    <a:lnR w="6350" cap="flat" cmpd="sng" algn="ctr">
                      <a:solidFill>
                        <a:srgbClr val="D6DEE2"/>
                      </a:solidFill>
                      <a:prstDash val="solid"/>
                      <a:round/>
                      <a:headEnd type="none" w="med" len="med"/>
                      <a:tailEnd type="none" w="med" len="med"/>
                    </a:lnR>
                    <a:lnT w="6350" cap="flat" cmpd="sng" algn="ctr">
                      <a:solidFill>
                        <a:srgbClr val="D6DEE2"/>
                      </a:solidFill>
                      <a:prstDash val="solid"/>
                      <a:round/>
                      <a:headEnd type="none" w="med" len="med"/>
                      <a:tailEnd type="none" w="med" len="med"/>
                    </a:lnT>
                    <a:lnB w="6350" cap="flat" cmpd="sng" algn="ctr">
                      <a:solidFill>
                        <a:srgbClr val="D6DEE2"/>
                      </a:solidFill>
                      <a:prstDash val="solid"/>
                      <a:round/>
                      <a:headEnd type="none" w="med" len="med"/>
                      <a:tailEnd type="none" w="med" len="med"/>
                    </a:lnB>
                    <a:solidFill>
                      <a:srgbClr val="1C7293"/>
                    </a:solidFill>
                  </a:tcPr>
                </a:tc>
              </a:tr>
              <a:tr h="274320">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73152" marR="73152" marT="27432" marB="27432" anchor="ctr">
                    <a:lnL w="6350" cap="flat" cmpd="sng" algn="ctr">
                      <a:solidFill>
                        <a:srgbClr val="D6DEE2"/>
                      </a:solidFill>
                      <a:prstDash val="solid"/>
                      <a:round/>
                      <a:headEnd type="none" w="med" len="med"/>
                      <a:tailEnd type="none" w="med" len="med"/>
                    </a:lnL>
                    <a:lnR w="6350" cap="flat" cmpd="sng" algn="ctr">
                      <a:solidFill>
                        <a:srgbClr val="D6DEE2"/>
                      </a:solidFill>
                      <a:prstDash val="solid"/>
                      <a:round/>
                      <a:headEnd type="none" w="med" len="med"/>
                      <a:tailEnd type="none" w="med" len="med"/>
                    </a:lnR>
                    <a:lnT w="6350" cap="flat" cmpd="sng" algn="ctr">
                      <a:solidFill>
                        <a:srgbClr val="D6DEE2"/>
                      </a:solidFill>
                      <a:prstDash val="solid"/>
                      <a:round/>
                      <a:headEnd type="none" w="med" len="med"/>
                      <a:tailEnd type="none" w="med" len="med"/>
                    </a:lnT>
                    <a:lnB w="6350" cap="flat" cmpd="sng" algn="ctr">
                      <a:solidFill>
                        <a:srgbClr val="D6DEE2"/>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Foggy Bottom</a:t>
                      </a:r>
                      <a:endParaRPr lang="en-US" sz="1200" dirty="0">
                        <a:latin typeface="Calibri" charset="0"/>
                        <a:ea typeface="Calibri" charset="0"/>
                        <a:cs typeface="Calibri" charset="0"/>
                      </a:endParaRPr>
                    </a:p>
                  </a:txBody>
                  <a:tcPr marL="73152" marR="73152" marT="27432" marB="27432" anchor="ctr">
                    <a:lnL w="6350" cap="flat" cmpd="sng" algn="ctr">
                      <a:solidFill>
                        <a:srgbClr val="D6DEE2"/>
                      </a:solidFill>
                      <a:prstDash val="solid"/>
                      <a:round/>
                      <a:headEnd type="none" w="med" len="med"/>
                      <a:tailEnd type="none" w="med" len="med"/>
                    </a:lnL>
                    <a:lnR w="6350" cap="flat" cmpd="sng" algn="ctr">
                      <a:solidFill>
                        <a:srgbClr val="D6DEE2"/>
                      </a:solidFill>
                      <a:prstDash val="solid"/>
                      <a:round/>
                      <a:headEnd type="none" w="med" len="med"/>
                      <a:tailEnd type="none" w="med" len="med"/>
                    </a:lnR>
                    <a:lnT w="6350" cap="flat" cmpd="sng" algn="ctr">
                      <a:solidFill>
                        <a:srgbClr val="D6DEE2"/>
                      </a:solidFill>
                      <a:prstDash val="solid"/>
                      <a:round/>
                      <a:headEnd type="none" w="med" len="med"/>
                      <a:tailEnd type="none" w="med" len="med"/>
                    </a:lnT>
                    <a:lnB w="6350" cap="flat" cmpd="sng" algn="ctr">
                      <a:solidFill>
                        <a:srgbClr val="D6DEE2"/>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Washington</a:t>
                      </a:r>
                      <a:endParaRPr lang="en-US" sz="1200" dirty="0">
                        <a:latin typeface="Calibri" charset="0"/>
                        <a:ea typeface="Calibri" charset="0"/>
                        <a:cs typeface="Calibri" charset="0"/>
                      </a:endParaRPr>
                    </a:p>
                  </a:txBody>
                  <a:tcPr marL="73152" marR="73152" marT="27432" marB="27432" anchor="ctr">
                    <a:lnL w="6350" cap="flat" cmpd="sng" algn="ctr">
                      <a:solidFill>
                        <a:srgbClr val="D6DEE2"/>
                      </a:solidFill>
                      <a:prstDash val="solid"/>
                      <a:round/>
                      <a:headEnd type="none" w="med" len="med"/>
                      <a:tailEnd type="none" w="med" len="med"/>
                    </a:lnL>
                    <a:lnR w="6350" cap="flat" cmpd="sng" algn="ctr">
                      <a:solidFill>
                        <a:srgbClr val="D6DEE2"/>
                      </a:solidFill>
                      <a:prstDash val="solid"/>
                      <a:round/>
                      <a:headEnd type="none" w="med" len="med"/>
                      <a:tailEnd type="none" w="med" len="med"/>
                    </a:lnR>
                    <a:lnT w="6350" cap="flat" cmpd="sng" algn="ctr">
                      <a:solidFill>
                        <a:srgbClr val="D6DEE2"/>
                      </a:solidFill>
                      <a:prstDash val="solid"/>
                      <a:round/>
                      <a:headEnd type="none" w="med" len="med"/>
                      <a:tailEnd type="none" w="med" len="med"/>
                    </a:lnT>
                    <a:lnB w="6350" cap="flat" cmpd="sng" algn="ctr">
                      <a:solidFill>
                        <a:srgbClr val="D6DEE2"/>
                      </a:solidFill>
                      <a:prstDash val="solid"/>
                      <a:round/>
                      <a:headEnd type="none" w="med" len="med"/>
                      <a:tailEnd type="none" w="med" len="med"/>
                    </a:lnB>
                    <a:solidFill>
                      <a:srgbClr val="FFFFFF"/>
                    </a:solidFill>
                  </a:tcPr>
                </a:tc>
              </a:tr>
              <a:tr h="274320">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73152" marR="73152" marT="27432" marB="27432" anchor="ctr">
                    <a:lnL w="6350" cap="flat" cmpd="sng" algn="ctr">
                      <a:solidFill>
                        <a:srgbClr val="D6DEE2"/>
                      </a:solidFill>
                      <a:prstDash val="solid"/>
                      <a:round/>
                      <a:headEnd type="none" w="med" len="med"/>
                      <a:tailEnd type="none" w="med" len="med"/>
                    </a:lnL>
                    <a:lnR w="6350" cap="flat" cmpd="sng" algn="ctr">
                      <a:solidFill>
                        <a:srgbClr val="D6DEE2"/>
                      </a:solidFill>
                      <a:prstDash val="solid"/>
                      <a:round/>
                      <a:headEnd type="none" w="med" len="med"/>
                      <a:tailEnd type="none" w="med" len="med"/>
                    </a:lnR>
                    <a:lnT w="6350" cap="flat" cmpd="sng" algn="ctr">
                      <a:solidFill>
                        <a:srgbClr val="D6DEE2"/>
                      </a:solidFill>
                      <a:prstDash val="solid"/>
                      <a:round/>
                      <a:headEnd type="none" w="med" len="med"/>
                      <a:tailEnd type="none" w="med" len="med"/>
                    </a:lnT>
                    <a:lnB w="6350" cap="flat" cmpd="sng" algn="ctr">
                      <a:solidFill>
                        <a:srgbClr val="D6DEE2"/>
                      </a:solidFill>
                      <a:prstDash val="solid"/>
                      <a:round/>
                      <a:headEnd type="none" w="med" len="med"/>
                      <a:tailEnd type="none" w="med" len="med"/>
                    </a:lnB>
                    <a:solidFill>
                      <a:srgbClr val="E3E9EC"/>
                    </a:solidFill>
                  </a:tcPr>
                </a:tc>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Riverside</a:t>
                      </a:r>
                      <a:endParaRPr lang="en-US" sz="1200" dirty="0">
                        <a:latin typeface="Calibri" charset="0"/>
                        <a:ea typeface="Calibri" charset="0"/>
                        <a:cs typeface="Calibri" charset="0"/>
                      </a:endParaRPr>
                    </a:p>
                  </a:txBody>
                  <a:tcPr marL="73152" marR="73152" marT="27432" marB="27432" anchor="ctr">
                    <a:lnL w="6350" cap="flat" cmpd="sng" algn="ctr">
                      <a:solidFill>
                        <a:srgbClr val="D6DEE2"/>
                      </a:solidFill>
                      <a:prstDash val="solid"/>
                      <a:round/>
                      <a:headEnd type="none" w="med" len="med"/>
                      <a:tailEnd type="none" w="med" len="med"/>
                    </a:lnL>
                    <a:lnR w="6350" cap="flat" cmpd="sng" algn="ctr">
                      <a:solidFill>
                        <a:srgbClr val="D6DEE2"/>
                      </a:solidFill>
                      <a:prstDash val="solid"/>
                      <a:round/>
                      <a:headEnd type="none" w="med" len="med"/>
                      <a:tailEnd type="none" w="med" len="med"/>
                    </a:lnR>
                    <a:lnT w="6350" cap="flat" cmpd="sng" algn="ctr">
                      <a:solidFill>
                        <a:srgbClr val="D6DEE2"/>
                      </a:solidFill>
                      <a:prstDash val="solid"/>
                      <a:round/>
                      <a:headEnd type="none" w="med" len="med"/>
                      <a:tailEnd type="none" w="med" len="med"/>
                    </a:lnT>
                    <a:lnB w="6350" cap="flat" cmpd="sng" algn="ctr">
                      <a:solidFill>
                        <a:srgbClr val="D6DEE2"/>
                      </a:solidFill>
                      <a:prstDash val="solid"/>
                      <a:round/>
                      <a:headEnd type="none" w="med" len="med"/>
                      <a:tailEnd type="none" w="med" len="med"/>
                    </a:lnB>
                    <a:solidFill>
                      <a:srgbClr val="E3E9EC"/>
                    </a:solidFill>
                  </a:tcPr>
                </a:tc>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Alexandria</a:t>
                      </a:r>
                      <a:endParaRPr lang="en-US" sz="1200" dirty="0">
                        <a:latin typeface="Calibri" charset="0"/>
                        <a:ea typeface="Calibri" charset="0"/>
                        <a:cs typeface="Calibri" charset="0"/>
                      </a:endParaRPr>
                    </a:p>
                  </a:txBody>
                  <a:tcPr marL="73152" marR="73152" marT="27432" marB="27432" anchor="ctr">
                    <a:lnL w="6350" cap="flat" cmpd="sng" algn="ctr">
                      <a:solidFill>
                        <a:srgbClr val="D6DEE2"/>
                      </a:solidFill>
                      <a:prstDash val="solid"/>
                      <a:round/>
                      <a:headEnd type="none" w="med" len="med"/>
                      <a:tailEnd type="none" w="med" len="med"/>
                    </a:lnL>
                    <a:lnR w="6350" cap="flat" cmpd="sng" algn="ctr">
                      <a:solidFill>
                        <a:srgbClr val="D6DEE2"/>
                      </a:solidFill>
                      <a:prstDash val="solid"/>
                      <a:round/>
                      <a:headEnd type="none" w="med" len="med"/>
                      <a:tailEnd type="none" w="med" len="med"/>
                    </a:lnR>
                    <a:lnT w="6350" cap="flat" cmpd="sng" algn="ctr">
                      <a:solidFill>
                        <a:srgbClr val="D6DEE2"/>
                      </a:solidFill>
                      <a:prstDash val="solid"/>
                      <a:round/>
                      <a:headEnd type="none" w="med" len="med"/>
                      <a:tailEnd type="none" w="med" len="med"/>
                    </a:lnT>
                    <a:lnB w="6350" cap="flat" cmpd="sng" algn="ctr">
                      <a:solidFill>
                        <a:srgbClr val="D6DEE2"/>
                      </a:solidFill>
                      <a:prstDash val="solid"/>
                      <a:round/>
                      <a:headEnd type="none" w="med" len="med"/>
                      <a:tailEnd type="none" w="med" len="med"/>
                    </a:lnB>
                    <a:solidFill>
                      <a:srgbClr val="E3E9EC"/>
                    </a:solidFill>
                  </a:tcPr>
                </a:tc>
              </a:tr>
            </a:tbl>
          </a:graphicData>
        </a:graphic>
      </p:graphicFrame>
      <p:graphicFrame>
        <p:nvGraphicFramePr>
          <p:cNvPr id="10" name="Table 2"/>
          <p:cNvGraphicFramePr>
            <a:graphicFrameLocks noGrp="1"/>
          </p:cNvGraphicFramePr>
          <p:nvPr>
            <p:extLst>
              <p:ext uri="{D42A27DB-BD31-4B8C-83A1-F6EECF244321}">
                <p14:modId xmlns:p14="http://schemas.microsoft.com/office/powerpoint/2010/main" val="1579011935"/>
              </p:ext>
            </p:extLst>
          </p:nvPr>
        </p:nvGraphicFramePr>
        <p:xfrm>
          <a:off x="4937760" y="2331720"/>
          <a:ext cx="3749040" cy="914400"/>
        </p:xfrm>
        <a:graphic>
          <a:graphicData uri="http://schemas.openxmlformats.org/drawingml/2006/table">
            <a:tbl>
              <a:tblPr/>
              <a:tblGrid>
                <a:gridCol w="1097280"/>
                <a:gridCol w="822960"/>
                <a:gridCol w="1828800"/>
              </a:tblGrid>
              <a:tr h="274320">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patient_id</a:t>
                      </a:r>
                      <a:endParaRPr lang="en-US" sz="1200" dirty="0">
                        <a:latin typeface="Calibri" charset="0"/>
                        <a:ea typeface="Calibri" charset="0"/>
                        <a:cs typeface="Calibri" charset="0"/>
                      </a:endParaRPr>
                    </a:p>
                  </a:txBody>
                  <a:tcPr marL="73152" marR="73152" marT="27432" marB="27432" anchor="ctr">
                    <a:lnL w="6350" cap="flat" cmpd="sng" algn="ctr">
                      <a:solidFill>
                        <a:srgbClr val="D6DEE2"/>
                      </a:solidFill>
                      <a:prstDash val="solid"/>
                      <a:round/>
                      <a:headEnd type="none" w="med" len="med"/>
                      <a:tailEnd type="none" w="med" len="med"/>
                    </a:lnL>
                    <a:lnR w="6350" cap="flat" cmpd="sng" algn="ctr">
                      <a:solidFill>
                        <a:srgbClr val="D6DEE2"/>
                      </a:solidFill>
                      <a:prstDash val="solid"/>
                      <a:round/>
                      <a:headEnd type="none" w="med" len="med"/>
                      <a:tailEnd type="none" w="med" len="med"/>
                    </a:lnR>
                    <a:lnT w="6350" cap="flat" cmpd="sng" algn="ctr">
                      <a:solidFill>
                        <a:srgbClr val="D6DEE2"/>
                      </a:solidFill>
                      <a:prstDash val="solid"/>
                      <a:round/>
                      <a:headEnd type="none" w="med" len="med"/>
                      <a:tailEnd type="none" w="med" len="med"/>
                    </a:lnT>
                    <a:lnB w="6350" cap="flat" cmpd="sng" algn="ctr">
                      <a:solidFill>
                        <a:srgbClr val="D6DEE2"/>
                      </a:solidFill>
                      <a:prstDash val="solid"/>
                      <a:round/>
                      <a:headEnd type="none" w="med" len="med"/>
                      <a:tailEnd type="none" w="med" len="med"/>
                    </a:lnB>
                    <a:solidFill>
                      <a:srgbClr val="1C7293"/>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sex</a:t>
                      </a:r>
                      <a:endParaRPr lang="en-US" sz="1200" dirty="0">
                        <a:latin typeface="Calibri" charset="0"/>
                        <a:ea typeface="Calibri" charset="0"/>
                        <a:cs typeface="Calibri" charset="0"/>
                      </a:endParaRPr>
                    </a:p>
                  </a:txBody>
                  <a:tcPr marL="73152" marR="73152" marT="27432" marB="27432" anchor="ctr">
                    <a:lnL w="6350" cap="flat" cmpd="sng" algn="ctr">
                      <a:solidFill>
                        <a:srgbClr val="D6DEE2"/>
                      </a:solidFill>
                      <a:prstDash val="solid"/>
                      <a:round/>
                      <a:headEnd type="none" w="med" len="med"/>
                      <a:tailEnd type="none" w="med" len="med"/>
                    </a:lnL>
                    <a:lnR w="6350" cap="flat" cmpd="sng" algn="ctr">
                      <a:solidFill>
                        <a:srgbClr val="D6DEE2"/>
                      </a:solidFill>
                      <a:prstDash val="solid"/>
                      <a:round/>
                      <a:headEnd type="none" w="med" len="med"/>
                      <a:tailEnd type="none" w="med" len="med"/>
                    </a:lnR>
                    <a:lnT w="6350" cap="flat" cmpd="sng" algn="ctr">
                      <a:solidFill>
                        <a:srgbClr val="D6DEE2"/>
                      </a:solidFill>
                      <a:prstDash val="solid"/>
                      <a:round/>
                      <a:headEnd type="none" w="med" len="med"/>
                      <a:tailEnd type="none" w="med" len="med"/>
                    </a:lnT>
                    <a:lnB w="6350" cap="flat" cmpd="sng" algn="ctr">
                      <a:solidFill>
                        <a:srgbClr val="D6DEE2"/>
                      </a:solidFill>
                      <a:prstDash val="solid"/>
                      <a:round/>
                      <a:headEnd type="none" w="med" len="med"/>
                      <a:tailEnd type="none" w="med" len="med"/>
                    </a:lnB>
                    <a:solidFill>
                      <a:srgbClr val="1C7293"/>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site_id</a:t>
                      </a:r>
                      <a:endParaRPr lang="en-US" sz="1200" dirty="0">
                        <a:latin typeface="Calibri" charset="0"/>
                        <a:ea typeface="Calibri" charset="0"/>
                        <a:cs typeface="Calibri" charset="0"/>
                      </a:endParaRPr>
                    </a:p>
                  </a:txBody>
                  <a:tcPr marL="73152" marR="73152" marT="27432" marB="27432" anchor="ctr">
                    <a:lnL w="6350" cap="flat" cmpd="sng" algn="ctr">
                      <a:solidFill>
                        <a:srgbClr val="D6DEE2"/>
                      </a:solidFill>
                      <a:prstDash val="solid"/>
                      <a:round/>
                      <a:headEnd type="none" w="med" len="med"/>
                      <a:tailEnd type="none" w="med" len="med"/>
                    </a:lnL>
                    <a:lnR w="6350" cap="flat" cmpd="sng" algn="ctr">
                      <a:solidFill>
                        <a:srgbClr val="D6DEE2"/>
                      </a:solidFill>
                      <a:prstDash val="solid"/>
                      <a:round/>
                      <a:headEnd type="none" w="med" len="med"/>
                      <a:tailEnd type="none" w="med" len="med"/>
                    </a:lnR>
                    <a:lnT w="6350" cap="flat" cmpd="sng" algn="ctr">
                      <a:solidFill>
                        <a:srgbClr val="D6DEE2"/>
                      </a:solidFill>
                      <a:prstDash val="solid"/>
                      <a:round/>
                      <a:headEnd type="none" w="med" len="med"/>
                      <a:tailEnd type="none" w="med" len="med"/>
                    </a:lnT>
                    <a:lnB w="6350" cap="flat" cmpd="sng" algn="ctr">
                      <a:solidFill>
                        <a:srgbClr val="D6DEE2"/>
                      </a:solidFill>
                      <a:prstDash val="solid"/>
                      <a:round/>
                      <a:headEnd type="none" w="med" len="med"/>
                      <a:tailEnd type="none" w="med" len="med"/>
                    </a:lnB>
                    <a:solidFill>
                      <a:srgbClr val="1C7293"/>
                    </a:solidFill>
                  </a:tcPr>
                </a:tc>
              </a:tr>
              <a:tr h="274320">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P1</a:t>
                      </a:r>
                      <a:endParaRPr lang="en-US" sz="1200" dirty="0">
                        <a:latin typeface="Calibri" charset="0"/>
                        <a:ea typeface="Calibri" charset="0"/>
                        <a:cs typeface="Calibri" charset="0"/>
                      </a:endParaRPr>
                    </a:p>
                  </a:txBody>
                  <a:tcPr marL="73152" marR="73152" marT="27432" marB="27432" anchor="ctr">
                    <a:lnL w="6350" cap="flat" cmpd="sng" algn="ctr">
                      <a:solidFill>
                        <a:srgbClr val="D6DEE2"/>
                      </a:solidFill>
                      <a:prstDash val="solid"/>
                      <a:round/>
                      <a:headEnd type="none" w="med" len="med"/>
                      <a:tailEnd type="none" w="med" len="med"/>
                    </a:lnL>
                    <a:lnR w="6350" cap="flat" cmpd="sng" algn="ctr">
                      <a:solidFill>
                        <a:srgbClr val="D6DEE2"/>
                      </a:solidFill>
                      <a:prstDash val="solid"/>
                      <a:round/>
                      <a:headEnd type="none" w="med" len="med"/>
                      <a:tailEnd type="none" w="med" len="med"/>
                    </a:lnR>
                    <a:lnT w="6350" cap="flat" cmpd="sng" algn="ctr">
                      <a:solidFill>
                        <a:srgbClr val="D6DEE2"/>
                      </a:solidFill>
                      <a:prstDash val="solid"/>
                      <a:round/>
                      <a:headEnd type="none" w="med" len="med"/>
                      <a:tailEnd type="none" w="med" len="med"/>
                    </a:lnT>
                    <a:lnB w="6350" cap="flat" cmpd="sng" algn="ctr">
                      <a:solidFill>
                        <a:srgbClr val="D6DEE2"/>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F</a:t>
                      </a:r>
                      <a:endParaRPr lang="en-US" sz="1200" dirty="0">
                        <a:latin typeface="Calibri" charset="0"/>
                        <a:ea typeface="Calibri" charset="0"/>
                        <a:cs typeface="Calibri" charset="0"/>
                      </a:endParaRPr>
                    </a:p>
                  </a:txBody>
                  <a:tcPr marL="73152" marR="73152" marT="27432" marB="27432" anchor="ctr">
                    <a:lnL w="6350" cap="flat" cmpd="sng" algn="ctr">
                      <a:solidFill>
                        <a:srgbClr val="D6DEE2"/>
                      </a:solidFill>
                      <a:prstDash val="solid"/>
                      <a:round/>
                      <a:headEnd type="none" w="med" len="med"/>
                      <a:tailEnd type="none" w="med" len="med"/>
                    </a:lnL>
                    <a:lnR w="6350" cap="flat" cmpd="sng" algn="ctr">
                      <a:solidFill>
                        <a:srgbClr val="D6DEE2"/>
                      </a:solidFill>
                      <a:prstDash val="solid"/>
                      <a:round/>
                      <a:headEnd type="none" w="med" len="med"/>
                      <a:tailEnd type="none" w="med" len="med"/>
                    </a:lnR>
                    <a:lnT w="6350" cap="flat" cmpd="sng" algn="ctr">
                      <a:solidFill>
                        <a:srgbClr val="D6DEE2"/>
                      </a:solidFill>
                      <a:prstDash val="solid"/>
                      <a:round/>
                      <a:headEnd type="none" w="med" len="med"/>
                      <a:tailEnd type="none" w="med" len="med"/>
                    </a:lnT>
                    <a:lnB w="6350" cap="flat" cmpd="sng" algn="ctr">
                      <a:solidFill>
                        <a:srgbClr val="D6DEE2"/>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73152" marR="73152" marT="27432" marB="27432" anchor="ctr">
                    <a:lnL w="6350" cap="flat" cmpd="sng" algn="ctr">
                      <a:solidFill>
                        <a:srgbClr val="D6DEE2"/>
                      </a:solidFill>
                      <a:prstDash val="solid"/>
                      <a:round/>
                      <a:headEnd type="none" w="med" len="med"/>
                      <a:tailEnd type="none" w="med" len="med"/>
                    </a:lnL>
                    <a:lnR w="6350" cap="flat" cmpd="sng" algn="ctr">
                      <a:solidFill>
                        <a:srgbClr val="D6DEE2"/>
                      </a:solidFill>
                      <a:prstDash val="solid"/>
                      <a:round/>
                      <a:headEnd type="none" w="med" len="med"/>
                      <a:tailEnd type="none" w="med" len="med"/>
                    </a:lnR>
                    <a:lnT w="6350" cap="flat" cmpd="sng" algn="ctr">
                      <a:solidFill>
                        <a:srgbClr val="D6DEE2"/>
                      </a:solidFill>
                      <a:prstDash val="solid"/>
                      <a:round/>
                      <a:headEnd type="none" w="med" len="med"/>
                      <a:tailEnd type="none" w="med" len="med"/>
                    </a:lnT>
                    <a:lnB w="6350" cap="flat" cmpd="sng" algn="ctr">
                      <a:solidFill>
                        <a:srgbClr val="D6DEE2"/>
                      </a:solidFill>
                      <a:prstDash val="solid"/>
                      <a:round/>
                      <a:headEnd type="none" w="med" len="med"/>
                      <a:tailEnd type="none" w="med" len="med"/>
                    </a:lnB>
                    <a:solidFill>
                      <a:srgbClr val="FFFFFF"/>
                    </a:solidFill>
                  </a:tcPr>
                </a:tc>
              </a:tr>
              <a:tr h="274320">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P2</a:t>
                      </a:r>
                      <a:endParaRPr lang="en-US" sz="1200" dirty="0">
                        <a:latin typeface="Calibri" charset="0"/>
                        <a:ea typeface="Calibri" charset="0"/>
                        <a:cs typeface="Calibri" charset="0"/>
                      </a:endParaRPr>
                    </a:p>
                  </a:txBody>
                  <a:tcPr marL="73152" marR="73152" marT="27432" marB="27432" anchor="ctr">
                    <a:lnL w="6350" cap="flat" cmpd="sng" algn="ctr">
                      <a:solidFill>
                        <a:srgbClr val="D6DEE2"/>
                      </a:solidFill>
                      <a:prstDash val="solid"/>
                      <a:round/>
                      <a:headEnd type="none" w="med" len="med"/>
                      <a:tailEnd type="none" w="med" len="med"/>
                    </a:lnL>
                    <a:lnR w="6350" cap="flat" cmpd="sng" algn="ctr">
                      <a:solidFill>
                        <a:srgbClr val="D6DEE2"/>
                      </a:solidFill>
                      <a:prstDash val="solid"/>
                      <a:round/>
                      <a:headEnd type="none" w="med" len="med"/>
                      <a:tailEnd type="none" w="med" len="med"/>
                    </a:lnR>
                    <a:lnT w="6350" cap="flat" cmpd="sng" algn="ctr">
                      <a:solidFill>
                        <a:srgbClr val="D6DEE2"/>
                      </a:solidFill>
                      <a:prstDash val="solid"/>
                      <a:round/>
                      <a:headEnd type="none" w="med" len="med"/>
                      <a:tailEnd type="none" w="med" len="med"/>
                    </a:lnT>
                    <a:lnB w="6350" cap="flat" cmpd="sng" algn="ctr">
                      <a:solidFill>
                        <a:srgbClr val="D6DEE2"/>
                      </a:solidFill>
                      <a:prstDash val="solid"/>
                      <a:round/>
                      <a:headEnd type="none" w="med" len="med"/>
                      <a:tailEnd type="none" w="med" len="med"/>
                    </a:lnB>
                    <a:solidFill>
                      <a:srgbClr val="E3E9EC"/>
                    </a:solidFill>
                  </a:tcPr>
                </a:tc>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M</a:t>
                      </a:r>
                      <a:endParaRPr lang="en-US" sz="1200" dirty="0">
                        <a:latin typeface="Calibri" charset="0"/>
                        <a:ea typeface="Calibri" charset="0"/>
                        <a:cs typeface="Calibri" charset="0"/>
                      </a:endParaRPr>
                    </a:p>
                  </a:txBody>
                  <a:tcPr marL="73152" marR="73152" marT="27432" marB="27432" anchor="ctr">
                    <a:lnL w="6350" cap="flat" cmpd="sng" algn="ctr">
                      <a:solidFill>
                        <a:srgbClr val="D6DEE2"/>
                      </a:solidFill>
                      <a:prstDash val="solid"/>
                      <a:round/>
                      <a:headEnd type="none" w="med" len="med"/>
                      <a:tailEnd type="none" w="med" len="med"/>
                    </a:lnL>
                    <a:lnR w="6350" cap="flat" cmpd="sng" algn="ctr">
                      <a:solidFill>
                        <a:srgbClr val="D6DEE2"/>
                      </a:solidFill>
                      <a:prstDash val="solid"/>
                      <a:round/>
                      <a:headEnd type="none" w="med" len="med"/>
                      <a:tailEnd type="none" w="med" len="med"/>
                    </a:lnR>
                    <a:lnT w="6350" cap="flat" cmpd="sng" algn="ctr">
                      <a:solidFill>
                        <a:srgbClr val="D6DEE2"/>
                      </a:solidFill>
                      <a:prstDash val="solid"/>
                      <a:round/>
                      <a:headEnd type="none" w="med" len="med"/>
                      <a:tailEnd type="none" w="med" len="med"/>
                    </a:lnT>
                    <a:lnB w="6350" cap="flat" cmpd="sng" algn="ctr">
                      <a:solidFill>
                        <a:srgbClr val="D6DEE2"/>
                      </a:solidFill>
                      <a:prstDash val="solid"/>
                      <a:round/>
                      <a:headEnd type="none" w="med" len="med"/>
                      <a:tailEnd type="none" w="med" len="med"/>
                    </a:lnB>
                    <a:solidFill>
                      <a:srgbClr val="E3E9EC"/>
                    </a:solidFill>
                  </a:tcPr>
                </a:tc>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73152" marR="73152" marT="27432" marB="27432" anchor="ctr">
                    <a:lnL w="6350" cap="flat" cmpd="sng" algn="ctr">
                      <a:solidFill>
                        <a:srgbClr val="D6DEE2"/>
                      </a:solidFill>
                      <a:prstDash val="solid"/>
                      <a:round/>
                      <a:headEnd type="none" w="med" len="med"/>
                      <a:tailEnd type="none" w="med" len="med"/>
                    </a:lnL>
                    <a:lnR w="6350" cap="flat" cmpd="sng" algn="ctr">
                      <a:solidFill>
                        <a:srgbClr val="D6DEE2"/>
                      </a:solidFill>
                      <a:prstDash val="solid"/>
                      <a:round/>
                      <a:headEnd type="none" w="med" len="med"/>
                      <a:tailEnd type="none" w="med" len="med"/>
                    </a:lnR>
                    <a:lnT w="6350" cap="flat" cmpd="sng" algn="ctr">
                      <a:solidFill>
                        <a:srgbClr val="D6DEE2"/>
                      </a:solidFill>
                      <a:prstDash val="solid"/>
                      <a:round/>
                      <a:headEnd type="none" w="med" len="med"/>
                      <a:tailEnd type="none" w="med" len="med"/>
                    </a:lnT>
                    <a:lnB w="6350" cap="flat" cmpd="sng" algn="ctr">
                      <a:solidFill>
                        <a:srgbClr val="D6DEE2"/>
                      </a:solidFill>
                      <a:prstDash val="solid"/>
                      <a:round/>
                      <a:headEnd type="none" w="med" len="med"/>
                      <a:tailEnd type="none" w="med" len="med"/>
                    </a:lnB>
                    <a:solidFill>
                      <a:srgbClr val="E3E9EC"/>
                    </a:solidFill>
                  </a:tcPr>
                </a:tc>
              </a:tr>
            </a:tbl>
          </a:graphicData>
        </a:graphic>
      </p:graphicFrame>
      <p:sp>
        <p:nvSpPr>
          <p:cNvPr id="11" name="Text 5"/>
          <p:cNvSpPr txBox="1"/>
          <p:nvPr/>
        </p:nvSpPr>
        <p:spPr>
          <a:xfrm>
            <a:off x="4937760" y="3291840"/>
            <a:ext cx="3749040" cy="457200"/>
          </a:xfrm>
          <a:prstGeom prst="rect">
            <a:avLst/>
          </a:prstGeom>
          <a:noFill/>
          <a:ln/>
        </p:spPr>
        <p:txBody>
          <a:bodyPr wrap="square" lIns="0" tIns="0" rIns="0" bIns="0" rtlCol="0" anchor="ctr"/>
          <a:lstStyle/>
          <a:p>
            <a:pPr indent="0" marL="0">
              <a:buNone/>
            </a:pPr>
            <a:r>
              <a:rPr lang="en-US" sz="1400" b="1" dirty="0">
                <a:solidFill>
                  <a:srgbClr val="1C7293"/>
                </a:solidFill>
              </a:rPr>
              <a:t>Each fact stored once. Tables connect through keys.</a:t>
            </a:r>
            <a:endParaRPr lang="en-US" sz="1400" dirty="0"/>
          </a:p>
        </p:txBody>
      </p:sp>
      <p:sp>
        <p:nvSpPr>
          <p:cNvPr id="12" name="Shape 6"/>
          <p:cNvSpPr/>
          <p:nvPr/>
        </p:nvSpPr>
        <p:spPr>
          <a:xfrm>
            <a:off x="457200" y="3840480"/>
            <a:ext cx="8229600" cy="914400"/>
          </a:xfrm>
          <a:prstGeom prst="roundRect">
            <a:avLst>
              <a:gd name="adj" fmla="val 8000"/>
            </a:avLst>
          </a:prstGeom>
          <a:solidFill>
            <a:srgbClr val="E3E9EC"/>
          </a:solidFill>
          <a:ln w="12700">
            <a:solidFill>
              <a:srgbClr val="E3E9EC"/>
            </a:solidFill>
            <a:prstDash val="solid"/>
          </a:ln>
        </p:spPr>
      </p:sp>
      <p:sp>
        <p:nvSpPr>
          <p:cNvPr id="13" name="Text 7"/>
          <p:cNvSpPr txBox="1"/>
          <p:nvPr/>
        </p:nvSpPr>
        <p:spPr>
          <a:xfrm>
            <a:off x="640080" y="3950208"/>
            <a:ext cx="7863840" cy="365760"/>
          </a:xfrm>
          <a:prstGeom prst="rect">
            <a:avLst/>
          </a:prstGeom>
          <a:noFill/>
          <a:ln/>
        </p:spPr>
        <p:txBody>
          <a:bodyPr wrap="square" lIns="0" tIns="0" rIns="0" bIns="0" rtlCol="0" anchor="ctr"/>
          <a:lstStyle/>
          <a:p>
            <a:pPr indent="0" marL="0">
              <a:buNone/>
            </a:pPr>
            <a:r>
              <a:rPr lang="en-US" sz="1600" b="1" dirty="0">
                <a:solidFill>
                  <a:srgbClr val="0B3D59"/>
                </a:solidFill>
                <a:latin typeface="Cambria" pitchFamily="34" charset="0"/>
                <a:ea typeface="Cambria" pitchFamily="34" charset="-122"/>
                <a:cs typeface="Cambria" pitchFamily="34" charset="-120"/>
              </a:rPr>
              <a:t>The trade-off</a:t>
            </a:r>
            <a:endParaRPr lang="en-US" sz="1600" dirty="0"/>
          </a:p>
        </p:txBody>
      </p:sp>
      <p:sp>
        <p:nvSpPr>
          <p:cNvPr id="14" name="Text 8"/>
          <p:cNvSpPr txBox="1"/>
          <p:nvPr/>
        </p:nvSpPr>
        <p:spPr>
          <a:xfrm>
            <a:off x="640080" y="4343400"/>
            <a:ext cx="7863840" cy="320040"/>
          </a:xfrm>
          <a:prstGeom prst="rect">
            <a:avLst/>
          </a:prstGeom>
          <a:noFill/>
          <a:ln/>
        </p:spPr>
        <p:txBody>
          <a:bodyPr wrap="square" lIns="0" tIns="0" rIns="0" bIns="0" rtlCol="0" anchor="t"/>
          <a:lstStyle/>
          <a:p>
            <a:pPr indent="0" marL="0">
              <a:buNone/>
            </a:pPr>
            <a:r>
              <a:rPr lang="en-US" sz="1400" dirty="0">
                <a:solidFill>
                  <a:srgbClr val="1A1A1A"/>
                </a:solidFill>
                <a:latin typeface="Calibri" pitchFamily="34" charset="0"/>
                <a:ea typeface="Calibri" pitchFamily="34" charset="-122"/>
                <a:cs typeface="Calibri" pitchFamily="34" charset="-120"/>
              </a:rPr>
              <a:t>You pay with a join every time you want the pieces back together. That is what the rest of today is about.</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9"/>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0B3D59"/>
                </a:solidFill>
                <a:latin typeface="Cambria" pitchFamily="34" charset="0"/>
                <a:ea typeface="Cambria" pitchFamily="34" charset="-122"/>
                <a:cs typeface="Cambria" pitchFamily="34" charset="-120"/>
              </a:rPr>
              <a:t>Tables, keys, and the diagram you will draw</a:t>
            </a:r>
            <a:endParaRPr lang="en-US" sz="3000" dirty="0"/>
          </a:p>
        </p:txBody>
      </p:sp>
      <p:sp>
        <p:nvSpPr>
          <p:cNvPr id="3" name="Text 1"/>
          <p:cNvSpPr txBox="1"/>
          <p:nvPr/>
        </p:nvSpPr>
        <p:spPr>
          <a:xfrm>
            <a:off x="8412480" y="4754880"/>
            <a:ext cx="365760" cy="228600"/>
          </a:xfrm>
          <a:prstGeom prst="rect">
            <a:avLst/>
          </a:prstGeom>
          <a:noFill/>
          <a:ln/>
        </p:spPr>
        <p:txBody>
          <a:bodyPr wrap="square" lIns="0" tIns="0" rIns="0" bIns="0" rtlCol="0" anchor="ctr"/>
          <a:lstStyle/>
          <a:p>
            <a:pPr algn="r" indent="0" marL="0">
              <a:buNone/>
            </a:pPr>
            <a:r>
              <a:rPr lang="en-US" sz="1000" dirty="0">
                <a:solidFill>
                  <a:srgbClr val="5A6B75"/>
                </a:solidFill>
              </a:rPr>
              <a:t>4</a:t>
            </a:r>
            <a:endParaRPr lang="en-US" sz="1000" dirty="0"/>
          </a:p>
        </p:txBody>
      </p:sp>
      <p:sp>
        <p:nvSpPr>
          <p:cNvPr id="5" name="Shape 2"/>
          <p:cNvSpPr/>
          <p:nvPr/>
        </p:nvSpPr>
        <p:spPr>
          <a:xfrm>
            <a:off x="365760" y="1097280"/>
            <a:ext cx="1737360" cy="1088136"/>
          </a:xfrm>
          <a:prstGeom prst="roundRect">
            <a:avLst>
              <a:gd name="adj" fmla="val 5042"/>
            </a:avLst>
          </a:prstGeom>
          <a:solidFill>
            <a:srgbClr val="FFFFFF"/>
          </a:solidFill>
          <a:ln w="19050">
            <a:solidFill>
              <a:srgbClr val="1C7293"/>
            </a:solidFill>
            <a:prstDash val="solid"/>
          </a:ln>
        </p:spPr>
      </p:sp>
      <p:sp>
        <p:nvSpPr>
          <p:cNvPr id="6" name="Shape 3"/>
          <p:cNvSpPr/>
          <p:nvPr/>
        </p:nvSpPr>
        <p:spPr>
          <a:xfrm>
            <a:off x="365760" y="1097280"/>
            <a:ext cx="1737360" cy="310896"/>
          </a:xfrm>
          <a:prstGeom prst="rect">
            <a:avLst/>
          </a:prstGeom>
          <a:solidFill>
            <a:srgbClr val="1C7293"/>
          </a:solidFill>
          <a:ln w="12700">
            <a:solidFill>
              <a:srgbClr val="1C7293"/>
            </a:solidFill>
            <a:prstDash val="solid"/>
          </a:ln>
        </p:spPr>
      </p:sp>
      <p:sp>
        <p:nvSpPr>
          <p:cNvPr id="7" name="Text 4"/>
          <p:cNvSpPr txBox="1"/>
          <p:nvPr/>
        </p:nvSpPr>
        <p:spPr>
          <a:xfrm>
            <a:off x="365760" y="1097280"/>
            <a:ext cx="1737360"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subjects</a:t>
            </a:r>
            <a:endParaRPr lang="en-US" sz="1400" dirty="0"/>
          </a:p>
        </p:txBody>
      </p:sp>
      <p:sp>
        <p:nvSpPr>
          <p:cNvPr id="8" name="Text 5"/>
          <p:cNvSpPr txBox="1"/>
          <p:nvPr/>
        </p:nvSpPr>
        <p:spPr>
          <a:xfrm>
            <a:off x="457200" y="1463040"/>
            <a:ext cx="1554480" cy="228600"/>
          </a:xfrm>
          <a:prstGeom prst="rect">
            <a:avLst/>
          </a:prstGeom>
          <a:noFill/>
          <a:ln/>
        </p:spPr>
        <p:txBody>
          <a:bodyPr wrap="square" lIns="0" tIns="0" rIns="0" bIns="0" rtlCol="0" anchor="ctr"/>
          <a:lstStyle/>
          <a:p>
            <a:pPr indent="0" marL="0">
              <a:buNone/>
            </a:pPr>
            <a:r>
              <a:rPr lang="en-US" sz="1100" dirty="0">
                <a:solidFill>
                  <a:srgbClr val="1A1A1A"/>
                </a:solidFill>
                <a:latin typeface="Courier New" pitchFamily="34" charset="0"/>
                <a:ea typeface="Courier New" pitchFamily="34" charset="-122"/>
                <a:cs typeface="Courier New" pitchFamily="34" charset="-120"/>
              </a:rPr>
              <a:t>subject_id  PK</a:t>
            </a:r>
            <a:endParaRPr lang="en-US" sz="1100" dirty="0"/>
          </a:p>
        </p:txBody>
      </p:sp>
      <p:sp>
        <p:nvSpPr>
          <p:cNvPr id="9" name="Text 6"/>
          <p:cNvSpPr txBox="1"/>
          <p:nvPr/>
        </p:nvSpPr>
        <p:spPr>
          <a:xfrm>
            <a:off x="457200" y="1709928"/>
            <a:ext cx="1554480" cy="228600"/>
          </a:xfrm>
          <a:prstGeom prst="rect">
            <a:avLst/>
          </a:prstGeom>
          <a:noFill/>
          <a:ln/>
        </p:spPr>
        <p:txBody>
          <a:bodyPr wrap="square" lIns="0" tIns="0" rIns="0" bIns="0" rtlCol="0" anchor="ctr"/>
          <a:lstStyle/>
          <a:p>
            <a:pPr indent="0" marL="0">
              <a:buNone/>
            </a:pPr>
            <a:r>
              <a:rPr lang="en-US" sz="1100" dirty="0">
                <a:solidFill>
                  <a:srgbClr val="1A1A1A"/>
                </a:solidFill>
                <a:latin typeface="Courier New" pitchFamily="34" charset="0"/>
                <a:ea typeface="Courier New" pitchFamily="34" charset="-122"/>
                <a:cs typeface="Courier New" pitchFamily="34" charset="-120"/>
              </a:rPr>
              <a:t>cohort</a:t>
            </a:r>
            <a:endParaRPr lang="en-US" sz="1100" dirty="0"/>
          </a:p>
        </p:txBody>
      </p:sp>
      <p:sp>
        <p:nvSpPr>
          <p:cNvPr id="10" name="Text 7"/>
          <p:cNvSpPr txBox="1"/>
          <p:nvPr/>
        </p:nvSpPr>
        <p:spPr>
          <a:xfrm>
            <a:off x="457200" y="1956816"/>
            <a:ext cx="1554480" cy="228600"/>
          </a:xfrm>
          <a:prstGeom prst="rect">
            <a:avLst/>
          </a:prstGeom>
          <a:noFill/>
          <a:ln/>
        </p:spPr>
        <p:txBody>
          <a:bodyPr wrap="square" lIns="0" tIns="0" rIns="0" bIns="0" rtlCol="0" anchor="ctr"/>
          <a:lstStyle/>
          <a:p>
            <a:pPr indent="0" marL="0">
              <a:buNone/>
            </a:pPr>
            <a:r>
              <a:rPr lang="en-US" sz="1100" dirty="0">
                <a:solidFill>
                  <a:srgbClr val="1A1A1A"/>
                </a:solidFill>
                <a:latin typeface="Courier New" pitchFamily="34" charset="0"/>
                <a:ea typeface="Courier New" pitchFamily="34" charset="-122"/>
                <a:cs typeface="Courier New" pitchFamily="34" charset="-120"/>
              </a:rPr>
              <a:t>age_group</a:t>
            </a:r>
            <a:endParaRPr lang="en-US" sz="1100" dirty="0"/>
          </a:p>
        </p:txBody>
      </p:sp>
      <p:sp>
        <p:nvSpPr>
          <p:cNvPr id="11" name="Shape 8"/>
          <p:cNvSpPr/>
          <p:nvPr/>
        </p:nvSpPr>
        <p:spPr>
          <a:xfrm>
            <a:off x="2651760" y="1097280"/>
            <a:ext cx="1737360" cy="1335024"/>
          </a:xfrm>
          <a:prstGeom prst="roundRect">
            <a:avLst>
              <a:gd name="adj" fmla="val 4110"/>
            </a:avLst>
          </a:prstGeom>
          <a:solidFill>
            <a:srgbClr val="FFFFFF"/>
          </a:solidFill>
          <a:ln w="19050">
            <a:solidFill>
              <a:srgbClr val="1C7293"/>
            </a:solidFill>
            <a:prstDash val="solid"/>
          </a:ln>
        </p:spPr>
      </p:sp>
      <p:sp>
        <p:nvSpPr>
          <p:cNvPr id="12" name="Shape 9"/>
          <p:cNvSpPr/>
          <p:nvPr/>
        </p:nvSpPr>
        <p:spPr>
          <a:xfrm>
            <a:off x="2651760" y="1097280"/>
            <a:ext cx="1737360" cy="310896"/>
          </a:xfrm>
          <a:prstGeom prst="rect">
            <a:avLst/>
          </a:prstGeom>
          <a:solidFill>
            <a:srgbClr val="1C7293"/>
          </a:solidFill>
          <a:ln w="12700">
            <a:solidFill>
              <a:srgbClr val="1C7293"/>
            </a:solidFill>
            <a:prstDash val="solid"/>
          </a:ln>
        </p:spPr>
      </p:sp>
      <p:sp>
        <p:nvSpPr>
          <p:cNvPr id="13" name="Text 10"/>
          <p:cNvSpPr txBox="1"/>
          <p:nvPr/>
        </p:nvSpPr>
        <p:spPr>
          <a:xfrm>
            <a:off x="2651760" y="1097280"/>
            <a:ext cx="1737360"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samples</a:t>
            </a:r>
            <a:endParaRPr lang="en-US" sz="1400" dirty="0"/>
          </a:p>
        </p:txBody>
      </p:sp>
      <p:sp>
        <p:nvSpPr>
          <p:cNvPr id="14" name="Text 11"/>
          <p:cNvSpPr txBox="1"/>
          <p:nvPr/>
        </p:nvSpPr>
        <p:spPr>
          <a:xfrm>
            <a:off x="2743200" y="1463040"/>
            <a:ext cx="1554480" cy="228600"/>
          </a:xfrm>
          <a:prstGeom prst="rect">
            <a:avLst/>
          </a:prstGeom>
          <a:noFill/>
          <a:ln/>
        </p:spPr>
        <p:txBody>
          <a:bodyPr wrap="square" lIns="0" tIns="0" rIns="0" bIns="0" rtlCol="0" anchor="ctr"/>
          <a:lstStyle/>
          <a:p>
            <a:pPr indent="0" marL="0">
              <a:buNone/>
            </a:pPr>
            <a:r>
              <a:rPr lang="en-US" sz="1100" dirty="0">
                <a:solidFill>
                  <a:srgbClr val="1A1A1A"/>
                </a:solidFill>
                <a:latin typeface="Courier New" pitchFamily="34" charset="0"/>
                <a:ea typeface="Courier New" pitchFamily="34" charset="-122"/>
                <a:cs typeface="Courier New" pitchFamily="34" charset="-120"/>
              </a:rPr>
              <a:t>sample_id   PK</a:t>
            </a:r>
            <a:endParaRPr lang="en-US" sz="1100" dirty="0"/>
          </a:p>
        </p:txBody>
      </p:sp>
      <p:sp>
        <p:nvSpPr>
          <p:cNvPr id="15" name="Text 12"/>
          <p:cNvSpPr txBox="1"/>
          <p:nvPr/>
        </p:nvSpPr>
        <p:spPr>
          <a:xfrm>
            <a:off x="2743200" y="1709928"/>
            <a:ext cx="1554480" cy="228600"/>
          </a:xfrm>
          <a:prstGeom prst="rect">
            <a:avLst/>
          </a:prstGeom>
          <a:noFill/>
          <a:ln/>
        </p:spPr>
        <p:txBody>
          <a:bodyPr wrap="square" lIns="0" tIns="0" rIns="0" bIns="0" rtlCol="0" anchor="ctr"/>
          <a:lstStyle/>
          <a:p>
            <a:pPr indent="0" marL="0">
              <a:buNone/>
            </a:pPr>
            <a:r>
              <a:rPr lang="en-US" sz="1100" dirty="0">
                <a:solidFill>
                  <a:srgbClr val="1A1A1A"/>
                </a:solidFill>
                <a:latin typeface="Courier New" pitchFamily="34" charset="0"/>
                <a:ea typeface="Courier New" pitchFamily="34" charset="-122"/>
                <a:cs typeface="Courier New" pitchFamily="34" charset="-120"/>
              </a:rPr>
              <a:t>subject_id  FK</a:t>
            </a:r>
            <a:endParaRPr lang="en-US" sz="1100" dirty="0"/>
          </a:p>
        </p:txBody>
      </p:sp>
      <p:sp>
        <p:nvSpPr>
          <p:cNvPr id="16" name="Text 13"/>
          <p:cNvSpPr txBox="1"/>
          <p:nvPr/>
        </p:nvSpPr>
        <p:spPr>
          <a:xfrm>
            <a:off x="2743200" y="1956816"/>
            <a:ext cx="1554480" cy="228600"/>
          </a:xfrm>
          <a:prstGeom prst="rect">
            <a:avLst/>
          </a:prstGeom>
          <a:noFill/>
          <a:ln/>
        </p:spPr>
        <p:txBody>
          <a:bodyPr wrap="square" lIns="0" tIns="0" rIns="0" bIns="0" rtlCol="0" anchor="ctr"/>
          <a:lstStyle/>
          <a:p>
            <a:pPr indent="0" marL="0">
              <a:buNone/>
            </a:pPr>
            <a:r>
              <a:rPr lang="en-US" sz="1100" dirty="0">
                <a:solidFill>
                  <a:srgbClr val="1A1A1A"/>
                </a:solidFill>
                <a:latin typeface="Courier New" pitchFamily="34" charset="0"/>
                <a:ea typeface="Courier New" pitchFamily="34" charset="-122"/>
                <a:cs typeface="Courier New" pitchFamily="34" charset="-120"/>
              </a:rPr>
              <a:t>tissue</a:t>
            </a:r>
            <a:endParaRPr lang="en-US" sz="1100" dirty="0"/>
          </a:p>
        </p:txBody>
      </p:sp>
      <p:sp>
        <p:nvSpPr>
          <p:cNvPr id="17" name="Text 14"/>
          <p:cNvSpPr txBox="1"/>
          <p:nvPr/>
        </p:nvSpPr>
        <p:spPr>
          <a:xfrm>
            <a:off x="2743200" y="2203704"/>
            <a:ext cx="1554480" cy="228600"/>
          </a:xfrm>
          <a:prstGeom prst="rect">
            <a:avLst/>
          </a:prstGeom>
          <a:noFill/>
          <a:ln/>
        </p:spPr>
        <p:txBody>
          <a:bodyPr wrap="square" lIns="0" tIns="0" rIns="0" bIns="0" rtlCol="0" anchor="ctr"/>
          <a:lstStyle/>
          <a:p>
            <a:pPr indent="0" marL="0">
              <a:buNone/>
            </a:pPr>
            <a:r>
              <a:rPr lang="en-US" sz="1100" dirty="0">
                <a:solidFill>
                  <a:srgbClr val="1A1A1A"/>
                </a:solidFill>
                <a:latin typeface="Courier New" pitchFamily="34" charset="0"/>
                <a:ea typeface="Courier New" pitchFamily="34" charset="-122"/>
                <a:cs typeface="Courier New" pitchFamily="34" charset="-120"/>
              </a:rPr>
              <a:t>collected</a:t>
            </a:r>
            <a:endParaRPr lang="en-US" sz="1100" dirty="0"/>
          </a:p>
        </p:txBody>
      </p:sp>
      <p:sp>
        <p:nvSpPr>
          <p:cNvPr id="18" name="Shape 15"/>
          <p:cNvSpPr/>
          <p:nvPr/>
        </p:nvSpPr>
        <p:spPr>
          <a:xfrm>
            <a:off x="4937760" y="1097280"/>
            <a:ext cx="1737360" cy="1581912"/>
          </a:xfrm>
          <a:prstGeom prst="roundRect">
            <a:avLst>
              <a:gd name="adj" fmla="val 3468"/>
            </a:avLst>
          </a:prstGeom>
          <a:solidFill>
            <a:srgbClr val="FFFFFF"/>
          </a:solidFill>
          <a:ln w="19050">
            <a:solidFill>
              <a:srgbClr val="1C7293"/>
            </a:solidFill>
            <a:prstDash val="solid"/>
          </a:ln>
        </p:spPr>
      </p:sp>
      <p:sp>
        <p:nvSpPr>
          <p:cNvPr id="19" name="Shape 16"/>
          <p:cNvSpPr/>
          <p:nvPr/>
        </p:nvSpPr>
        <p:spPr>
          <a:xfrm>
            <a:off x="4937760" y="1097280"/>
            <a:ext cx="1737360" cy="310896"/>
          </a:xfrm>
          <a:prstGeom prst="rect">
            <a:avLst/>
          </a:prstGeom>
          <a:solidFill>
            <a:srgbClr val="1C7293"/>
          </a:solidFill>
          <a:ln w="12700">
            <a:solidFill>
              <a:srgbClr val="1C7293"/>
            </a:solidFill>
            <a:prstDash val="solid"/>
          </a:ln>
        </p:spPr>
      </p:sp>
      <p:sp>
        <p:nvSpPr>
          <p:cNvPr id="20" name="Text 17"/>
          <p:cNvSpPr txBox="1"/>
          <p:nvPr/>
        </p:nvSpPr>
        <p:spPr>
          <a:xfrm>
            <a:off x="4937760" y="1097280"/>
            <a:ext cx="1737360"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mutations</a:t>
            </a:r>
            <a:endParaRPr lang="en-US" sz="1400" dirty="0"/>
          </a:p>
        </p:txBody>
      </p:sp>
      <p:sp>
        <p:nvSpPr>
          <p:cNvPr id="21" name="Text 18"/>
          <p:cNvSpPr txBox="1"/>
          <p:nvPr/>
        </p:nvSpPr>
        <p:spPr>
          <a:xfrm>
            <a:off x="5029200" y="1463040"/>
            <a:ext cx="1554480" cy="228600"/>
          </a:xfrm>
          <a:prstGeom prst="rect">
            <a:avLst/>
          </a:prstGeom>
          <a:noFill/>
          <a:ln/>
        </p:spPr>
        <p:txBody>
          <a:bodyPr wrap="square" lIns="0" tIns="0" rIns="0" bIns="0" rtlCol="0" anchor="ctr"/>
          <a:lstStyle/>
          <a:p>
            <a:pPr indent="0" marL="0">
              <a:buNone/>
            </a:pPr>
            <a:r>
              <a:rPr lang="en-US" sz="1100" dirty="0">
                <a:solidFill>
                  <a:srgbClr val="1A1A1A"/>
                </a:solidFill>
                <a:latin typeface="Courier New" pitchFamily="34" charset="0"/>
                <a:ea typeface="Courier New" pitchFamily="34" charset="-122"/>
                <a:cs typeface="Courier New" pitchFamily="34" charset="-120"/>
              </a:rPr>
              <a:t>mutation_id PK</a:t>
            </a:r>
            <a:endParaRPr lang="en-US" sz="1100" dirty="0"/>
          </a:p>
        </p:txBody>
      </p:sp>
      <p:sp>
        <p:nvSpPr>
          <p:cNvPr id="22" name="Text 19"/>
          <p:cNvSpPr txBox="1"/>
          <p:nvPr/>
        </p:nvSpPr>
        <p:spPr>
          <a:xfrm>
            <a:off x="5029200" y="1709928"/>
            <a:ext cx="1554480" cy="228600"/>
          </a:xfrm>
          <a:prstGeom prst="rect">
            <a:avLst/>
          </a:prstGeom>
          <a:noFill/>
          <a:ln/>
        </p:spPr>
        <p:txBody>
          <a:bodyPr wrap="square" lIns="0" tIns="0" rIns="0" bIns="0" rtlCol="0" anchor="ctr"/>
          <a:lstStyle/>
          <a:p>
            <a:pPr indent="0" marL="0">
              <a:buNone/>
            </a:pPr>
            <a:r>
              <a:rPr lang="en-US" sz="1100" dirty="0">
                <a:solidFill>
                  <a:srgbClr val="1A1A1A"/>
                </a:solidFill>
                <a:latin typeface="Courier New" pitchFamily="34" charset="0"/>
                <a:ea typeface="Courier New" pitchFamily="34" charset="-122"/>
                <a:cs typeface="Courier New" pitchFamily="34" charset="-120"/>
              </a:rPr>
              <a:t>sample_id   FK</a:t>
            </a:r>
            <a:endParaRPr lang="en-US" sz="1100" dirty="0"/>
          </a:p>
        </p:txBody>
      </p:sp>
      <p:sp>
        <p:nvSpPr>
          <p:cNvPr id="23" name="Text 20"/>
          <p:cNvSpPr txBox="1"/>
          <p:nvPr/>
        </p:nvSpPr>
        <p:spPr>
          <a:xfrm>
            <a:off x="5029200" y="1956816"/>
            <a:ext cx="1554480" cy="228600"/>
          </a:xfrm>
          <a:prstGeom prst="rect">
            <a:avLst/>
          </a:prstGeom>
          <a:noFill/>
          <a:ln/>
        </p:spPr>
        <p:txBody>
          <a:bodyPr wrap="square" lIns="0" tIns="0" rIns="0" bIns="0" rtlCol="0" anchor="ctr"/>
          <a:lstStyle/>
          <a:p>
            <a:pPr indent="0" marL="0">
              <a:buNone/>
            </a:pPr>
            <a:r>
              <a:rPr lang="en-US" sz="1100" dirty="0">
                <a:solidFill>
                  <a:srgbClr val="1A1A1A"/>
                </a:solidFill>
                <a:latin typeface="Courier New" pitchFamily="34" charset="0"/>
                <a:ea typeface="Courier New" pitchFamily="34" charset="-122"/>
                <a:cs typeface="Courier New" pitchFamily="34" charset="-120"/>
              </a:rPr>
              <a:t>gene_symbol</a:t>
            </a:r>
            <a:endParaRPr lang="en-US" sz="1100" dirty="0"/>
          </a:p>
        </p:txBody>
      </p:sp>
      <p:sp>
        <p:nvSpPr>
          <p:cNvPr id="24" name="Text 21"/>
          <p:cNvSpPr txBox="1"/>
          <p:nvPr/>
        </p:nvSpPr>
        <p:spPr>
          <a:xfrm>
            <a:off x="5029200" y="2203704"/>
            <a:ext cx="1554480" cy="228600"/>
          </a:xfrm>
          <a:prstGeom prst="rect">
            <a:avLst/>
          </a:prstGeom>
          <a:noFill/>
          <a:ln/>
        </p:spPr>
        <p:txBody>
          <a:bodyPr wrap="square" lIns="0" tIns="0" rIns="0" bIns="0" rtlCol="0" anchor="ctr"/>
          <a:lstStyle/>
          <a:p>
            <a:pPr indent="0" marL="0">
              <a:buNone/>
            </a:pPr>
            <a:r>
              <a:rPr lang="en-US" sz="1100" dirty="0">
                <a:solidFill>
                  <a:srgbClr val="1A1A1A"/>
                </a:solidFill>
                <a:latin typeface="Courier New" pitchFamily="34" charset="0"/>
                <a:ea typeface="Courier New" pitchFamily="34" charset="-122"/>
                <a:cs typeface="Courier New" pitchFamily="34" charset="-120"/>
              </a:rPr>
              <a:t>hgvs_p</a:t>
            </a:r>
            <a:endParaRPr lang="en-US" sz="1100" dirty="0"/>
          </a:p>
        </p:txBody>
      </p:sp>
      <p:sp>
        <p:nvSpPr>
          <p:cNvPr id="25" name="Text 22"/>
          <p:cNvSpPr txBox="1"/>
          <p:nvPr/>
        </p:nvSpPr>
        <p:spPr>
          <a:xfrm>
            <a:off x="5029200" y="2450592"/>
            <a:ext cx="1554480" cy="228600"/>
          </a:xfrm>
          <a:prstGeom prst="rect">
            <a:avLst/>
          </a:prstGeom>
          <a:noFill/>
          <a:ln/>
        </p:spPr>
        <p:txBody>
          <a:bodyPr wrap="square" lIns="0" tIns="0" rIns="0" bIns="0" rtlCol="0" anchor="ctr"/>
          <a:lstStyle/>
          <a:p>
            <a:pPr indent="0" marL="0">
              <a:buNone/>
            </a:pPr>
            <a:r>
              <a:rPr lang="en-US" sz="1100" dirty="0">
                <a:solidFill>
                  <a:srgbClr val="1A1A1A"/>
                </a:solidFill>
                <a:latin typeface="Courier New" pitchFamily="34" charset="0"/>
                <a:ea typeface="Courier New" pitchFamily="34" charset="-122"/>
                <a:cs typeface="Courier New" pitchFamily="34" charset="-120"/>
              </a:rPr>
              <a:t>vaf</a:t>
            </a:r>
            <a:endParaRPr lang="en-US" sz="1100" dirty="0"/>
          </a:p>
        </p:txBody>
      </p:sp>
      <p:sp>
        <p:nvSpPr>
          <p:cNvPr id="26" name="Shape 23"/>
          <p:cNvSpPr/>
          <p:nvPr/>
        </p:nvSpPr>
        <p:spPr>
          <a:xfrm>
            <a:off x="2651760" y="3108960"/>
            <a:ext cx="1737360" cy="1581912"/>
          </a:xfrm>
          <a:prstGeom prst="roundRect">
            <a:avLst>
              <a:gd name="adj" fmla="val 3468"/>
            </a:avLst>
          </a:prstGeom>
          <a:solidFill>
            <a:srgbClr val="FFFFFF"/>
          </a:solidFill>
          <a:ln w="19050">
            <a:solidFill>
              <a:srgbClr val="1C7293"/>
            </a:solidFill>
            <a:prstDash val="solid"/>
          </a:ln>
        </p:spPr>
      </p:sp>
      <p:sp>
        <p:nvSpPr>
          <p:cNvPr id="27" name="Shape 24"/>
          <p:cNvSpPr/>
          <p:nvPr/>
        </p:nvSpPr>
        <p:spPr>
          <a:xfrm>
            <a:off x="2651760" y="3108960"/>
            <a:ext cx="1737360" cy="310896"/>
          </a:xfrm>
          <a:prstGeom prst="rect">
            <a:avLst/>
          </a:prstGeom>
          <a:solidFill>
            <a:srgbClr val="1C7293"/>
          </a:solidFill>
          <a:ln w="12700">
            <a:solidFill>
              <a:srgbClr val="1C7293"/>
            </a:solidFill>
            <a:prstDash val="solid"/>
          </a:ln>
        </p:spPr>
      </p:sp>
      <p:sp>
        <p:nvSpPr>
          <p:cNvPr id="28" name="Text 25"/>
          <p:cNvSpPr txBox="1"/>
          <p:nvPr/>
        </p:nvSpPr>
        <p:spPr>
          <a:xfrm>
            <a:off x="2651760" y="3108960"/>
            <a:ext cx="1737360"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genes</a:t>
            </a:r>
            <a:endParaRPr lang="en-US" sz="1400" dirty="0"/>
          </a:p>
        </p:txBody>
      </p:sp>
      <p:sp>
        <p:nvSpPr>
          <p:cNvPr id="29" name="Text 26"/>
          <p:cNvSpPr txBox="1"/>
          <p:nvPr/>
        </p:nvSpPr>
        <p:spPr>
          <a:xfrm>
            <a:off x="2743200" y="3474720"/>
            <a:ext cx="1554480" cy="228600"/>
          </a:xfrm>
          <a:prstGeom prst="rect">
            <a:avLst/>
          </a:prstGeom>
          <a:noFill/>
          <a:ln/>
        </p:spPr>
        <p:txBody>
          <a:bodyPr wrap="square" lIns="0" tIns="0" rIns="0" bIns="0" rtlCol="0" anchor="ctr"/>
          <a:lstStyle/>
          <a:p>
            <a:pPr indent="0" marL="0">
              <a:buNone/>
            </a:pPr>
            <a:r>
              <a:rPr lang="en-US" sz="1100" dirty="0">
                <a:solidFill>
                  <a:srgbClr val="1A1A1A"/>
                </a:solidFill>
                <a:latin typeface="Courier New" pitchFamily="34" charset="0"/>
                <a:ea typeface="Courier New" pitchFamily="34" charset="-122"/>
                <a:cs typeface="Courier New" pitchFamily="34" charset="-120"/>
              </a:rPr>
              <a:t>gene_id     PK</a:t>
            </a:r>
            <a:endParaRPr lang="en-US" sz="1100" dirty="0"/>
          </a:p>
        </p:txBody>
      </p:sp>
      <p:sp>
        <p:nvSpPr>
          <p:cNvPr id="30" name="Text 27"/>
          <p:cNvSpPr txBox="1"/>
          <p:nvPr/>
        </p:nvSpPr>
        <p:spPr>
          <a:xfrm>
            <a:off x="2743200" y="3721608"/>
            <a:ext cx="1554480" cy="228600"/>
          </a:xfrm>
          <a:prstGeom prst="rect">
            <a:avLst/>
          </a:prstGeom>
          <a:noFill/>
          <a:ln/>
        </p:spPr>
        <p:txBody>
          <a:bodyPr wrap="square" lIns="0" tIns="0" rIns="0" bIns="0" rtlCol="0" anchor="ctr"/>
          <a:lstStyle/>
          <a:p>
            <a:pPr indent="0" marL="0">
              <a:buNone/>
            </a:pPr>
            <a:r>
              <a:rPr lang="en-US" sz="1100" dirty="0">
                <a:solidFill>
                  <a:srgbClr val="1A1A1A"/>
                </a:solidFill>
                <a:latin typeface="Courier New" pitchFamily="34" charset="0"/>
                <a:ea typeface="Courier New" pitchFamily="34" charset="-122"/>
                <a:cs typeface="Courier New" pitchFamily="34" charset="-120"/>
              </a:rPr>
              <a:t>symbol</a:t>
            </a:r>
            <a:endParaRPr lang="en-US" sz="1100" dirty="0"/>
          </a:p>
        </p:txBody>
      </p:sp>
      <p:sp>
        <p:nvSpPr>
          <p:cNvPr id="31" name="Text 28"/>
          <p:cNvSpPr txBox="1"/>
          <p:nvPr/>
        </p:nvSpPr>
        <p:spPr>
          <a:xfrm>
            <a:off x="2743200" y="3968496"/>
            <a:ext cx="1554480" cy="228600"/>
          </a:xfrm>
          <a:prstGeom prst="rect">
            <a:avLst/>
          </a:prstGeom>
          <a:noFill/>
          <a:ln/>
        </p:spPr>
        <p:txBody>
          <a:bodyPr wrap="square" lIns="0" tIns="0" rIns="0" bIns="0" rtlCol="0" anchor="ctr"/>
          <a:lstStyle/>
          <a:p>
            <a:pPr indent="0" marL="0">
              <a:buNone/>
            </a:pPr>
            <a:r>
              <a:rPr lang="en-US" sz="1100" dirty="0">
                <a:solidFill>
                  <a:srgbClr val="1A1A1A"/>
                </a:solidFill>
                <a:latin typeface="Courier New" pitchFamily="34" charset="0"/>
                <a:ea typeface="Courier New" pitchFamily="34" charset="-122"/>
                <a:cs typeface="Courier New" pitchFamily="34" charset="-120"/>
              </a:rPr>
              <a:t>ncbi_gene_id</a:t>
            </a:r>
            <a:endParaRPr lang="en-US" sz="1100" dirty="0"/>
          </a:p>
        </p:txBody>
      </p:sp>
      <p:sp>
        <p:nvSpPr>
          <p:cNvPr id="32" name="Text 29"/>
          <p:cNvSpPr txBox="1"/>
          <p:nvPr/>
        </p:nvSpPr>
        <p:spPr>
          <a:xfrm>
            <a:off x="2743200" y="4215384"/>
            <a:ext cx="1554480" cy="228600"/>
          </a:xfrm>
          <a:prstGeom prst="rect">
            <a:avLst/>
          </a:prstGeom>
          <a:noFill/>
          <a:ln/>
        </p:spPr>
        <p:txBody>
          <a:bodyPr wrap="square" lIns="0" tIns="0" rIns="0" bIns="0" rtlCol="0" anchor="ctr"/>
          <a:lstStyle/>
          <a:p>
            <a:pPr indent="0" marL="0">
              <a:buNone/>
            </a:pPr>
            <a:r>
              <a:rPr lang="en-US" sz="1100" dirty="0">
                <a:solidFill>
                  <a:srgbClr val="1A1A1A"/>
                </a:solidFill>
                <a:latin typeface="Courier New" pitchFamily="34" charset="0"/>
                <a:ea typeface="Courier New" pitchFamily="34" charset="-122"/>
                <a:cs typeface="Courier New" pitchFamily="34" charset="-120"/>
              </a:rPr>
              <a:t>ensembl_gene</a:t>
            </a:r>
            <a:endParaRPr lang="en-US" sz="1100" dirty="0"/>
          </a:p>
        </p:txBody>
      </p:sp>
      <p:sp>
        <p:nvSpPr>
          <p:cNvPr id="33" name="Text 30"/>
          <p:cNvSpPr txBox="1"/>
          <p:nvPr/>
        </p:nvSpPr>
        <p:spPr>
          <a:xfrm>
            <a:off x="2743200" y="4462272"/>
            <a:ext cx="1554480" cy="228600"/>
          </a:xfrm>
          <a:prstGeom prst="rect">
            <a:avLst/>
          </a:prstGeom>
          <a:noFill/>
          <a:ln/>
        </p:spPr>
        <p:txBody>
          <a:bodyPr wrap="square" lIns="0" tIns="0" rIns="0" bIns="0" rtlCol="0" anchor="ctr"/>
          <a:lstStyle/>
          <a:p>
            <a:pPr indent="0" marL="0">
              <a:buNone/>
            </a:pPr>
            <a:r>
              <a:rPr lang="en-US" sz="1100" dirty="0">
                <a:solidFill>
                  <a:srgbClr val="1A1A1A"/>
                </a:solidFill>
                <a:latin typeface="Courier New" pitchFamily="34" charset="0"/>
                <a:ea typeface="Courier New" pitchFamily="34" charset="-122"/>
                <a:cs typeface="Courier New" pitchFamily="34" charset="-120"/>
              </a:rPr>
              <a:t>chrom</a:t>
            </a:r>
            <a:endParaRPr lang="en-US" sz="1100" dirty="0"/>
          </a:p>
        </p:txBody>
      </p:sp>
      <p:sp>
        <p:nvSpPr>
          <p:cNvPr id="34" name="Shape 31"/>
          <p:cNvSpPr/>
          <p:nvPr/>
        </p:nvSpPr>
        <p:spPr>
          <a:xfrm>
            <a:off x="4937760" y="3108960"/>
            <a:ext cx="1828800" cy="1581912"/>
          </a:xfrm>
          <a:prstGeom prst="roundRect">
            <a:avLst>
              <a:gd name="adj" fmla="val 3468"/>
            </a:avLst>
          </a:prstGeom>
          <a:solidFill>
            <a:srgbClr val="FFFFFF"/>
          </a:solidFill>
          <a:ln w="19050">
            <a:solidFill>
              <a:srgbClr val="1C7293"/>
            </a:solidFill>
            <a:prstDash val="solid"/>
          </a:ln>
        </p:spPr>
      </p:sp>
      <p:sp>
        <p:nvSpPr>
          <p:cNvPr id="35" name="Shape 32"/>
          <p:cNvSpPr/>
          <p:nvPr/>
        </p:nvSpPr>
        <p:spPr>
          <a:xfrm>
            <a:off x="4937760" y="3108960"/>
            <a:ext cx="1828800" cy="310896"/>
          </a:xfrm>
          <a:prstGeom prst="rect">
            <a:avLst/>
          </a:prstGeom>
          <a:solidFill>
            <a:srgbClr val="1C7293"/>
          </a:solidFill>
          <a:ln w="12700">
            <a:solidFill>
              <a:srgbClr val="1C7293"/>
            </a:solidFill>
            <a:prstDash val="solid"/>
          </a:ln>
        </p:spPr>
      </p:sp>
      <p:sp>
        <p:nvSpPr>
          <p:cNvPr id="36" name="Text 33"/>
          <p:cNvSpPr txBox="1"/>
          <p:nvPr/>
        </p:nvSpPr>
        <p:spPr>
          <a:xfrm>
            <a:off x="4937760" y="3108960"/>
            <a:ext cx="1828800"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transcripts</a:t>
            </a:r>
            <a:endParaRPr lang="en-US" sz="1400" dirty="0"/>
          </a:p>
        </p:txBody>
      </p:sp>
      <p:sp>
        <p:nvSpPr>
          <p:cNvPr id="37" name="Text 34"/>
          <p:cNvSpPr txBox="1"/>
          <p:nvPr/>
        </p:nvSpPr>
        <p:spPr>
          <a:xfrm>
            <a:off x="5029200" y="3474720"/>
            <a:ext cx="1645920" cy="228600"/>
          </a:xfrm>
          <a:prstGeom prst="rect">
            <a:avLst/>
          </a:prstGeom>
          <a:noFill/>
          <a:ln/>
        </p:spPr>
        <p:txBody>
          <a:bodyPr wrap="square" lIns="0" tIns="0" rIns="0" bIns="0" rtlCol="0" anchor="ctr"/>
          <a:lstStyle/>
          <a:p>
            <a:pPr indent="0" marL="0">
              <a:buNone/>
            </a:pPr>
            <a:r>
              <a:rPr lang="en-US" sz="1100" dirty="0">
                <a:solidFill>
                  <a:srgbClr val="1A1A1A"/>
                </a:solidFill>
                <a:latin typeface="Courier New" pitchFamily="34" charset="0"/>
                <a:ea typeface="Courier New" pitchFamily="34" charset="-122"/>
                <a:cs typeface="Courier New" pitchFamily="34" charset="-120"/>
              </a:rPr>
              <a:t>transcript_id PK</a:t>
            </a:r>
            <a:endParaRPr lang="en-US" sz="1100" dirty="0"/>
          </a:p>
        </p:txBody>
      </p:sp>
      <p:sp>
        <p:nvSpPr>
          <p:cNvPr id="38" name="Text 35"/>
          <p:cNvSpPr txBox="1"/>
          <p:nvPr/>
        </p:nvSpPr>
        <p:spPr>
          <a:xfrm>
            <a:off x="5029200" y="3721608"/>
            <a:ext cx="1645920" cy="228600"/>
          </a:xfrm>
          <a:prstGeom prst="rect">
            <a:avLst/>
          </a:prstGeom>
          <a:noFill/>
          <a:ln/>
        </p:spPr>
        <p:txBody>
          <a:bodyPr wrap="square" lIns="0" tIns="0" rIns="0" bIns="0" rtlCol="0" anchor="ctr"/>
          <a:lstStyle/>
          <a:p>
            <a:pPr indent="0" marL="0">
              <a:buNone/>
            </a:pPr>
            <a:r>
              <a:rPr lang="en-US" sz="1100" dirty="0">
                <a:solidFill>
                  <a:srgbClr val="1A1A1A"/>
                </a:solidFill>
                <a:latin typeface="Courier New" pitchFamily="34" charset="0"/>
                <a:ea typeface="Courier New" pitchFamily="34" charset="-122"/>
                <a:cs typeface="Courier New" pitchFamily="34" charset="-120"/>
              </a:rPr>
              <a:t>gene_id     FK</a:t>
            </a:r>
            <a:endParaRPr lang="en-US" sz="1100" dirty="0"/>
          </a:p>
        </p:txBody>
      </p:sp>
      <p:sp>
        <p:nvSpPr>
          <p:cNvPr id="39" name="Text 36"/>
          <p:cNvSpPr txBox="1"/>
          <p:nvPr/>
        </p:nvSpPr>
        <p:spPr>
          <a:xfrm>
            <a:off x="5029200" y="3968496"/>
            <a:ext cx="1645920" cy="228600"/>
          </a:xfrm>
          <a:prstGeom prst="rect">
            <a:avLst/>
          </a:prstGeom>
          <a:noFill/>
          <a:ln/>
        </p:spPr>
        <p:txBody>
          <a:bodyPr wrap="square" lIns="0" tIns="0" rIns="0" bIns="0" rtlCol="0" anchor="ctr"/>
          <a:lstStyle/>
          <a:p>
            <a:pPr indent="0" marL="0">
              <a:buNone/>
            </a:pPr>
            <a:r>
              <a:rPr lang="en-US" sz="1100" dirty="0">
                <a:solidFill>
                  <a:srgbClr val="1A1A1A"/>
                </a:solidFill>
                <a:latin typeface="Courier New" pitchFamily="34" charset="0"/>
                <a:ea typeface="Courier New" pitchFamily="34" charset="-122"/>
                <a:cs typeface="Courier New" pitchFamily="34" charset="-120"/>
              </a:rPr>
              <a:t>tx_start</a:t>
            </a:r>
            <a:endParaRPr lang="en-US" sz="1100" dirty="0"/>
          </a:p>
        </p:txBody>
      </p:sp>
      <p:sp>
        <p:nvSpPr>
          <p:cNvPr id="40" name="Text 37"/>
          <p:cNvSpPr txBox="1"/>
          <p:nvPr/>
        </p:nvSpPr>
        <p:spPr>
          <a:xfrm>
            <a:off x="5029200" y="4215384"/>
            <a:ext cx="1645920" cy="228600"/>
          </a:xfrm>
          <a:prstGeom prst="rect">
            <a:avLst/>
          </a:prstGeom>
          <a:noFill/>
          <a:ln/>
        </p:spPr>
        <p:txBody>
          <a:bodyPr wrap="square" lIns="0" tIns="0" rIns="0" bIns="0" rtlCol="0" anchor="ctr"/>
          <a:lstStyle/>
          <a:p>
            <a:pPr indent="0" marL="0">
              <a:buNone/>
            </a:pPr>
            <a:r>
              <a:rPr lang="en-US" sz="1100" dirty="0">
                <a:solidFill>
                  <a:srgbClr val="1A1A1A"/>
                </a:solidFill>
                <a:latin typeface="Courier New" pitchFamily="34" charset="0"/>
                <a:ea typeface="Courier New" pitchFamily="34" charset="-122"/>
                <a:cs typeface="Courier New" pitchFamily="34" charset="-120"/>
              </a:rPr>
              <a:t>tx_end</a:t>
            </a:r>
            <a:endParaRPr lang="en-US" sz="1100" dirty="0"/>
          </a:p>
        </p:txBody>
      </p:sp>
      <p:sp>
        <p:nvSpPr>
          <p:cNvPr id="41" name="Text 38"/>
          <p:cNvSpPr txBox="1"/>
          <p:nvPr/>
        </p:nvSpPr>
        <p:spPr>
          <a:xfrm>
            <a:off x="5029200" y="4462272"/>
            <a:ext cx="1645920" cy="228600"/>
          </a:xfrm>
          <a:prstGeom prst="rect">
            <a:avLst/>
          </a:prstGeom>
          <a:noFill/>
          <a:ln/>
        </p:spPr>
        <p:txBody>
          <a:bodyPr wrap="square" lIns="0" tIns="0" rIns="0" bIns="0" rtlCol="0" anchor="ctr"/>
          <a:lstStyle/>
          <a:p>
            <a:pPr indent="0" marL="0">
              <a:buNone/>
            </a:pPr>
            <a:r>
              <a:rPr lang="en-US" sz="1100" dirty="0">
                <a:solidFill>
                  <a:srgbClr val="1A1A1A"/>
                </a:solidFill>
                <a:latin typeface="Courier New" pitchFamily="34" charset="0"/>
                <a:ea typeface="Courier New" pitchFamily="34" charset="-122"/>
                <a:cs typeface="Courier New" pitchFamily="34" charset="-120"/>
              </a:rPr>
              <a:t>mane_status</a:t>
            </a:r>
            <a:endParaRPr lang="en-US" sz="1100" dirty="0"/>
          </a:p>
        </p:txBody>
      </p:sp>
      <p:sp>
        <p:nvSpPr>
          <p:cNvPr id="42" name="Shape 39"/>
          <p:cNvSpPr/>
          <p:nvPr/>
        </p:nvSpPr>
        <p:spPr>
          <a:xfrm flipH="1">
            <a:off x="2103120" y="1600200"/>
            <a:ext cx="548640" cy="0"/>
          </a:xfrm>
          <a:prstGeom prst="line">
            <a:avLst/>
          </a:prstGeom>
          <a:noFill/>
          <a:ln w="31750">
            <a:solidFill>
              <a:srgbClr val="F2A541"/>
            </a:solidFill>
            <a:prstDash val="solid"/>
            <a:tailEnd type="triangle"/>
          </a:ln>
        </p:spPr>
      </p:sp>
      <p:sp>
        <p:nvSpPr>
          <p:cNvPr id="43" name="Shape 40"/>
          <p:cNvSpPr/>
          <p:nvPr/>
        </p:nvSpPr>
        <p:spPr>
          <a:xfrm flipH="1">
            <a:off x="4389120" y="1600200"/>
            <a:ext cx="548640" cy="0"/>
          </a:xfrm>
          <a:prstGeom prst="line">
            <a:avLst/>
          </a:prstGeom>
          <a:noFill/>
          <a:ln w="31750">
            <a:solidFill>
              <a:srgbClr val="F2A541"/>
            </a:solidFill>
            <a:prstDash val="solid"/>
            <a:tailEnd type="triangle"/>
          </a:ln>
        </p:spPr>
      </p:sp>
      <p:sp>
        <p:nvSpPr>
          <p:cNvPr id="44" name="Shape 41"/>
          <p:cNvSpPr/>
          <p:nvPr/>
        </p:nvSpPr>
        <p:spPr>
          <a:xfrm flipH="1">
            <a:off x="4389120" y="3657600"/>
            <a:ext cx="548640" cy="0"/>
          </a:xfrm>
          <a:prstGeom prst="line">
            <a:avLst/>
          </a:prstGeom>
          <a:noFill/>
          <a:ln w="31750">
            <a:solidFill>
              <a:srgbClr val="F2A541"/>
            </a:solidFill>
            <a:prstDash val="solid"/>
            <a:tailEnd type="triangle"/>
          </a:ln>
        </p:spPr>
      </p:sp>
      <p:sp>
        <p:nvSpPr>
          <p:cNvPr id="45" name="Shape 42"/>
          <p:cNvSpPr/>
          <p:nvPr/>
        </p:nvSpPr>
        <p:spPr>
          <a:xfrm>
            <a:off x="4389120" y="2651760"/>
            <a:ext cx="548640" cy="457200"/>
          </a:xfrm>
          <a:prstGeom prst="line">
            <a:avLst/>
          </a:prstGeom>
          <a:noFill/>
          <a:ln w="25400">
            <a:solidFill>
              <a:srgbClr val="B23A48"/>
            </a:solidFill>
            <a:prstDash val="dash"/>
          </a:ln>
        </p:spPr>
      </p:sp>
      <p:sp>
        <p:nvSpPr>
          <p:cNvPr id="46" name="Text 43"/>
          <p:cNvSpPr txBox="1"/>
          <p:nvPr/>
        </p:nvSpPr>
        <p:spPr>
          <a:xfrm>
            <a:off x="2651760" y="2697480"/>
            <a:ext cx="1828800" cy="274320"/>
          </a:xfrm>
          <a:prstGeom prst="rect">
            <a:avLst/>
          </a:prstGeom>
          <a:noFill/>
          <a:ln/>
        </p:spPr>
        <p:txBody>
          <a:bodyPr wrap="square" lIns="0" tIns="0" rIns="0" bIns="0" rtlCol="0" anchor="ctr"/>
          <a:lstStyle/>
          <a:p>
            <a:pPr algn="r" indent="0" marL="0">
              <a:buNone/>
            </a:pPr>
            <a:r>
              <a:rPr lang="en-US" sz="1100" i="1" dirty="0">
                <a:solidFill>
                  <a:srgbClr val="B23A48"/>
                </a:solidFill>
              </a:rPr>
              <a:t>text match only, no FK</a:t>
            </a:r>
            <a:endParaRPr lang="en-US" sz="1100" dirty="0"/>
          </a:p>
        </p:txBody>
      </p:sp>
      <p:sp>
        <p:nvSpPr>
          <p:cNvPr id="47" name="Text 44"/>
          <p:cNvSpPr txBox="1"/>
          <p:nvPr/>
        </p:nvSpPr>
        <p:spPr>
          <a:xfrm>
            <a:off x="7132320" y="1188720"/>
            <a:ext cx="1737360" cy="1828800"/>
          </a:xfrm>
          <a:prstGeom prst="rect">
            <a:avLst/>
          </a:prstGeom>
          <a:noFill/>
          <a:ln/>
        </p:spPr>
        <p:txBody>
          <a:bodyPr wrap="square" lIns="0" tIns="0" rIns="0" bIns="0" rtlCol="0" anchor="t"/>
          <a:lstStyle/>
          <a:p>
            <a:pPr indent="0" marL="0">
              <a:buNone/>
            </a:pPr>
            <a:r>
              <a:rPr lang="en-US" sz="1300" b="1" dirty="0">
                <a:solidFill>
                  <a:srgbClr val="0B3D59"/>
                </a:solidFill>
              </a:rPr>
              <a:t>PK</a:t>
            </a:r>
            <a:pPr indent="0" marL="0">
              <a:buNone/>
            </a:pPr>
            <a:r>
              <a:rPr lang="en-US" sz="1300" dirty="0">
                <a:solidFill>
                  <a:srgbClr val="1A1A1A"/>
                </a:solidFill>
              </a:rPr>
              <a:t> primary key: uniquely names a row</a:t>
            </a:r>
            <a:endParaRPr lang="en-US" sz="1300" dirty="0"/>
          </a:p>
          <a:p>
            <a:pPr indent="0" marL="0">
              <a:buNone/>
            </a:pPr>
            <a:r>
              <a:rPr lang="en-US" sz="1300" b="1" dirty="0">
                <a:solidFill>
                  <a:srgbClr val="0B3D59"/>
                </a:solidFill>
              </a:rPr>
              <a:t>FK</a:t>
            </a:r>
            <a:pPr indent="0" marL="0">
              <a:buNone/>
            </a:pPr>
            <a:r>
              <a:rPr lang="en-US" sz="1300" dirty="0">
                <a:solidFill>
                  <a:srgbClr val="1A1A1A"/>
                </a:solidFill>
              </a:rPr>
              <a:t> foreign key: holds another table's PK</a:t>
            </a:r>
            <a:endParaRPr lang="en-US" sz="1300" dirty="0"/>
          </a:p>
          <a:p>
            <a:pPr indent="0" marL="0">
              <a:buNone/>
            </a:pPr>
            <a:r>
              <a:rPr lang="en-US" sz="1300" dirty="0">
                <a:solidFill>
                  <a:srgbClr val="5A6B75"/>
                </a:solidFill>
              </a:rPr>
              <a:t>Arrows: FK points to the row it references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9"/>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0B3D59"/>
                </a:solidFill>
                <a:latin typeface="Cambria" pitchFamily="34" charset="0"/>
                <a:ea typeface="Cambria" pitchFamily="34" charset="-122"/>
                <a:cs typeface="Cambria" pitchFamily="34" charset="-120"/>
              </a:rPr>
              <a:t>SQL: say what you want, not how</a:t>
            </a:r>
            <a:endParaRPr lang="en-US" sz="3000" dirty="0"/>
          </a:p>
        </p:txBody>
      </p:sp>
      <p:sp>
        <p:nvSpPr>
          <p:cNvPr id="3" name="Text 1"/>
          <p:cNvSpPr txBox="1"/>
          <p:nvPr/>
        </p:nvSpPr>
        <p:spPr>
          <a:xfrm>
            <a:off x="8412480" y="4754880"/>
            <a:ext cx="365760" cy="228600"/>
          </a:xfrm>
          <a:prstGeom prst="rect">
            <a:avLst/>
          </a:prstGeom>
          <a:noFill/>
          <a:ln/>
        </p:spPr>
        <p:txBody>
          <a:bodyPr wrap="square" lIns="0" tIns="0" rIns="0" bIns="0" rtlCol="0" anchor="ctr"/>
          <a:lstStyle/>
          <a:p>
            <a:pPr algn="r" indent="0" marL="0">
              <a:buNone/>
            </a:pPr>
            <a:r>
              <a:rPr lang="en-US" sz="1000" dirty="0">
                <a:solidFill>
                  <a:srgbClr val="5A6B75"/>
                </a:solidFill>
              </a:rPr>
              <a:t>5</a:t>
            </a:r>
            <a:endParaRPr lang="en-US" sz="1000" dirty="0"/>
          </a:p>
        </p:txBody>
      </p:sp>
      <p:sp>
        <p:nvSpPr>
          <p:cNvPr id="5" name="Shape 2"/>
          <p:cNvSpPr/>
          <p:nvPr/>
        </p:nvSpPr>
        <p:spPr>
          <a:xfrm>
            <a:off x="457200" y="1097280"/>
            <a:ext cx="4937760" cy="1737360"/>
          </a:xfrm>
          <a:prstGeom prst="roundRect">
            <a:avLst>
              <a:gd name="adj" fmla="val 4211"/>
            </a:avLst>
          </a:prstGeom>
          <a:solidFill>
            <a:srgbClr val="082C40"/>
          </a:solidFill>
          <a:ln w="12700">
            <a:solidFill>
              <a:srgbClr val="082C40"/>
            </a:solidFill>
            <a:prstDash val="solid"/>
          </a:ln>
        </p:spPr>
      </p:sp>
      <p:sp>
        <p:nvSpPr>
          <p:cNvPr id="6" name="Text 3"/>
          <p:cNvSpPr txBox="1"/>
          <p:nvPr/>
        </p:nvSpPr>
        <p:spPr>
          <a:xfrm>
            <a:off x="594360" y="1170432"/>
            <a:ext cx="4663440" cy="1591056"/>
          </a:xfrm>
          <a:prstGeom prst="rect">
            <a:avLst/>
          </a:prstGeom>
          <a:noFill/>
          <a:ln/>
        </p:spPr>
        <p:txBody>
          <a:bodyPr wrap="square" lIns="0" tIns="0" rIns="0" bIns="0" rtlCol="0" anchor="t"/>
          <a:lstStyle/>
          <a:p>
            <a:pPr indent="0" marL="0">
              <a:buNone/>
            </a:pPr>
            <a:r>
              <a:rPr lang="en-US" sz="1600" dirty="0">
                <a:solidFill>
                  <a:srgbClr val="E8EEF2"/>
                </a:solidFill>
                <a:latin typeface="Courier New" pitchFamily="34" charset="0"/>
                <a:ea typeface="Courier New" pitchFamily="34" charset="-122"/>
                <a:cs typeface="Courier New" pitchFamily="34" charset="-120"/>
              </a:rPr>
              <a:t>SELECT sample_id, tissue,</a:t>
            </a:r>
            <a:endParaRPr lang="en-US" sz="1600" dirty="0"/>
          </a:p>
          <a:p>
            <a:pPr indent="0" marL="0">
              <a:buNone/>
            </a:pPr>
            <a:r>
              <a:rPr lang="en-US" sz="1600" dirty="0">
                <a:solidFill>
                  <a:srgbClr val="E8EEF2"/>
                </a:solidFill>
                <a:latin typeface="Courier New" pitchFamily="34" charset="0"/>
                <a:ea typeface="Courier New" pitchFamily="34" charset="-122"/>
                <a:cs typeface="Courier New" pitchFamily="34" charset="-120"/>
              </a:rPr>
              <a:t>       collected</a:t>
            </a:r>
            <a:endParaRPr lang="en-US" sz="1600" dirty="0"/>
          </a:p>
          <a:p>
            <a:pPr indent="0" marL="0">
              <a:buNone/>
            </a:pPr>
            <a:r>
              <a:rPr lang="en-US" sz="1600" dirty="0">
                <a:solidFill>
                  <a:srgbClr val="E8EEF2"/>
                </a:solidFill>
                <a:latin typeface="Courier New" pitchFamily="34" charset="0"/>
                <a:ea typeface="Courier New" pitchFamily="34" charset="-122"/>
                <a:cs typeface="Courier New" pitchFamily="34" charset="-120"/>
              </a:rPr>
              <a:t>FROM samples</a:t>
            </a:r>
            <a:endParaRPr lang="en-US" sz="1600" dirty="0"/>
          </a:p>
          <a:p>
            <a:pPr indent="0" marL="0">
              <a:buNone/>
            </a:pPr>
            <a:r>
              <a:rPr lang="en-US" sz="1600" dirty="0">
                <a:solidFill>
                  <a:srgbClr val="E8EEF2"/>
                </a:solidFill>
                <a:latin typeface="Courier New" pitchFamily="34" charset="0"/>
                <a:ea typeface="Courier New" pitchFamily="34" charset="-122"/>
                <a:cs typeface="Courier New" pitchFamily="34" charset="-120"/>
              </a:rPr>
              <a:t>WHERE tissue = 'tumor'</a:t>
            </a:r>
            <a:endParaRPr lang="en-US" sz="1600" dirty="0"/>
          </a:p>
          <a:p>
            <a:pPr indent="0" marL="0">
              <a:buNone/>
            </a:pPr>
            <a:r>
              <a:rPr lang="en-US" sz="1600" dirty="0">
                <a:solidFill>
                  <a:srgbClr val="E8EEF2"/>
                </a:solidFill>
                <a:latin typeface="Courier New" pitchFamily="34" charset="0"/>
                <a:ea typeface="Courier New" pitchFamily="34" charset="-122"/>
                <a:cs typeface="Courier New" pitchFamily="34" charset="-120"/>
              </a:rPr>
              <a:t>ORDER BY collected;</a:t>
            </a:r>
            <a:endParaRPr lang="en-US" sz="1600" dirty="0"/>
          </a:p>
        </p:txBody>
      </p:sp>
      <p:sp>
        <p:nvSpPr>
          <p:cNvPr id="7" name="Text 4"/>
          <p:cNvSpPr txBox="1"/>
          <p:nvPr/>
        </p:nvSpPr>
        <p:spPr>
          <a:xfrm>
            <a:off x="5669280" y="1097280"/>
            <a:ext cx="3108960" cy="347472"/>
          </a:xfrm>
          <a:prstGeom prst="rect">
            <a:avLst/>
          </a:prstGeom>
          <a:noFill/>
          <a:ln/>
        </p:spPr>
        <p:txBody>
          <a:bodyPr wrap="square" lIns="0" tIns="0" rIns="0" bIns="0" rtlCol="0" anchor="ctr"/>
          <a:lstStyle/>
          <a:p>
            <a:pPr indent="0" marL="0">
              <a:buNone/>
            </a:pPr>
            <a:r>
              <a:rPr lang="en-US" sz="1400" b="1" dirty="0">
                <a:solidFill>
                  <a:srgbClr val="1C7293"/>
                </a:solidFill>
                <a:latin typeface="Courier New" pitchFamily="34" charset="0"/>
                <a:ea typeface="Courier New" pitchFamily="34" charset="-122"/>
                <a:cs typeface="Courier New" pitchFamily="34" charset="-120"/>
              </a:rPr>
              <a:t>FROM  </a:t>
            </a:r>
            <a:pPr indent="0" marL="0">
              <a:buNone/>
            </a:pPr>
            <a:r>
              <a:rPr lang="en-US" sz="1400" dirty="0">
                <a:solidFill>
                  <a:srgbClr val="1A1A1A"/>
                </a:solidFill>
              </a:rPr>
              <a:t>which table(s) to start from</a:t>
            </a:r>
            <a:endParaRPr lang="en-US" sz="1400" dirty="0"/>
          </a:p>
        </p:txBody>
      </p:sp>
      <p:sp>
        <p:nvSpPr>
          <p:cNvPr id="8" name="Text 5"/>
          <p:cNvSpPr txBox="1"/>
          <p:nvPr/>
        </p:nvSpPr>
        <p:spPr>
          <a:xfrm>
            <a:off x="5669280" y="1481328"/>
            <a:ext cx="3108960" cy="347472"/>
          </a:xfrm>
          <a:prstGeom prst="rect">
            <a:avLst/>
          </a:prstGeom>
          <a:noFill/>
          <a:ln/>
        </p:spPr>
        <p:txBody>
          <a:bodyPr wrap="square" lIns="0" tIns="0" rIns="0" bIns="0" rtlCol="0" anchor="ctr"/>
          <a:lstStyle/>
          <a:p>
            <a:pPr indent="0" marL="0">
              <a:buNone/>
            </a:pPr>
            <a:r>
              <a:rPr lang="en-US" sz="1400" b="1" dirty="0">
                <a:solidFill>
                  <a:srgbClr val="1C7293"/>
                </a:solidFill>
                <a:latin typeface="Courier New" pitchFamily="34" charset="0"/>
                <a:ea typeface="Courier New" pitchFamily="34" charset="-122"/>
                <a:cs typeface="Courier New" pitchFamily="34" charset="-120"/>
              </a:rPr>
              <a:t>WHERE  </a:t>
            </a:r>
            <a:pPr indent="0" marL="0">
              <a:buNone/>
            </a:pPr>
            <a:r>
              <a:rPr lang="en-US" sz="1400" dirty="0">
                <a:solidFill>
                  <a:srgbClr val="1A1A1A"/>
                </a:solidFill>
              </a:rPr>
              <a:t>which rows to keep</a:t>
            </a:r>
            <a:endParaRPr lang="en-US" sz="1400" dirty="0"/>
          </a:p>
        </p:txBody>
      </p:sp>
      <p:sp>
        <p:nvSpPr>
          <p:cNvPr id="9" name="Text 6"/>
          <p:cNvSpPr txBox="1"/>
          <p:nvPr/>
        </p:nvSpPr>
        <p:spPr>
          <a:xfrm>
            <a:off x="5669280" y="1865376"/>
            <a:ext cx="3108960" cy="347472"/>
          </a:xfrm>
          <a:prstGeom prst="rect">
            <a:avLst/>
          </a:prstGeom>
          <a:noFill/>
          <a:ln/>
        </p:spPr>
        <p:txBody>
          <a:bodyPr wrap="square" lIns="0" tIns="0" rIns="0" bIns="0" rtlCol="0" anchor="ctr"/>
          <a:lstStyle/>
          <a:p>
            <a:pPr indent="0" marL="0">
              <a:buNone/>
            </a:pPr>
            <a:r>
              <a:rPr lang="en-US" sz="1400" b="1" dirty="0">
                <a:solidFill>
                  <a:srgbClr val="1C7293"/>
                </a:solidFill>
                <a:latin typeface="Courier New" pitchFamily="34" charset="0"/>
                <a:ea typeface="Courier New" pitchFamily="34" charset="-122"/>
                <a:cs typeface="Courier New" pitchFamily="34" charset="-120"/>
              </a:rPr>
              <a:t>GROUP BY  </a:t>
            </a:r>
            <a:pPr indent="0" marL="0">
              <a:buNone/>
            </a:pPr>
            <a:r>
              <a:rPr lang="en-US" sz="1400" dirty="0">
                <a:solidFill>
                  <a:srgbClr val="1A1A1A"/>
                </a:solidFill>
              </a:rPr>
              <a:t>collapse rows into groups</a:t>
            </a:r>
            <a:endParaRPr lang="en-US" sz="1400" dirty="0"/>
          </a:p>
        </p:txBody>
      </p:sp>
      <p:sp>
        <p:nvSpPr>
          <p:cNvPr id="10" name="Text 7"/>
          <p:cNvSpPr txBox="1"/>
          <p:nvPr/>
        </p:nvSpPr>
        <p:spPr>
          <a:xfrm>
            <a:off x="5669280" y="2249424"/>
            <a:ext cx="3108960" cy="347472"/>
          </a:xfrm>
          <a:prstGeom prst="rect">
            <a:avLst/>
          </a:prstGeom>
          <a:noFill/>
          <a:ln/>
        </p:spPr>
        <p:txBody>
          <a:bodyPr wrap="square" lIns="0" tIns="0" rIns="0" bIns="0" rtlCol="0" anchor="ctr"/>
          <a:lstStyle/>
          <a:p>
            <a:pPr indent="0" marL="0">
              <a:buNone/>
            </a:pPr>
            <a:r>
              <a:rPr lang="en-US" sz="1400" b="1" dirty="0">
                <a:solidFill>
                  <a:srgbClr val="1C7293"/>
                </a:solidFill>
                <a:latin typeface="Courier New" pitchFamily="34" charset="0"/>
                <a:ea typeface="Courier New" pitchFamily="34" charset="-122"/>
                <a:cs typeface="Courier New" pitchFamily="34" charset="-120"/>
              </a:rPr>
              <a:t>SELECT  </a:t>
            </a:r>
            <a:pPr indent="0" marL="0">
              <a:buNone/>
            </a:pPr>
            <a:r>
              <a:rPr lang="en-US" sz="1400" dirty="0">
                <a:solidFill>
                  <a:srgbClr val="1A1A1A"/>
                </a:solidFill>
              </a:rPr>
              <a:t>which columns come back</a:t>
            </a:r>
            <a:endParaRPr lang="en-US" sz="1400" dirty="0"/>
          </a:p>
        </p:txBody>
      </p:sp>
      <p:sp>
        <p:nvSpPr>
          <p:cNvPr id="11" name="Text 8"/>
          <p:cNvSpPr txBox="1"/>
          <p:nvPr/>
        </p:nvSpPr>
        <p:spPr>
          <a:xfrm>
            <a:off x="5669280" y="2633472"/>
            <a:ext cx="3108960" cy="347472"/>
          </a:xfrm>
          <a:prstGeom prst="rect">
            <a:avLst/>
          </a:prstGeom>
          <a:noFill/>
          <a:ln/>
        </p:spPr>
        <p:txBody>
          <a:bodyPr wrap="square" lIns="0" tIns="0" rIns="0" bIns="0" rtlCol="0" anchor="ctr"/>
          <a:lstStyle/>
          <a:p>
            <a:pPr indent="0" marL="0">
              <a:buNone/>
            </a:pPr>
            <a:r>
              <a:rPr lang="en-US" sz="1400" b="1" dirty="0">
                <a:solidFill>
                  <a:srgbClr val="1C7293"/>
                </a:solidFill>
                <a:latin typeface="Courier New" pitchFamily="34" charset="0"/>
                <a:ea typeface="Courier New" pitchFamily="34" charset="-122"/>
                <a:cs typeface="Courier New" pitchFamily="34" charset="-120"/>
              </a:rPr>
              <a:t>ORDER BY  </a:t>
            </a:r>
            <a:pPr indent="0" marL="0">
              <a:buNone/>
            </a:pPr>
            <a:r>
              <a:rPr lang="en-US" sz="1400" dirty="0">
                <a:solidFill>
                  <a:srgbClr val="1A1A1A"/>
                </a:solidFill>
              </a:rPr>
              <a:t>sort the result</a:t>
            </a:r>
            <a:endParaRPr lang="en-US" sz="1400" dirty="0"/>
          </a:p>
        </p:txBody>
      </p:sp>
      <p:sp>
        <p:nvSpPr>
          <p:cNvPr id="12" name="Shape 9"/>
          <p:cNvSpPr/>
          <p:nvPr/>
        </p:nvSpPr>
        <p:spPr>
          <a:xfrm>
            <a:off x="457200" y="3017520"/>
            <a:ext cx="8229600" cy="1554480"/>
          </a:xfrm>
          <a:prstGeom prst="roundRect">
            <a:avLst>
              <a:gd name="adj" fmla="val 4706"/>
            </a:avLst>
          </a:prstGeom>
          <a:solidFill>
            <a:srgbClr val="CADCFC"/>
          </a:solidFill>
          <a:ln w="12700">
            <a:solidFill>
              <a:srgbClr val="CADCFC"/>
            </a:solidFill>
            <a:prstDash val="solid"/>
          </a:ln>
        </p:spPr>
      </p:sp>
      <p:sp>
        <p:nvSpPr>
          <p:cNvPr id="13" name="Text 10"/>
          <p:cNvSpPr txBox="1"/>
          <p:nvPr/>
        </p:nvSpPr>
        <p:spPr>
          <a:xfrm>
            <a:off x="640080" y="3127248"/>
            <a:ext cx="7863840" cy="365760"/>
          </a:xfrm>
          <a:prstGeom prst="rect">
            <a:avLst/>
          </a:prstGeom>
          <a:noFill/>
          <a:ln/>
        </p:spPr>
        <p:txBody>
          <a:bodyPr wrap="square" lIns="0" tIns="0" rIns="0" bIns="0" rtlCol="0" anchor="ctr"/>
          <a:lstStyle/>
          <a:p>
            <a:pPr indent="0" marL="0">
              <a:buNone/>
            </a:pPr>
            <a:r>
              <a:rPr lang="en-US" sz="1800" b="1" dirty="0">
                <a:solidFill>
                  <a:srgbClr val="0B3D59"/>
                </a:solidFill>
                <a:latin typeface="Cambria" pitchFamily="34" charset="0"/>
                <a:ea typeface="Cambria" pitchFamily="34" charset="-122"/>
                <a:cs typeface="Cambria" pitchFamily="34" charset="-120"/>
              </a:rPr>
              <a:t>Live demo (iTerm2 + Jupyter)</a:t>
            </a:r>
            <a:endParaRPr lang="en-US" sz="1800" dirty="0"/>
          </a:p>
        </p:txBody>
      </p:sp>
      <p:sp>
        <p:nvSpPr>
          <p:cNvPr id="14" name="Text 11"/>
          <p:cNvSpPr txBox="1"/>
          <p:nvPr/>
        </p:nvSpPr>
        <p:spPr>
          <a:xfrm>
            <a:off x="640080" y="3520440"/>
            <a:ext cx="7863840" cy="960120"/>
          </a:xfrm>
          <a:prstGeom prst="rect">
            <a:avLst/>
          </a:prstGeom>
          <a:noFill/>
          <a:ln/>
        </p:spPr>
        <p:txBody>
          <a:bodyPr wrap="square" lIns="0" tIns="0" rIns="0" bIns="0" rtlCol="0" anchor="t"/>
          <a:lstStyle/>
          <a:p>
            <a:pPr indent="0" marL="0">
              <a:buNone/>
            </a:pPr>
            <a:r>
              <a:rPr lang="en-US" sz="1500" dirty="0">
                <a:solidFill>
                  <a:srgbClr val="1A1A1A"/>
                </a:solidFill>
                <a:latin typeface="Calibri" pitchFamily="34" charset="0"/>
                <a:ea typeface="Calibri" pitchFamily="34" charset="-122"/>
                <a:cs typeface="Calibri" pitchFamily="34" charset="-120"/>
              </a:rPr>
              <a:t>sqlite3 demo_cohort.db  →  .tables  ·  .schema samples  ·  SELECT / WHERE</a:t>
            </a:r>
            <a:endParaRPr lang="en-US" sz="1500" dirty="0"/>
          </a:p>
          <a:p>
            <a:pPr indent="0" marL="0">
              <a:buNone/>
            </a:pPr>
            <a:r>
              <a:rPr lang="en-US" sz="1500" dirty="0">
                <a:solidFill>
                  <a:srgbClr val="1A1A1A"/>
                </a:solidFill>
                <a:latin typeface="Calibri" pitchFamily="34" charset="0"/>
                <a:ea typeface="Calibri" pitchFamily="34" charset="-122"/>
                <a:cs typeface="Calibri" pitchFamily="34" charset="-120"/>
              </a:rPr>
              <a:t>Then the same query from Jupyter with pandas.read_sql, so you can see how SQL feeds the Python and R you already know.</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9"/>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0B3D59"/>
                </a:solidFill>
                <a:latin typeface="Cambria" pitchFamily="34" charset="0"/>
                <a:ea typeface="Cambria" pitchFamily="34" charset="-122"/>
                <a:cs typeface="Cambria" pitchFamily="34" charset="-120"/>
              </a:rPr>
              <a:t>JOIN: which rows survive?</a:t>
            </a:r>
            <a:endParaRPr lang="en-US" sz="3000" dirty="0"/>
          </a:p>
        </p:txBody>
      </p:sp>
      <p:sp>
        <p:nvSpPr>
          <p:cNvPr id="3" name="Text 1"/>
          <p:cNvSpPr txBox="1"/>
          <p:nvPr/>
        </p:nvSpPr>
        <p:spPr>
          <a:xfrm>
            <a:off x="8412480" y="4754880"/>
            <a:ext cx="365760" cy="228600"/>
          </a:xfrm>
          <a:prstGeom prst="rect">
            <a:avLst/>
          </a:prstGeom>
          <a:noFill/>
          <a:ln/>
        </p:spPr>
        <p:txBody>
          <a:bodyPr wrap="square" lIns="0" tIns="0" rIns="0" bIns="0" rtlCol="0" anchor="ctr"/>
          <a:lstStyle/>
          <a:p>
            <a:pPr algn="r" indent="0" marL="0">
              <a:buNone/>
            </a:pPr>
            <a:r>
              <a:rPr lang="en-US" sz="1000" dirty="0">
                <a:solidFill>
                  <a:srgbClr val="5A6B75"/>
                </a:solidFill>
              </a:rPr>
              <a:t>6</a:t>
            </a:r>
            <a:endParaRPr lang="en-US" sz="1000" dirty="0"/>
          </a:p>
        </p:txBody>
      </p:sp>
      <p:sp>
        <p:nvSpPr>
          <p:cNvPr id="5" name="Shape 2"/>
          <p:cNvSpPr/>
          <p:nvPr/>
        </p:nvSpPr>
        <p:spPr>
          <a:xfrm>
            <a:off x="457200" y="1097280"/>
            <a:ext cx="4023360" cy="2148840"/>
          </a:xfrm>
          <a:prstGeom prst="roundRect">
            <a:avLst>
              <a:gd name="adj" fmla="val 3404"/>
            </a:avLst>
          </a:prstGeom>
          <a:solidFill>
            <a:srgbClr val="E3E9EC"/>
          </a:solidFill>
          <a:ln w="12700">
            <a:solidFill>
              <a:srgbClr val="E3E9EC"/>
            </a:solidFill>
            <a:prstDash val="solid"/>
          </a:ln>
        </p:spPr>
      </p:sp>
      <p:sp>
        <p:nvSpPr>
          <p:cNvPr id="6" name="Text 3"/>
          <p:cNvSpPr txBox="1"/>
          <p:nvPr/>
        </p:nvSpPr>
        <p:spPr>
          <a:xfrm>
            <a:off x="640080" y="1207008"/>
            <a:ext cx="3657600" cy="365760"/>
          </a:xfrm>
          <a:prstGeom prst="rect">
            <a:avLst/>
          </a:prstGeom>
          <a:noFill/>
          <a:ln/>
        </p:spPr>
        <p:txBody>
          <a:bodyPr wrap="square" lIns="0" tIns="0" rIns="0" bIns="0" rtlCol="0" anchor="ctr"/>
          <a:lstStyle/>
          <a:p>
            <a:pPr indent="0" marL="0">
              <a:buNone/>
            </a:pPr>
            <a:r>
              <a:rPr lang="en-US" sz="1800" b="1" dirty="0">
                <a:solidFill>
                  <a:srgbClr val="0B3D59"/>
                </a:solidFill>
                <a:latin typeface="Cambria" pitchFamily="34" charset="0"/>
                <a:ea typeface="Cambria" pitchFamily="34" charset="-122"/>
                <a:cs typeface="Cambria" pitchFamily="34" charset="-120"/>
              </a:rPr>
              <a:t>INNER JOIN</a:t>
            </a:r>
            <a:endParaRPr lang="en-US" sz="1800" dirty="0"/>
          </a:p>
        </p:txBody>
      </p:sp>
      <p:sp>
        <p:nvSpPr>
          <p:cNvPr id="7" name="Text 4"/>
          <p:cNvSpPr txBox="1"/>
          <p:nvPr/>
        </p:nvSpPr>
        <p:spPr>
          <a:xfrm>
            <a:off x="640080" y="1600200"/>
            <a:ext cx="3657600" cy="1554480"/>
          </a:xfrm>
          <a:prstGeom prst="rect">
            <a:avLst/>
          </a:prstGeom>
          <a:noFill/>
          <a:ln/>
        </p:spPr>
        <p:txBody>
          <a:bodyPr wrap="square" lIns="0" tIns="0" rIns="0" bIns="0" rtlCol="0" anchor="t"/>
          <a:lstStyle/>
          <a:p>
            <a:pPr indent="0" marL="0">
              <a:buNone/>
            </a:pPr>
            <a:r>
              <a:rPr lang="en-US" sz="1500" dirty="0">
                <a:solidFill>
                  <a:srgbClr val="1A1A1A"/>
                </a:solidFill>
                <a:latin typeface="Calibri" pitchFamily="34" charset="0"/>
                <a:ea typeface="Calibri" pitchFamily="34" charset="-122"/>
                <a:cs typeface="Calibri" pitchFamily="34" charset="-120"/>
              </a:rPr>
              <a:t>Only rows with a match on both sides.</a:t>
            </a:r>
            <a:endParaRPr lang="en-US" sz="1500" dirty="0"/>
          </a:p>
        </p:txBody>
      </p:sp>
      <p:sp>
        <p:nvSpPr>
          <p:cNvPr id="8" name="Shape 5"/>
          <p:cNvSpPr/>
          <p:nvPr/>
        </p:nvSpPr>
        <p:spPr>
          <a:xfrm>
            <a:off x="640080" y="1965960"/>
            <a:ext cx="3657600" cy="1005840"/>
          </a:xfrm>
          <a:prstGeom prst="roundRect">
            <a:avLst>
              <a:gd name="adj" fmla="val 7273"/>
            </a:avLst>
          </a:prstGeom>
          <a:solidFill>
            <a:srgbClr val="082C40"/>
          </a:solidFill>
          <a:ln w="12700">
            <a:solidFill>
              <a:srgbClr val="082C40"/>
            </a:solidFill>
            <a:prstDash val="solid"/>
          </a:ln>
        </p:spPr>
      </p:sp>
      <p:sp>
        <p:nvSpPr>
          <p:cNvPr id="9" name="Text 6"/>
          <p:cNvSpPr txBox="1"/>
          <p:nvPr/>
        </p:nvSpPr>
        <p:spPr>
          <a:xfrm>
            <a:off x="777240" y="2039112"/>
            <a:ext cx="3383280" cy="859536"/>
          </a:xfrm>
          <a:prstGeom prst="rect">
            <a:avLst/>
          </a:prstGeom>
          <a:noFill/>
          <a:ln/>
        </p:spPr>
        <p:txBody>
          <a:bodyPr wrap="square" lIns="0" tIns="0" rIns="0" bIns="0" rtlCol="0" anchor="t"/>
          <a:lstStyle/>
          <a:p>
            <a:pPr indent="0" marL="0">
              <a:buNone/>
            </a:pPr>
            <a:r>
              <a:rPr lang="en-US" sz="1300" dirty="0">
                <a:solidFill>
                  <a:srgbClr val="E8EEF2"/>
                </a:solidFill>
                <a:latin typeface="Courier New" pitchFamily="34" charset="0"/>
                <a:ea typeface="Courier New" pitchFamily="34" charset="-122"/>
                <a:cs typeface="Courier New" pitchFamily="34" charset="-120"/>
              </a:rPr>
              <a:t>FROM subjects s</a:t>
            </a:r>
            <a:endParaRPr lang="en-US" sz="1300" dirty="0"/>
          </a:p>
          <a:p>
            <a:pPr indent="0" marL="0">
              <a:buNone/>
            </a:pPr>
            <a:r>
              <a:rPr lang="en-US" sz="1300" dirty="0">
                <a:solidFill>
                  <a:srgbClr val="E8EEF2"/>
                </a:solidFill>
                <a:latin typeface="Courier New" pitchFamily="34" charset="0"/>
                <a:ea typeface="Courier New" pitchFamily="34" charset="-122"/>
                <a:cs typeface="Courier New" pitchFamily="34" charset="-120"/>
              </a:rPr>
              <a:t>JOIN samples sa</a:t>
            </a:r>
            <a:endParaRPr lang="en-US" sz="1300" dirty="0"/>
          </a:p>
          <a:p>
            <a:pPr indent="0" marL="0">
              <a:buNone/>
            </a:pPr>
            <a:r>
              <a:rPr lang="en-US" sz="1300" dirty="0">
                <a:solidFill>
                  <a:srgbClr val="E8EEF2"/>
                </a:solidFill>
                <a:latin typeface="Courier New" pitchFamily="34" charset="0"/>
                <a:ea typeface="Courier New" pitchFamily="34" charset="-122"/>
                <a:cs typeface="Courier New" pitchFamily="34" charset="-120"/>
              </a:rPr>
              <a:t>  ON sa.subject_id = s.subject_id</a:t>
            </a:r>
            <a:endParaRPr lang="en-US" sz="1300" dirty="0"/>
          </a:p>
        </p:txBody>
      </p:sp>
      <p:sp>
        <p:nvSpPr>
          <p:cNvPr id="10" name="Shape 7"/>
          <p:cNvSpPr/>
          <p:nvPr/>
        </p:nvSpPr>
        <p:spPr>
          <a:xfrm>
            <a:off x="4663440" y="1097280"/>
            <a:ext cx="4023360" cy="2148840"/>
          </a:xfrm>
          <a:prstGeom prst="roundRect">
            <a:avLst>
              <a:gd name="adj" fmla="val 3404"/>
            </a:avLst>
          </a:prstGeom>
          <a:solidFill>
            <a:srgbClr val="E3E9EC"/>
          </a:solidFill>
          <a:ln w="12700">
            <a:solidFill>
              <a:srgbClr val="E3E9EC"/>
            </a:solidFill>
            <a:prstDash val="solid"/>
          </a:ln>
        </p:spPr>
      </p:sp>
      <p:sp>
        <p:nvSpPr>
          <p:cNvPr id="11" name="Text 8"/>
          <p:cNvSpPr txBox="1"/>
          <p:nvPr/>
        </p:nvSpPr>
        <p:spPr>
          <a:xfrm>
            <a:off x="4846320" y="1207008"/>
            <a:ext cx="3657600" cy="365760"/>
          </a:xfrm>
          <a:prstGeom prst="rect">
            <a:avLst/>
          </a:prstGeom>
          <a:noFill/>
          <a:ln/>
        </p:spPr>
        <p:txBody>
          <a:bodyPr wrap="square" lIns="0" tIns="0" rIns="0" bIns="0" rtlCol="0" anchor="ctr"/>
          <a:lstStyle/>
          <a:p>
            <a:pPr indent="0" marL="0">
              <a:buNone/>
            </a:pPr>
            <a:r>
              <a:rPr lang="en-US" sz="1800" b="1" dirty="0">
                <a:solidFill>
                  <a:srgbClr val="0B3D59"/>
                </a:solidFill>
                <a:latin typeface="Cambria" pitchFamily="34" charset="0"/>
                <a:ea typeface="Cambria" pitchFamily="34" charset="-122"/>
                <a:cs typeface="Cambria" pitchFamily="34" charset="-120"/>
              </a:rPr>
              <a:t>LEFT JOIN</a:t>
            </a:r>
            <a:endParaRPr lang="en-US" sz="1800" dirty="0"/>
          </a:p>
        </p:txBody>
      </p:sp>
      <p:sp>
        <p:nvSpPr>
          <p:cNvPr id="12" name="Text 9"/>
          <p:cNvSpPr txBox="1"/>
          <p:nvPr/>
        </p:nvSpPr>
        <p:spPr>
          <a:xfrm>
            <a:off x="4846320" y="1600200"/>
            <a:ext cx="3657600" cy="1554480"/>
          </a:xfrm>
          <a:prstGeom prst="rect">
            <a:avLst/>
          </a:prstGeom>
          <a:noFill/>
          <a:ln/>
        </p:spPr>
        <p:txBody>
          <a:bodyPr wrap="square" lIns="0" tIns="0" rIns="0" bIns="0" rtlCol="0" anchor="t"/>
          <a:lstStyle/>
          <a:p>
            <a:pPr indent="0" marL="0">
              <a:buNone/>
            </a:pPr>
            <a:r>
              <a:rPr lang="en-US" sz="1500" dirty="0">
                <a:solidFill>
                  <a:srgbClr val="1A1A1A"/>
                </a:solidFill>
                <a:latin typeface="Calibri" pitchFamily="34" charset="0"/>
                <a:ea typeface="Calibri" pitchFamily="34" charset="-122"/>
                <a:cs typeface="Calibri" pitchFamily="34" charset="-120"/>
              </a:rPr>
              <a:t>All left rows, plus matches (else NULL).</a:t>
            </a:r>
            <a:endParaRPr lang="en-US" sz="1500" dirty="0"/>
          </a:p>
        </p:txBody>
      </p:sp>
      <p:sp>
        <p:nvSpPr>
          <p:cNvPr id="13" name="Shape 10"/>
          <p:cNvSpPr/>
          <p:nvPr/>
        </p:nvSpPr>
        <p:spPr>
          <a:xfrm>
            <a:off x="4846320" y="1965960"/>
            <a:ext cx="3657600" cy="1005840"/>
          </a:xfrm>
          <a:prstGeom prst="roundRect">
            <a:avLst>
              <a:gd name="adj" fmla="val 7273"/>
            </a:avLst>
          </a:prstGeom>
          <a:solidFill>
            <a:srgbClr val="082C40"/>
          </a:solidFill>
          <a:ln w="12700">
            <a:solidFill>
              <a:srgbClr val="082C40"/>
            </a:solidFill>
            <a:prstDash val="solid"/>
          </a:ln>
        </p:spPr>
      </p:sp>
      <p:sp>
        <p:nvSpPr>
          <p:cNvPr id="14" name="Text 11"/>
          <p:cNvSpPr txBox="1"/>
          <p:nvPr/>
        </p:nvSpPr>
        <p:spPr>
          <a:xfrm>
            <a:off x="4983480" y="2039112"/>
            <a:ext cx="3383280" cy="859536"/>
          </a:xfrm>
          <a:prstGeom prst="rect">
            <a:avLst/>
          </a:prstGeom>
          <a:noFill/>
          <a:ln/>
        </p:spPr>
        <p:txBody>
          <a:bodyPr wrap="square" lIns="0" tIns="0" rIns="0" bIns="0" rtlCol="0" anchor="t"/>
          <a:lstStyle/>
          <a:p>
            <a:pPr indent="0" marL="0">
              <a:buNone/>
            </a:pPr>
            <a:r>
              <a:rPr lang="en-US" sz="1300" dirty="0">
                <a:solidFill>
                  <a:srgbClr val="E8EEF2"/>
                </a:solidFill>
                <a:latin typeface="Courier New" pitchFamily="34" charset="0"/>
                <a:ea typeface="Courier New" pitchFamily="34" charset="-122"/>
                <a:cs typeface="Courier New" pitchFamily="34" charset="-120"/>
              </a:rPr>
              <a:t>FROM subjects s</a:t>
            </a:r>
            <a:endParaRPr lang="en-US" sz="1300" dirty="0"/>
          </a:p>
          <a:p>
            <a:pPr indent="0" marL="0">
              <a:buNone/>
            </a:pPr>
            <a:r>
              <a:rPr lang="en-US" sz="1300" dirty="0">
                <a:solidFill>
                  <a:srgbClr val="E8EEF2"/>
                </a:solidFill>
                <a:latin typeface="Courier New" pitchFamily="34" charset="0"/>
                <a:ea typeface="Courier New" pitchFamily="34" charset="-122"/>
                <a:cs typeface="Courier New" pitchFamily="34" charset="-120"/>
              </a:rPr>
              <a:t>LEFT JOIN samples sa</a:t>
            </a:r>
            <a:endParaRPr lang="en-US" sz="1300" dirty="0"/>
          </a:p>
          <a:p>
            <a:pPr indent="0" marL="0">
              <a:buNone/>
            </a:pPr>
            <a:r>
              <a:rPr lang="en-US" sz="1300" dirty="0">
                <a:solidFill>
                  <a:srgbClr val="E8EEF2"/>
                </a:solidFill>
                <a:latin typeface="Courier New" pitchFamily="34" charset="0"/>
                <a:ea typeface="Courier New" pitchFamily="34" charset="-122"/>
                <a:cs typeface="Courier New" pitchFamily="34" charset="-120"/>
              </a:rPr>
              <a:t>  ON sa.subject_id = s.subject_id</a:t>
            </a:r>
            <a:endParaRPr lang="en-US" sz="1300" dirty="0"/>
          </a:p>
        </p:txBody>
      </p:sp>
      <p:sp>
        <p:nvSpPr>
          <p:cNvPr id="15" name="Text 12"/>
          <p:cNvSpPr txBox="1"/>
          <p:nvPr/>
        </p:nvSpPr>
        <p:spPr>
          <a:xfrm>
            <a:off x="731520" y="3429000"/>
            <a:ext cx="1097280" cy="914400"/>
          </a:xfrm>
          <a:prstGeom prst="rect">
            <a:avLst/>
          </a:prstGeom>
          <a:noFill/>
          <a:ln/>
        </p:spPr>
        <p:txBody>
          <a:bodyPr wrap="square" lIns="0" tIns="0" rIns="0" bIns="0" rtlCol="0" anchor="ctr"/>
          <a:lstStyle/>
          <a:p>
            <a:pPr indent="0" marL="0">
              <a:buNone/>
            </a:pPr>
            <a:r>
              <a:rPr lang="en-US" sz="5400" b="1" dirty="0">
                <a:solidFill>
                  <a:srgbClr val="B23A48"/>
                </a:solidFill>
                <a:latin typeface="Cambria" pitchFamily="34" charset="0"/>
                <a:ea typeface="Cambria" pitchFamily="34" charset="-122"/>
                <a:cs typeface="Cambria" pitchFamily="34" charset="-120"/>
              </a:rPr>
              <a:t>7</a:t>
            </a:r>
            <a:endParaRPr lang="en-US" sz="5400" dirty="0"/>
          </a:p>
        </p:txBody>
      </p:sp>
      <p:sp>
        <p:nvSpPr>
          <p:cNvPr id="16" name="Text 13"/>
          <p:cNvSpPr txBox="1"/>
          <p:nvPr/>
        </p:nvSpPr>
        <p:spPr>
          <a:xfrm>
            <a:off x="1828800" y="3429000"/>
            <a:ext cx="2651760" cy="914400"/>
          </a:xfrm>
          <a:prstGeom prst="rect">
            <a:avLst/>
          </a:prstGeom>
          <a:noFill/>
          <a:ln/>
        </p:spPr>
        <p:txBody>
          <a:bodyPr wrap="square" lIns="0" tIns="0" rIns="0" bIns="0" rtlCol="0" anchor="ctr"/>
          <a:lstStyle/>
          <a:p>
            <a:pPr indent="0" marL="0">
              <a:buNone/>
            </a:pPr>
            <a:r>
              <a:rPr lang="en-US" sz="1500" dirty="0">
                <a:solidFill>
                  <a:srgbClr val="1A1A1A"/>
                </a:solidFill>
              </a:rPr>
              <a:t>subjects returned. Subject 8 vanished.</a:t>
            </a:r>
            <a:endParaRPr lang="en-US" sz="1500" dirty="0"/>
          </a:p>
        </p:txBody>
      </p:sp>
      <p:sp>
        <p:nvSpPr>
          <p:cNvPr id="17" name="Text 14"/>
          <p:cNvSpPr txBox="1"/>
          <p:nvPr/>
        </p:nvSpPr>
        <p:spPr>
          <a:xfrm>
            <a:off x="4937760" y="3429000"/>
            <a:ext cx="1097280" cy="914400"/>
          </a:xfrm>
          <a:prstGeom prst="rect">
            <a:avLst/>
          </a:prstGeom>
          <a:noFill/>
          <a:ln/>
        </p:spPr>
        <p:txBody>
          <a:bodyPr wrap="square" lIns="0" tIns="0" rIns="0" bIns="0" rtlCol="0" anchor="ctr"/>
          <a:lstStyle/>
          <a:p>
            <a:pPr indent="0" marL="0">
              <a:buNone/>
            </a:pPr>
            <a:r>
              <a:rPr lang="en-US" sz="5400" b="1" dirty="0">
                <a:solidFill>
                  <a:srgbClr val="1C7293"/>
                </a:solidFill>
                <a:latin typeface="Cambria" pitchFamily="34" charset="0"/>
                <a:ea typeface="Cambria" pitchFamily="34" charset="-122"/>
                <a:cs typeface="Cambria" pitchFamily="34" charset="-120"/>
              </a:rPr>
              <a:t>8</a:t>
            </a:r>
            <a:endParaRPr lang="en-US" sz="5400" dirty="0"/>
          </a:p>
        </p:txBody>
      </p:sp>
      <p:sp>
        <p:nvSpPr>
          <p:cNvPr id="18" name="Text 15"/>
          <p:cNvSpPr txBox="1"/>
          <p:nvPr/>
        </p:nvSpPr>
        <p:spPr>
          <a:xfrm>
            <a:off x="6035040" y="3429000"/>
            <a:ext cx="2651760" cy="914400"/>
          </a:xfrm>
          <a:prstGeom prst="rect">
            <a:avLst/>
          </a:prstGeom>
          <a:noFill/>
          <a:ln/>
        </p:spPr>
        <p:txBody>
          <a:bodyPr wrap="square" lIns="0" tIns="0" rIns="0" bIns="0" rtlCol="0" anchor="ctr"/>
          <a:lstStyle/>
          <a:p>
            <a:pPr indent="0" marL="0">
              <a:buNone/>
            </a:pPr>
            <a:r>
              <a:rPr lang="en-US" sz="1500" dirty="0">
                <a:solidFill>
                  <a:srgbClr val="1A1A1A"/>
                </a:solidFill>
              </a:rPr>
              <a:t>subjects returned. Subject 8 has 0 samples.</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9"/>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0B3D59"/>
                </a:solidFill>
                <a:latin typeface="Cambria" pitchFamily="34" charset="0"/>
                <a:ea typeface="Cambria" pitchFamily="34" charset="-122"/>
                <a:cs typeface="Cambria" pitchFamily="34" charset="-120"/>
              </a:rPr>
              <a:t>Know your grain</a:t>
            </a:r>
            <a:endParaRPr lang="en-US" sz="3000" dirty="0"/>
          </a:p>
        </p:txBody>
      </p:sp>
      <p:sp>
        <p:nvSpPr>
          <p:cNvPr id="3" name="Text 1"/>
          <p:cNvSpPr txBox="1"/>
          <p:nvPr/>
        </p:nvSpPr>
        <p:spPr>
          <a:xfrm>
            <a:off x="8412480" y="4754880"/>
            <a:ext cx="365760" cy="228600"/>
          </a:xfrm>
          <a:prstGeom prst="rect">
            <a:avLst/>
          </a:prstGeom>
          <a:noFill/>
          <a:ln/>
        </p:spPr>
        <p:txBody>
          <a:bodyPr wrap="square" lIns="0" tIns="0" rIns="0" bIns="0" rtlCol="0" anchor="ctr"/>
          <a:lstStyle/>
          <a:p>
            <a:pPr algn="r" indent="0" marL="0">
              <a:buNone/>
            </a:pPr>
            <a:r>
              <a:rPr lang="en-US" sz="1000" dirty="0">
                <a:solidFill>
                  <a:srgbClr val="5A6B75"/>
                </a:solidFill>
              </a:rPr>
              <a:t>7</a:t>
            </a:r>
            <a:endParaRPr lang="en-US" sz="1000" dirty="0"/>
          </a:p>
        </p:txBody>
      </p:sp>
      <p:sp>
        <p:nvSpPr>
          <p:cNvPr id="5" name="Shape 2"/>
          <p:cNvSpPr/>
          <p:nvPr/>
        </p:nvSpPr>
        <p:spPr>
          <a:xfrm>
            <a:off x="457200" y="1051560"/>
            <a:ext cx="4846320" cy="2423160"/>
          </a:xfrm>
          <a:prstGeom prst="roundRect">
            <a:avLst>
              <a:gd name="adj" fmla="val 3019"/>
            </a:avLst>
          </a:prstGeom>
          <a:solidFill>
            <a:srgbClr val="082C40"/>
          </a:solidFill>
          <a:ln w="12700">
            <a:solidFill>
              <a:srgbClr val="082C40"/>
            </a:solidFill>
            <a:prstDash val="solid"/>
          </a:ln>
        </p:spPr>
      </p:sp>
      <p:sp>
        <p:nvSpPr>
          <p:cNvPr id="6" name="Text 3"/>
          <p:cNvSpPr txBox="1"/>
          <p:nvPr/>
        </p:nvSpPr>
        <p:spPr>
          <a:xfrm>
            <a:off x="594360" y="1124712"/>
            <a:ext cx="4572000" cy="2276856"/>
          </a:xfrm>
          <a:prstGeom prst="rect">
            <a:avLst/>
          </a:prstGeom>
          <a:noFill/>
          <a:ln/>
        </p:spPr>
        <p:txBody>
          <a:bodyPr wrap="square" lIns="0" tIns="0" rIns="0" bIns="0" rtlCol="0" anchor="t"/>
          <a:lstStyle/>
          <a:p>
            <a:pPr indent="0" marL="0">
              <a:buNone/>
            </a:pPr>
            <a:r>
              <a:rPr lang="en-US" sz="1300" dirty="0">
                <a:solidFill>
                  <a:srgbClr val="E8EEF2"/>
                </a:solidFill>
                <a:latin typeface="Courier New" pitchFamily="34" charset="0"/>
                <a:ea typeface="Courier New" pitchFamily="34" charset="-122"/>
                <a:cs typeface="Courier New" pitchFamily="34" charset="-120"/>
              </a:rPr>
              <a:t>SELECT s.subject_id,</a:t>
            </a:r>
            <a:endParaRPr lang="en-US" sz="1300" dirty="0"/>
          </a:p>
          <a:p>
            <a:pPr indent="0" marL="0">
              <a:buNone/>
            </a:pPr>
            <a:r>
              <a:rPr lang="en-US" sz="1300" dirty="0">
                <a:solidFill>
                  <a:srgbClr val="E8EEF2"/>
                </a:solidFill>
                <a:latin typeface="Courier New" pitchFamily="34" charset="0"/>
                <a:ea typeface="Courier New" pitchFamily="34" charset="-122"/>
                <a:cs typeface="Courier New" pitchFamily="34" charset="-120"/>
              </a:rPr>
              <a:t>  COUNT(*) AS n_rows,</a:t>
            </a:r>
            <a:endParaRPr lang="en-US" sz="1300" dirty="0"/>
          </a:p>
          <a:p>
            <a:pPr indent="0" marL="0">
              <a:buNone/>
            </a:pPr>
            <a:r>
              <a:rPr lang="en-US" sz="1300" dirty="0">
                <a:solidFill>
                  <a:srgbClr val="E8EEF2"/>
                </a:solidFill>
                <a:latin typeface="Courier New" pitchFamily="34" charset="0"/>
                <a:ea typeface="Courier New" pitchFamily="34" charset="-122"/>
                <a:cs typeface="Courier New" pitchFamily="34" charset="-120"/>
              </a:rPr>
              <a:t>  COUNT(DISTINCT sa.sample_id)</a:t>
            </a:r>
            <a:endParaRPr lang="en-US" sz="1300" dirty="0"/>
          </a:p>
          <a:p>
            <a:pPr indent="0" marL="0">
              <a:buNone/>
            </a:pPr>
            <a:r>
              <a:rPr lang="en-US" sz="1300" dirty="0">
                <a:solidFill>
                  <a:srgbClr val="E8EEF2"/>
                </a:solidFill>
                <a:latin typeface="Courier New" pitchFamily="34" charset="0"/>
                <a:ea typeface="Courier New" pitchFamily="34" charset="-122"/>
                <a:cs typeface="Courier New" pitchFamily="34" charset="-120"/>
              </a:rPr>
              <a:t>    AS n_samples</a:t>
            </a:r>
            <a:endParaRPr lang="en-US" sz="1300" dirty="0"/>
          </a:p>
          <a:p>
            <a:pPr indent="0" marL="0">
              <a:buNone/>
            </a:pPr>
            <a:r>
              <a:rPr lang="en-US" sz="1300" dirty="0">
                <a:solidFill>
                  <a:srgbClr val="E8EEF2"/>
                </a:solidFill>
                <a:latin typeface="Courier New" pitchFamily="34" charset="0"/>
                <a:ea typeface="Courier New" pitchFamily="34" charset="-122"/>
                <a:cs typeface="Courier New" pitchFamily="34" charset="-120"/>
              </a:rPr>
              <a:t>FROM subjects s</a:t>
            </a:r>
            <a:endParaRPr lang="en-US" sz="1300" dirty="0"/>
          </a:p>
          <a:p>
            <a:pPr indent="0" marL="0">
              <a:buNone/>
            </a:pPr>
            <a:r>
              <a:rPr lang="en-US" sz="1300" dirty="0">
                <a:solidFill>
                  <a:srgbClr val="E8EEF2"/>
                </a:solidFill>
                <a:latin typeface="Courier New" pitchFamily="34" charset="0"/>
                <a:ea typeface="Courier New" pitchFamily="34" charset="-122"/>
                <a:cs typeface="Courier New" pitchFamily="34" charset="-120"/>
              </a:rPr>
              <a:t>JOIN samples sa</a:t>
            </a:r>
            <a:endParaRPr lang="en-US" sz="1300" dirty="0"/>
          </a:p>
          <a:p>
            <a:pPr indent="0" marL="0">
              <a:buNone/>
            </a:pPr>
            <a:r>
              <a:rPr lang="en-US" sz="1300" dirty="0">
                <a:solidFill>
                  <a:srgbClr val="E8EEF2"/>
                </a:solidFill>
                <a:latin typeface="Courier New" pitchFamily="34" charset="0"/>
                <a:ea typeface="Courier New" pitchFamily="34" charset="-122"/>
                <a:cs typeface="Courier New" pitchFamily="34" charset="-120"/>
              </a:rPr>
              <a:t>  ON sa.subject_id = s.subject_id</a:t>
            </a:r>
            <a:endParaRPr lang="en-US" sz="1300" dirty="0"/>
          </a:p>
          <a:p>
            <a:pPr indent="0" marL="0">
              <a:buNone/>
            </a:pPr>
            <a:r>
              <a:rPr lang="en-US" sz="1300" dirty="0">
                <a:solidFill>
                  <a:srgbClr val="E8EEF2"/>
                </a:solidFill>
                <a:latin typeface="Courier New" pitchFamily="34" charset="0"/>
                <a:ea typeface="Courier New" pitchFamily="34" charset="-122"/>
                <a:cs typeface="Courier New" pitchFamily="34" charset="-120"/>
              </a:rPr>
              <a:t>JOIN mutations m</a:t>
            </a:r>
            <a:endParaRPr lang="en-US" sz="1300" dirty="0"/>
          </a:p>
          <a:p>
            <a:pPr indent="0" marL="0">
              <a:buNone/>
            </a:pPr>
            <a:r>
              <a:rPr lang="en-US" sz="1300" dirty="0">
                <a:solidFill>
                  <a:srgbClr val="E8EEF2"/>
                </a:solidFill>
                <a:latin typeface="Courier New" pitchFamily="34" charset="0"/>
                <a:ea typeface="Courier New" pitchFamily="34" charset="-122"/>
                <a:cs typeface="Courier New" pitchFamily="34" charset="-120"/>
              </a:rPr>
              <a:t>  ON m.sample_id = sa.sample_id</a:t>
            </a:r>
            <a:endParaRPr lang="en-US" sz="1300" dirty="0"/>
          </a:p>
          <a:p>
            <a:pPr indent="0" marL="0">
              <a:buNone/>
            </a:pPr>
            <a:r>
              <a:rPr lang="en-US" sz="1300" dirty="0">
                <a:solidFill>
                  <a:srgbClr val="E8EEF2"/>
                </a:solidFill>
                <a:latin typeface="Courier New" pitchFamily="34" charset="0"/>
                <a:ea typeface="Courier New" pitchFamily="34" charset="-122"/>
                <a:cs typeface="Courier New" pitchFamily="34" charset="-120"/>
              </a:rPr>
              <a:t>GROUP BY s.subject_id;</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577840" y="1097280"/>
          <a:ext cx="3108960" cy="914400"/>
        </p:xfrm>
        <a:graphic>
          <a:graphicData uri="http://schemas.openxmlformats.org/drawingml/2006/table">
            <a:tbl>
              <a:tblPr/>
              <a:tblGrid>
                <a:gridCol w="1097280"/>
                <a:gridCol w="914400"/>
                <a:gridCol w="1097280"/>
              </a:tblGrid>
              <a:tr h="36576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subject_id</a:t>
                      </a:r>
                      <a:endParaRPr lang="en-US" sz="1400" dirty="0">
                        <a:latin typeface="Calibri" charset="0"/>
                        <a:ea typeface="Calibri" charset="0"/>
                        <a:cs typeface="Calibri" charset="0"/>
                      </a:endParaRPr>
                    </a:p>
                  </a:txBody>
                  <a:tcPr marL="73152" marR="73152" marT="27432" marB="27432" anchor="ctr">
                    <a:lnL w="6350" cap="flat" cmpd="sng" algn="ctr">
                      <a:solidFill>
                        <a:srgbClr val="D6DEE2"/>
                      </a:solidFill>
                      <a:prstDash val="solid"/>
                      <a:round/>
                      <a:headEnd type="none" w="med" len="med"/>
                      <a:tailEnd type="none" w="med" len="med"/>
                    </a:lnL>
                    <a:lnR w="6350" cap="flat" cmpd="sng" algn="ctr">
                      <a:solidFill>
                        <a:srgbClr val="D6DEE2"/>
                      </a:solidFill>
                      <a:prstDash val="solid"/>
                      <a:round/>
                      <a:headEnd type="none" w="med" len="med"/>
                      <a:tailEnd type="none" w="med" len="med"/>
                    </a:lnR>
                    <a:lnT w="6350" cap="flat" cmpd="sng" algn="ctr">
                      <a:solidFill>
                        <a:srgbClr val="D6DEE2"/>
                      </a:solidFill>
                      <a:prstDash val="solid"/>
                      <a:round/>
                      <a:headEnd type="none" w="med" len="med"/>
                      <a:tailEnd type="none" w="med" len="med"/>
                    </a:lnT>
                    <a:lnB w="6350" cap="flat" cmpd="sng" algn="ctr">
                      <a:solidFill>
                        <a:srgbClr val="D6DEE2"/>
                      </a:solidFill>
                      <a:prstDash val="solid"/>
                      <a:round/>
                      <a:headEnd type="none" w="med" len="med"/>
                      <a:tailEnd type="none" w="med" len="med"/>
                    </a:lnB>
                    <a:solidFill>
                      <a:srgbClr val="1C7293"/>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n_rows</a:t>
                      </a:r>
                      <a:endParaRPr lang="en-US" sz="1400" dirty="0">
                        <a:latin typeface="Calibri" charset="0"/>
                        <a:ea typeface="Calibri" charset="0"/>
                        <a:cs typeface="Calibri" charset="0"/>
                      </a:endParaRPr>
                    </a:p>
                  </a:txBody>
                  <a:tcPr marL="73152" marR="73152" marT="27432" marB="27432" anchor="ctr">
                    <a:lnL w="6350" cap="flat" cmpd="sng" algn="ctr">
                      <a:solidFill>
                        <a:srgbClr val="D6DEE2"/>
                      </a:solidFill>
                      <a:prstDash val="solid"/>
                      <a:round/>
                      <a:headEnd type="none" w="med" len="med"/>
                      <a:tailEnd type="none" w="med" len="med"/>
                    </a:lnL>
                    <a:lnR w="6350" cap="flat" cmpd="sng" algn="ctr">
                      <a:solidFill>
                        <a:srgbClr val="D6DEE2"/>
                      </a:solidFill>
                      <a:prstDash val="solid"/>
                      <a:round/>
                      <a:headEnd type="none" w="med" len="med"/>
                      <a:tailEnd type="none" w="med" len="med"/>
                    </a:lnR>
                    <a:lnT w="6350" cap="flat" cmpd="sng" algn="ctr">
                      <a:solidFill>
                        <a:srgbClr val="D6DEE2"/>
                      </a:solidFill>
                      <a:prstDash val="solid"/>
                      <a:round/>
                      <a:headEnd type="none" w="med" len="med"/>
                      <a:tailEnd type="none" w="med" len="med"/>
                    </a:lnT>
                    <a:lnB w="6350" cap="flat" cmpd="sng" algn="ctr">
                      <a:solidFill>
                        <a:srgbClr val="D6DEE2"/>
                      </a:solidFill>
                      <a:prstDash val="solid"/>
                      <a:round/>
                      <a:headEnd type="none" w="med" len="med"/>
                      <a:tailEnd type="none" w="med" len="med"/>
                    </a:lnB>
                    <a:solidFill>
                      <a:srgbClr val="1C7293"/>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n_samples</a:t>
                      </a:r>
                      <a:endParaRPr lang="en-US" sz="1400" dirty="0">
                        <a:latin typeface="Calibri" charset="0"/>
                        <a:ea typeface="Calibri" charset="0"/>
                        <a:cs typeface="Calibri" charset="0"/>
                      </a:endParaRPr>
                    </a:p>
                  </a:txBody>
                  <a:tcPr marL="73152" marR="73152" marT="27432" marB="27432" anchor="ctr">
                    <a:lnL w="6350" cap="flat" cmpd="sng" algn="ctr">
                      <a:solidFill>
                        <a:srgbClr val="D6DEE2"/>
                      </a:solidFill>
                      <a:prstDash val="solid"/>
                      <a:round/>
                      <a:headEnd type="none" w="med" len="med"/>
                      <a:tailEnd type="none" w="med" len="med"/>
                    </a:lnL>
                    <a:lnR w="6350" cap="flat" cmpd="sng" algn="ctr">
                      <a:solidFill>
                        <a:srgbClr val="D6DEE2"/>
                      </a:solidFill>
                      <a:prstDash val="solid"/>
                      <a:round/>
                      <a:headEnd type="none" w="med" len="med"/>
                      <a:tailEnd type="none" w="med" len="med"/>
                    </a:lnR>
                    <a:lnT w="6350" cap="flat" cmpd="sng" algn="ctr">
                      <a:solidFill>
                        <a:srgbClr val="D6DEE2"/>
                      </a:solidFill>
                      <a:prstDash val="solid"/>
                      <a:round/>
                      <a:headEnd type="none" w="med" len="med"/>
                      <a:tailEnd type="none" w="med" len="med"/>
                    </a:lnT>
                    <a:lnB w="6350" cap="flat" cmpd="sng" algn="ctr">
                      <a:solidFill>
                        <a:srgbClr val="D6DEE2"/>
                      </a:solidFill>
                      <a:prstDash val="solid"/>
                      <a:round/>
                      <a:headEnd type="none" w="med" len="med"/>
                      <a:tailEnd type="none" w="med" len="med"/>
                    </a:lnB>
                    <a:solidFill>
                      <a:srgbClr val="1C7293"/>
                    </a:solidFill>
                  </a:tcPr>
                </a:tc>
              </a:tr>
              <a:tr h="365760">
                <a:tc>
                  <a:txBody>
                    <a:bodyPr/>
                    <a:lstStyle/>
                    <a:p>
                      <a:pPr algn="l" indent="0" marL="0">
                        <a:buNone/>
                      </a:pPr>
                      <a:r>
                        <a:rPr lang="en-US" sz="1400" dirty="0">
                          <a:solidFill>
                            <a:srgbClr val="B23A48"/>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73152" marR="73152" marT="27432" marB="27432" anchor="ctr">
                    <a:lnL w="6350" cap="flat" cmpd="sng" algn="ctr">
                      <a:solidFill>
                        <a:srgbClr val="D6DEE2"/>
                      </a:solidFill>
                      <a:prstDash val="solid"/>
                      <a:round/>
                      <a:headEnd type="none" w="med" len="med"/>
                      <a:tailEnd type="none" w="med" len="med"/>
                    </a:lnL>
                    <a:lnR w="6350" cap="flat" cmpd="sng" algn="ctr">
                      <a:solidFill>
                        <a:srgbClr val="D6DEE2"/>
                      </a:solidFill>
                      <a:prstDash val="solid"/>
                      <a:round/>
                      <a:headEnd type="none" w="med" len="med"/>
                      <a:tailEnd type="none" w="med" len="med"/>
                    </a:lnR>
                    <a:lnT w="6350" cap="flat" cmpd="sng" algn="ctr">
                      <a:solidFill>
                        <a:srgbClr val="D6DEE2"/>
                      </a:solidFill>
                      <a:prstDash val="solid"/>
                      <a:round/>
                      <a:headEnd type="none" w="med" len="med"/>
                      <a:tailEnd type="none" w="med" len="med"/>
                    </a:lnT>
                    <a:lnB w="6350" cap="flat" cmpd="sng" algn="ctr">
                      <a:solidFill>
                        <a:srgbClr val="D6DEE2"/>
                      </a:solidFill>
                      <a:prstDash val="solid"/>
                      <a:round/>
                      <a:headEnd type="none" w="med" len="med"/>
                      <a:tailEnd type="none" w="med" len="med"/>
                    </a:lnB>
                    <a:solidFill>
                      <a:srgbClr val="F6E3E5"/>
                    </a:solidFill>
                  </a:tcPr>
                </a:tc>
                <a:tc>
                  <a:txBody>
                    <a:bodyPr/>
                    <a:lstStyle/>
                    <a:p>
                      <a:pPr algn="l" indent="0" marL="0">
                        <a:buNone/>
                      </a:pPr>
                      <a:r>
                        <a:rPr lang="en-US" sz="1400" dirty="0">
                          <a:solidFill>
                            <a:srgbClr val="B23A48"/>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73152" marR="73152" marT="27432" marB="27432" anchor="ctr">
                    <a:lnL w="6350" cap="flat" cmpd="sng" algn="ctr">
                      <a:solidFill>
                        <a:srgbClr val="D6DEE2"/>
                      </a:solidFill>
                      <a:prstDash val="solid"/>
                      <a:round/>
                      <a:headEnd type="none" w="med" len="med"/>
                      <a:tailEnd type="none" w="med" len="med"/>
                    </a:lnL>
                    <a:lnR w="6350" cap="flat" cmpd="sng" algn="ctr">
                      <a:solidFill>
                        <a:srgbClr val="D6DEE2"/>
                      </a:solidFill>
                      <a:prstDash val="solid"/>
                      <a:round/>
                      <a:headEnd type="none" w="med" len="med"/>
                      <a:tailEnd type="none" w="med" len="med"/>
                    </a:lnR>
                    <a:lnT w="6350" cap="flat" cmpd="sng" algn="ctr">
                      <a:solidFill>
                        <a:srgbClr val="D6DEE2"/>
                      </a:solidFill>
                      <a:prstDash val="solid"/>
                      <a:round/>
                      <a:headEnd type="none" w="med" len="med"/>
                      <a:tailEnd type="none" w="med" len="med"/>
                    </a:lnT>
                    <a:lnB w="6350" cap="flat" cmpd="sng" algn="ctr">
                      <a:solidFill>
                        <a:srgbClr val="D6DEE2"/>
                      </a:solidFill>
                      <a:prstDash val="solid"/>
                      <a:round/>
                      <a:headEnd type="none" w="med" len="med"/>
                      <a:tailEnd type="none" w="med" len="med"/>
                    </a:lnB>
                    <a:solidFill>
                      <a:srgbClr val="F6E3E5"/>
                    </a:solidFill>
                  </a:tcPr>
                </a:tc>
                <a:tc>
                  <a:txBody>
                    <a:bodyPr/>
                    <a:lstStyle/>
                    <a:p>
                      <a:pPr algn="l" indent="0" marL="0">
                        <a:buNone/>
                      </a:pPr>
                      <a:r>
                        <a:rPr lang="en-US" sz="1400" dirty="0">
                          <a:solidFill>
                            <a:srgbClr val="B23A48"/>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73152" marR="73152" marT="27432" marB="27432" anchor="ctr">
                    <a:lnL w="6350" cap="flat" cmpd="sng" algn="ctr">
                      <a:solidFill>
                        <a:srgbClr val="D6DEE2"/>
                      </a:solidFill>
                      <a:prstDash val="solid"/>
                      <a:round/>
                      <a:headEnd type="none" w="med" len="med"/>
                      <a:tailEnd type="none" w="med" len="med"/>
                    </a:lnL>
                    <a:lnR w="6350" cap="flat" cmpd="sng" algn="ctr">
                      <a:solidFill>
                        <a:srgbClr val="D6DEE2"/>
                      </a:solidFill>
                      <a:prstDash val="solid"/>
                      <a:round/>
                      <a:headEnd type="none" w="med" len="med"/>
                      <a:tailEnd type="none" w="med" len="med"/>
                    </a:lnR>
                    <a:lnT w="6350" cap="flat" cmpd="sng" algn="ctr">
                      <a:solidFill>
                        <a:srgbClr val="D6DEE2"/>
                      </a:solidFill>
                      <a:prstDash val="solid"/>
                      <a:round/>
                      <a:headEnd type="none" w="med" len="med"/>
                      <a:tailEnd type="none" w="med" len="med"/>
                    </a:lnT>
                    <a:lnB w="6350" cap="flat" cmpd="sng" algn="ctr">
                      <a:solidFill>
                        <a:srgbClr val="D6DEE2"/>
                      </a:solidFill>
                      <a:prstDash val="solid"/>
                      <a:round/>
                      <a:headEnd type="none" w="med" len="med"/>
                      <a:tailEnd type="none" w="med" len="med"/>
                    </a:lnB>
                    <a:solidFill>
                      <a:srgbClr val="F6E3E5"/>
                    </a:solidFill>
                  </a:tcPr>
                </a:tc>
              </a:tr>
              <a:tr h="365760">
                <a:tc>
                  <a:txBody>
                    <a:bodyPr/>
                    <a:lstStyle/>
                    <a:p>
                      <a:pPr algn="l" indent="0" marL="0">
                        <a:buNone/>
                      </a:pPr>
                      <a:r>
                        <a:rPr lang="en-US" sz="1400" dirty="0">
                          <a:solidFill>
                            <a:srgbClr val="1A1A1A"/>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73152" marR="73152" marT="27432" marB="27432" anchor="ctr">
                    <a:lnL w="6350" cap="flat" cmpd="sng" algn="ctr">
                      <a:solidFill>
                        <a:srgbClr val="D6DEE2"/>
                      </a:solidFill>
                      <a:prstDash val="solid"/>
                      <a:round/>
                      <a:headEnd type="none" w="med" len="med"/>
                      <a:tailEnd type="none" w="med" len="med"/>
                    </a:lnL>
                    <a:lnR w="6350" cap="flat" cmpd="sng" algn="ctr">
                      <a:solidFill>
                        <a:srgbClr val="D6DEE2"/>
                      </a:solidFill>
                      <a:prstDash val="solid"/>
                      <a:round/>
                      <a:headEnd type="none" w="med" len="med"/>
                      <a:tailEnd type="none" w="med" len="med"/>
                    </a:lnR>
                    <a:lnT w="6350" cap="flat" cmpd="sng" algn="ctr">
                      <a:solidFill>
                        <a:srgbClr val="D6DEE2"/>
                      </a:solidFill>
                      <a:prstDash val="solid"/>
                      <a:round/>
                      <a:headEnd type="none" w="med" len="med"/>
                      <a:tailEnd type="none" w="med" len="med"/>
                    </a:lnT>
                    <a:lnB w="6350" cap="flat" cmpd="sng" algn="ctr">
                      <a:solidFill>
                        <a:srgbClr val="D6DEE2"/>
                      </a:solidFill>
                      <a:prstDash val="solid"/>
                      <a:round/>
                      <a:headEnd type="none" w="med" len="med"/>
                      <a:tailEnd type="none" w="med" len="med"/>
                    </a:lnB>
                    <a:solidFill>
                      <a:srgbClr val="E3E9EC"/>
                    </a:solidFill>
                  </a:tcPr>
                </a:tc>
                <a:tc>
                  <a:txBody>
                    <a:bodyPr/>
                    <a:lstStyle/>
                    <a:p>
                      <a:pPr algn="l" indent="0" marL="0">
                        <a:buNone/>
                      </a:pPr>
                      <a:r>
                        <a:rPr lang="en-US" sz="1400" dirty="0">
                          <a:solidFill>
                            <a:srgbClr val="1A1A1A"/>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73152" marR="73152" marT="27432" marB="27432" anchor="ctr">
                    <a:lnL w="6350" cap="flat" cmpd="sng" algn="ctr">
                      <a:solidFill>
                        <a:srgbClr val="D6DEE2"/>
                      </a:solidFill>
                      <a:prstDash val="solid"/>
                      <a:round/>
                      <a:headEnd type="none" w="med" len="med"/>
                      <a:tailEnd type="none" w="med" len="med"/>
                    </a:lnL>
                    <a:lnR w="6350" cap="flat" cmpd="sng" algn="ctr">
                      <a:solidFill>
                        <a:srgbClr val="D6DEE2"/>
                      </a:solidFill>
                      <a:prstDash val="solid"/>
                      <a:round/>
                      <a:headEnd type="none" w="med" len="med"/>
                      <a:tailEnd type="none" w="med" len="med"/>
                    </a:lnR>
                    <a:lnT w="6350" cap="flat" cmpd="sng" algn="ctr">
                      <a:solidFill>
                        <a:srgbClr val="D6DEE2"/>
                      </a:solidFill>
                      <a:prstDash val="solid"/>
                      <a:round/>
                      <a:headEnd type="none" w="med" len="med"/>
                      <a:tailEnd type="none" w="med" len="med"/>
                    </a:lnT>
                    <a:lnB w="6350" cap="flat" cmpd="sng" algn="ctr">
                      <a:solidFill>
                        <a:srgbClr val="D6DEE2"/>
                      </a:solidFill>
                      <a:prstDash val="solid"/>
                      <a:round/>
                      <a:headEnd type="none" w="med" len="med"/>
                      <a:tailEnd type="none" w="med" len="med"/>
                    </a:lnB>
                    <a:solidFill>
                      <a:srgbClr val="E3E9EC"/>
                    </a:solidFill>
                  </a:tcPr>
                </a:tc>
                <a:tc>
                  <a:txBody>
                    <a:bodyPr/>
                    <a:lstStyle/>
                    <a:p>
                      <a:pPr algn="l" indent="0" marL="0">
                        <a:buNone/>
                      </a:pPr>
                      <a:r>
                        <a:rPr lang="en-US" sz="1400" dirty="0">
                          <a:solidFill>
                            <a:srgbClr val="1A1A1A"/>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73152" marR="73152" marT="27432" marB="27432" anchor="ctr">
                    <a:lnL w="6350" cap="flat" cmpd="sng" algn="ctr">
                      <a:solidFill>
                        <a:srgbClr val="D6DEE2"/>
                      </a:solidFill>
                      <a:prstDash val="solid"/>
                      <a:round/>
                      <a:headEnd type="none" w="med" len="med"/>
                      <a:tailEnd type="none" w="med" len="med"/>
                    </a:lnL>
                    <a:lnR w="6350" cap="flat" cmpd="sng" algn="ctr">
                      <a:solidFill>
                        <a:srgbClr val="D6DEE2"/>
                      </a:solidFill>
                      <a:prstDash val="solid"/>
                      <a:round/>
                      <a:headEnd type="none" w="med" len="med"/>
                      <a:tailEnd type="none" w="med" len="med"/>
                    </a:lnR>
                    <a:lnT w="6350" cap="flat" cmpd="sng" algn="ctr">
                      <a:solidFill>
                        <a:srgbClr val="D6DEE2"/>
                      </a:solidFill>
                      <a:prstDash val="solid"/>
                      <a:round/>
                      <a:headEnd type="none" w="med" len="med"/>
                      <a:tailEnd type="none" w="med" len="med"/>
                    </a:lnT>
                    <a:lnB w="6350" cap="flat" cmpd="sng" algn="ctr">
                      <a:solidFill>
                        <a:srgbClr val="D6DEE2"/>
                      </a:solidFill>
                      <a:prstDash val="solid"/>
                      <a:round/>
                      <a:headEnd type="none" w="med" len="med"/>
                      <a:tailEnd type="none" w="med" len="med"/>
                    </a:lnB>
                    <a:solidFill>
                      <a:srgbClr val="E3E9EC"/>
                    </a:solidFill>
                  </a:tcPr>
                </a:tc>
              </a:tr>
              <a:tr h="365760">
                <a:tc>
                  <a:txBody>
                    <a:bodyPr/>
                    <a:lstStyle/>
                    <a:p>
                      <a:pPr algn="l" indent="0" marL="0">
                        <a:buNone/>
                      </a:pPr>
                      <a:r>
                        <a:rPr lang="en-US" sz="1400" dirty="0">
                          <a:solidFill>
                            <a:srgbClr val="1A1A1A"/>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73152" marR="73152" marT="27432" marB="27432" anchor="ctr">
                    <a:lnL w="6350" cap="flat" cmpd="sng" algn="ctr">
                      <a:solidFill>
                        <a:srgbClr val="D6DEE2"/>
                      </a:solidFill>
                      <a:prstDash val="solid"/>
                      <a:round/>
                      <a:headEnd type="none" w="med" len="med"/>
                      <a:tailEnd type="none" w="med" len="med"/>
                    </a:lnL>
                    <a:lnR w="6350" cap="flat" cmpd="sng" algn="ctr">
                      <a:solidFill>
                        <a:srgbClr val="D6DEE2"/>
                      </a:solidFill>
                      <a:prstDash val="solid"/>
                      <a:round/>
                      <a:headEnd type="none" w="med" len="med"/>
                      <a:tailEnd type="none" w="med" len="med"/>
                    </a:lnR>
                    <a:lnT w="6350" cap="flat" cmpd="sng" algn="ctr">
                      <a:solidFill>
                        <a:srgbClr val="D6DEE2"/>
                      </a:solidFill>
                      <a:prstDash val="solid"/>
                      <a:round/>
                      <a:headEnd type="none" w="med" len="med"/>
                      <a:tailEnd type="none" w="med" len="med"/>
                    </a:lnT>
                    <a:lnB w="6350" cap="flat" cmpd="sng" algn="ctr">
                      <a:solidFill>
                        <a:srgbClr val="D6DEE2"/>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A1A1A"/>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73152" marR="73152" marT="27432" marB="27432" anchor="ctr">
                    <a:lnL w="6350" cap="flat" cmpd="sng" algn="ctr">
                      <a:solidFill>
                        <a:srgbClr val="D6DEE2"/>
                      </a:solidFill>
                      <a:prstDash val="solid"/>
                      <a:round/>
                      <a:headEnd type="none" w="med" len="med"/>
                      <a:tailEnd type="none" w="med" len="med"/>
                    </a:lnL>
                    <a:lnR w="6350" cap="flat" cmpd="sng" algn="ctr">
                      <a:solidFill>
                        <a:srgbClr val="D6DEE2"/>
                      </a:solidFill>
                      <a:prstDash val="solid"/>
                      <a:round/>
                      <a:headEnd type="none" w="med" len="med"/>
                      <a:tailEnd type="none" w="med" len="med"/>
                    </a:lnR>
                    <a:lnT w="6350" cap="flat" cmpd="sng" algn="ctr">
                      <a:solidFill>
                        <a:srgbClr val="D6DEE2"/>
                      </a:solidFill>
                      <a:prstDash val="solid"/>
                      <a:round/>
                      <a:headEnd type="none" w="med" len="med"/>
                      <a:tailEnd type="none" w="med" len="med"/>
                    </a:lnT>
                    <a:lnB w="6350" cap="flat" cmpd="sng" algn="ctr">
                      <a:solidFill>
                        <a:srgbClr val="D6DEE2"/>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A1A1A"/>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73152" marR="73152" marT="27432" marB="27432" anchor="ctr">
                    <a:lnL w="6350" cap="flat" cmpd="sng" algn="ctr">
                      <a:solidFill>
                        <a:srgbClr val="D6DEE2"/>
                      </a:solidFill>
                      <a:prstDash val="solid"/>
                      <a:round/>
                      <a:headEnd type="none" w="med" len="med"/>
                      <a:tailEnd type="none" w="med" len="med"/>
                    </a:lnL>
                    <a:lnR w="6350" cap="flat" cmpd="sng" algn="ctr">
                      <a:solidFill>
                        <a:srgbClr val="D6DEE2"/>
                      </a:solidFill>
                      <a:prstDash val="solid"/>
                      <a:round/>
                      <a:headEnd type="none" w="med" len="med"/>
                      <a:tailEnd type="none" w="med" len="med"/>
                    </a:lnR>
                    <a:lnT w="6350" cap="flat" cmpd="sng" algn="ctr">
                      <a:solidFill>
                        <a:srgbClr val="D6DEE2"/>
                      </a:solidFill>
                      <a:prstDash val="solid"/>
                      <a:round/>
                      <a:headEnd type="none" w="med" len="med"/>
                      <a:tailEnd type="none" w="med" len="med"/>
                    </a:lnT>
                    <a:lnB w="6350" cap="flat" cmpd="sng" algn="ctr">
                      <a:solidFill>
                        <a:srgbClr val="D6DEE2"/>
                      </a:solidFill>
                      <a:prstDash val="solid"/>
                      <a:round/>
                      <a:headEnd type="none" w="med" len="med"/>
                      <a:tailEnd type="none" w="med" len="med"/>
                    </a:lnB>
                    <a:solidFill>
                      <a:srgbClr val="FFFFFF"/>
                    </a:solidFill>
                  </a:tcPr>
                </a:tc>
              </a:tr>
            </a:tbl>
          </a:graphicData>
        </a:graphic>
      </p:graphicFrame>
      <p:sp>
        <p:nvSpPr>
          <p:cNvPr id="8" name="Text 4"/>
          <p:cNvSpPr txBox="1"/>
          <p:nvPr/>
        </p:nvSpPr>
        <p:spPr>
          <a:xfrm>
            <a:off x="5577840" y="2743200"/>
            <a:ext cx="3108960" cy="548640"/>
          </a:xfrm>
          <a:prstGeom prst="rect">
            <a:avLst/>
          </a:prstGeom>
          <a:noFill/>
          <a:ln/>
        </p:spPr>
        <p:txBody>
          <a:bodyPr wrap="square" lIns="0" tIns="0" rIns="0" bIns="0" rtlCol="0" anchor="ctr"/>
          <a:lstStyle/>
          <a:p>
            <a:pPr indent="0" marL="0">
              <a:buNone/>
            </a:pPr>
            <a:r>
              <a:rPr lang="en-US" sz="1500" b="1" dirty="0">
                <a:solidFill>
                  <a:srgbClr val="B23A48"/>
                </a:solidFill>
              </a:rPr>
              <a:t>Subject 1 has 2 samples, not 3.</a:t>
            </a:r>
            <a:endParaRPr lang="en-US" sz="1500" dirty="0"/>
          </a:p>
        </p:txBody>
      </p:sp>
      <p:sp>
        <p:nvSpPr>
          <p:cNvPr id="9" name="Shape 5"/>
          <p:cNvSpPr/>
          <p:nvPr/>
        </p:nvSpPr>
        <p:spPr>
          <a:xfrm>
            <a:off x="457200" y="3657600"/>
            <a:ext cx="8229600" cy="1051560"/>
          </a:xfrm>
          <a:prstGeom prst="roundRect">
            <a:avLst>
              <a:gd name="adj" fmla="val 6957"/>
            </a:avLst>
          </a:prstGeom>
          <a:solidFill>
            <a:srgbClr val="CADCFC"/>
          </a:solidFill>
          <a:ln w="12700">
            <a:solidFill>
              <a:srgbClr val="CADCFC"/>
            </a:solidFill>
            <a:prstDash val="solid"/>
          </a:ln>
        </p:spPr>
      </p:sp>
      <p:sp>
        <p:nvSpPr>
          <p:cNvPr id="10" name="Text 6"/>
          <p:cNvSpPr txBox="1"/>
          <p:nvPr/>
        </p:nvSpPr>
        <p:spPr>
          <a:xfrm>
            <a:off x="640080" y="3767328"/>
            <a:ext cx="7863840" cy="365760"/>
          </a:xfrm>
          <a:prstGeom prst="rect">
            <a:avLst/>
          </a:prstGeom>
          <a:noFill/>
          <a:ln/>
        </p:spPr>
        <p:txBody>
          <a:bodyPr wrap="square" lIns="0" tIns="0" rIns="0" bIns="0" rtlCol="0" anchor="ctr"/>
          <a:lstStyle/>
          <a:p>
            <a:pPr indent="0" marL="0">
              <a:buNone/>
            </a:pPr>
            <a:r>
              <a:rPr lang="en-US" sz="1600" b="1" dirty="0">
                <a:solidFill>
                  <a:srgbClr val="0B3D59"/>
                </a:solidFill>
                <a:latin typeface="Cambria" pitchFamily="34" charset="0"/>
                <a:ea typeface="Cambria" pitchFamily="34" charset="-122"/>
                <a:cs typeface="Cambria" pitchFamily="34" charset="-120"/>
              </a:rPr>
              <a:t>Habit</a:t>
            </a:r>
            <a:endParaRPr lang="en-US" sz="1600" dirty="0"/>
          </a:p>
        </p:txBody>
      </p:sp>
      <p:sp>
        <p:nvSpPr>
          <p:cNvPr id="11" name="Text 7"/>
          <p:cNvSpPr txBox="1"/>
          <p:nvPr/>
        </p:nvSpPr>
        <p:spPr>
          <a:xfrm>
            <a:off x="640080" y="4160520"/>
            <a:ext cx="7863840" cy="457200"/>
          </a:xfrm>
          <a:prstGeom prst="rect">
            <a:avLst/>
          </a:prstGeom>
          <a:noFill/>
          <a:ln/>
        </p:spPr>
        <p:txBody>
          <a:bodyPr wrap="square" lIns="0" tIns="0" rIns="0" bIns="0" rtlCol="0" anchor="t"/>
          <a:lstStyle/>
          <a:p>
            <a:pPr indent="0" marL="0">
              <a:buNone/>
            </a:pPr>
            <a:r>
              <a:rPr lang="en-US" sz="1500" dirty="0">
                <a:solidFill>
                  <a:srgbClr val="1A1A1A"/>
                </a:solidFill>
                <a:latin typeface="Calibri" pitchFamily="34" charset="0"/>
                <a:ea typeface="Calibri" pitchFamily="34" charset="-122"/>
                <a:cs typeface="Calibri" pitchFamily="34" charset="-120"/>
              </a:rPr>
              <a:t>Before each join, say what one row is. After it, check the row count against what you expected.</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9"/>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0B3D59"/>
                </a:solidFill>
                <a:latin typeface="Cambria" pitchFamily="34" charset="0"/>
                <a:ea typeface="Cambria" pitchFamily="34" charset="-122"/>
                <a:cs typeface="Cambria" pitchFamily="34" charset="-120"/>
              </a:rPr>
              <a:t>Heterogeneous data: the keys do not match</a:t>
            </a:r>
            <a:endParaRPr lang="en-US" sz="3000" dirty="0"/>
          </a:p>
        </p:txBody>
      </p:sp>
      <p:sp>
        <p:nvSpPr>
          <p:cNvPr id="3" name="Text 1"/>
          <p:cNvSpPr txBox="1"/>
          <p:nvPr/>
        </p:nvSpPr>
        <p:spPr>
          <a:xfrm>
            <a:off x="8412480" y="4754880"/>
            <a:ext cx="365760" cy="228600"/>
          </a:xfrm>
          <a:prstGeom prst="rect">
            <a:avLst/>
          </a:prstGeom>
          <a:noFill/>
          <a:ln/>
        </p:spPr>
        <p:txBody>
          <a:bodyPr wrap="square" lIns="0" tIns="0" rIns="0" bIns="0" rtlCol="0" anchor="ctr"/>
          <a:lstStyle/>
          <a:p>
            <a:pPr algn="r" indent="0" marL="0">
              <a:buNone/>
            </a:pPr>
            <a:r>
              <a:rPr lang="en-US" sz="1000" dirty="0">
                <a:solidFill>
                  <a:srgbClr val="5A6B75"/>
                </a:solidFill>
              </a:rPr>
              <a:t>8</a:t>
            </a:r>
            <a:endParaRPr lang="en-US" sz="1000" dirty="0"/>
          </a:p>
        </p:txBody>
      </p:sp>
      <p:sp>
        <p:nvSpPr>
          <p:cNvPr id="5" name="Text 2"/>
          <p:cNvSpPr txBox="1"/>
          <p:nvPr/>
        </p:nvSpPr>
        <p:spPr>
          <a:xfrm>
            <a:off x="457200" y="1005840"/>
            <a:ext cx="1463040" cy="914400"/>
          </a:xfrm>
          <a:prstGeom prst="rect">
            <a:avLst/>
          </a:prstGeom>
          <a:noFill/>
          <a:ln/>
        </p:spPr>
        <p:txBody>
          <a:bodyPr wrap="square" lIns="0" tIns="0" rIns="0" bIns="0" rtlCol="0" anchor="ctr"/>
          <a:lstStyle/>
          <a:p>
            <a:pPr indent="0" marL="0">
              <a:buNone/>
            </a:pPr>
            <a:r>
              <a:rPr lang="en-US" sz="6000" b="1" dirty="0">
                <a:solidFill>
                  <a:srgbClr val="0B3D59"/>
                </a:solidFill>
                <a:latin typeface="Cambria" pitchFamily="34" charset="0"/>
                <a:ea typeface="Cambria" pitchFamily="34" charset="-122"/>
                <a:cs typeface="Cambria" pitchFamily="34" charset="-120"/>
              </a:rPr>
              <a:t>12</a:t>
            </a:r>
            <a:endParaRPr lang="en-US" sz="6000" dirty="0"/>
          </a:p>
        </p:txBody>
      </p:sp>
      <p:sp>
        <p:nvSpPr>
          <p:cNvPr id="6" name="Text 3"/>
          <p:cNvSpPr txBox="1"/>
          <p:nvPr/>
        </p:nvSpPr>
        <p:spPr>
          <a:xfrm>
            <a:off x="1920240" y="1005840"/>
            <a:ext cx="1645920" cy="914400"/>
          </a:xfrm>
          <a:prstGeom prst="rect">
            <a:avLst/>
          </a:prstGeom>
          <a:noFill/>
          <a:ln/>
        </p:spPr>
        <p:txBody>
          <a:bodyPr wrap="square" lIns="0" tIns="0" rIns="0" bIns="0" rtlCol="0" anchor="ctr"/>
          <a:lstStyle/>
          <a:p>
            <a:pPr indent="0" marL="0">
              <a:buNone/>
            </a:pPr>
            <a:r>
              <a:rPr lang="en-US" sz="1500" dirty="0">
                <a:solidFill>
                  <a:srgbClr val="1A1A1A"/>
                </a:solidFill>
              </a:rPr>
              <a:t>mutation rows in</a:t>
            </a:r>
            <a:endParaRPr lang="en-US" sz="1500" dirty="0"/>
          </a:p>
        </p:txBody>
      </p:sp>
      <p:sp>
        <p:nvSpPr>
          <p:cNvPr id="7" name="Text 4"/>
          <p:cNvSpPr txBox="1"/>
          <p:nvPr/>
        </p:nvSpPr>
        <p:spPr>
          <a:xfrm>
            <a:off x="3749040" y="1005840"/>
            <a:ext cx="1463040" cy="914400"/>
          </a:xfrm>
          <a:prstGeom prst="rect">
            <a:avLst/>
          </a:prstGeom>
          <a:noFill/>
          <a:ln/>
        </p:spPr>
        <p:txBody>
          <a:bodyPr wrap="square" lIns="0" tIns="0" rIns="0" bIns="0" rtlCol="0" anchor="ctr"/>
          <a:lstStyle/>
          <a:p>
            <a:pPr indent="0" marL="0">
              <a:buNone/>
            </a:pPr>
            <a:r>
              <a:rPr lang="en-US" sz="6000" b="1" dirty="0">
                <a:solidFill>
                  <a:srgbClr val="B23A48"/>
                </a:solidFill>
                <a:latin typeface="Cambria" pitchFamily="34" charset="0"/>
                <a:ea typeface="Cambria" pitchFamily="34" charset="-122"/>
                <a:cs typeface="Cambria" pitchFamily="34" charset="-120"/>
              </a:rPr>
              <a:t>10</a:t>
            </a:r>
            <a:endParaRPr lang="en-US" sz="6000" dirty="0"/>
          </a:p>
        </p:txBody>
      </p:sp>
      <p:sp>
        <p:nvSpPr>
          <p:cNvPr id="8" name="Text 5"/>
          <p:cNvSpPr txBox="1"/>
          <p:nvPr/>
        </p:nvSpPr>
        <p:spPr>
          <a:xfrm>
            <a:off x="5212080" y="1005840"/>
            <a:ext cx="3474720" cy="914400"/>
          </a:xfrm>
          <a:prstGeom prst="rect">
            <a:avLst/>
          </a:prstGeom>
          <a:noFill/>
          <a:ln/>
        </p:spPr>
        <p:txBody>
          <a:bodyPr wrap="square" lIns="0" tIns="0" rIns="0" bIns="0" rtlCol="0" anchor="ctr"/>
          <a:lstStyle/>
          <a:p>
            <a:pPr indent="0" marL="0">
              <a:buNone/>
            </a:pPr>
            <a:r>
              <a:rPr lang="en-US" sz="1500" dirty="0">
                <a:solidFill>
                  <a:srgbClr val="1A1A1A"/>
                </a:solidFill>
              </a:rPr>
              <a:t>rows out of the join. No error.</a:t>
            </a:r>
            <a:endParaRPr lang="en-US" sz="1500" dirty="0"/>
          </a:p>
        </p:txBody>
      </p:sp>
      <p:sp>
        <p:nvSpPr>
          <p:cNvPr id="9" name="Shape 6"/>
          <p:cNvSpPr/>
          <p:nvPr/>
        </p:nvSpPr>
        <p:spPr>
          <a:xfrm>
            <a:off x="457200" y="2057400"/>
            <a:ext cx="5120640" cy="1508760"/>
          </a:xfrm>
          <a:prstGeom prst="roundRect">
            <a:avLst>
              <a:gd name="adj" fmla="val 4848"/>
            </a:avLst>
          </a:prstGeom>
          <a:solidFill>
            <a:srgbClr val="082C40"/>
          </a:solidFill>
          <a:ln w="12700">
            <a:solidFill>
              <a:srgbClr val="082C40"/>
            </a:solidFill>
            <a:prstDash val="solid"/>
          </a:ln>
        </p:spPr>
      </p:sp>
      <p:sp>
        <p:nvSpPr>
          <p:cNvPr id="10" name="Text 7"/>
          <p:cNvSpPr txBox="1"/>
          <p:nvPr/>
        </p:nvSpPr>
        <p:spPr>
          <a:xfrm>
            <a:off x="594360" y="2130552"/>
            <a:ext cx="4846320" cy="1362456"/>
          </a:xfrm>
          <a:prstGeom prst="rect">
            <a:avLst/>
          </a:prstGeom>
          <a:noFill/>
          <a:ln/>
        </p:spPr>
        <p:txBody>
          <a:bodyPr wrap="square" lIns="0" tIns="0" rIns="0" bIns="0" rtlCol="0" anchor="t"/>
          <a:lstStyle/>
          <a:p>
            <a:pPr indent="0" marL="0">
              <a:buNone/>
            </a:pPr>
            <a:r>
              <a:rPr lang="en-US" sz="1300" dirty="0">
                <a:solidFill>
                  <a:srgbClr val="E8EEF2"/>
                </a:solidFill>
                <a:latin typeface="Courier New" pitchFamily="34" charset="0"/>
                <a:ea typeface="Courier New" pitchFamily="34" charset="-122"/>
                <a:cs typeface="Courier New" pitchFamily="34" charset="-120"/>
              </a:rPr>
              <a:t>-- find the orphans</a:t>
            </a:r>
            <a:endParaRPr lang="en-US" sz="1300" dirty="0"/>
          </a:p>
          <a:p>
            <a:pPr indent="0" marL="0">
              <a:buNone/>
            </a:pPr>
            <a:r>
              <a:rPr lang="en-US" sz="1300" dirty="0">
                <a:solidFill>
                  <a:srgbClr val="E8EEF2"/>
                </a:solidFill>
                <a:latin typeface="Courier New" pitchFamily="34" charset="0"/>
                <a:ea typeface="Courier New" pitchFamily="34" charset="-122"/>
                <a:cs typeface="Courier New" pitchFamily="34" charset="-120"/>
              </a:rPr>
              <a:t>SELECT m.mutation_id, m.gene_symbol</a:t>
            </a:r>
            <a:endParaRPr lang="en-US" sz="1300" dirty="0"/>
          </a:p>
          <a:p>
            <a:pPr indent="0" marL="0">
              <a:buNone/>
            </a:pPr>
            <a:r>
              <a:rPr lang="en-US" sz="1300" dirty="0">
                <a:solidFill>
                  <a:srgbClr val="E8EEF2"/>
                </a:solidFill>
                <a:latin typeface="Courier New" pitchFamily="34" charset="0"/>
                <a:ea typeface="Courier New" pitchFamily="34" charset="-122"/>
                <a:cs typeface="Courier New" pitchFamily="34" charset="-120"/>
              </a:rPr>
              <a:t>FROM mutations m</a:t>
            </a:r>
            <a:endParaRPr lang="en-US" sz="1300" dirty="0"/>
          </a:p>
          <a:p>
            <a:pPr indent="0" marL="0">
              <a:buNone/>
            </a:pPr>
            <a:r>
              <a:rPr lang="en-US" sz="1300" dirty="0">
                <a:solidFill>
                  <a:srgbClr val="E8EEF2"/>
                </a:solidFill>
                <a:latin typeface="Courier New" pitchFamily="34" charset="0"/>
                <a:ea typeface="Courier New" pitchFamily="34" charset="-122"/>
                <a:cs typeface="Courier New" pitchFamily="34" charset="-120"/>
              </a:rPr>
              <a:t>LEFT JOIN genes g</a:t>
            </a:r>
            <a:endParaRPr lang="en-US" sz="1300" dirty="0"/>
          </a:p>
          <a:p>
            <a:pPr indent="0" marL="0">
              <a:buNone/>
            </a:pPr>
            <a:r>
              <a:rPr lang="en-US" sz="1300" dirty="0">
                <a:solidFill>
                  <a:srgbClr val="E8EEF2"/>
                </a:solidFill>
                <a:latin typeface="Courier New" pitchFamily="34" charset="0"/>
                <a:ea typeface="Courier New" pitchFamily="34" charset="-122"/>
                <a:cs typeface="Courier New" pitchFamily="34" charset="-120"/>
              </a:rPr>
              <a:t>  ON g.symbol = m.gene_symbol</a:t>
            </a:r>
            <a:endParaRPr lang="en-US" sz="1300" dirty="0"/>
          </a:p>
          <a:p>
            <a:pPr indent="0" marL="0">
              <a:buNone/>
            </a:pPr>
            <a:r>
              <a:rPr lang="en-US" sz="1300" dirty="0">
                <a:solidFill>
                  <a:srgbClr val="E8EEF2"/>
                </a:solidFill>
                <a:latin typeface="Courier New" pitchFamily="34" charset="0"/>
                <a:ea typeface="Courier New" pitchFamily="34" charset="-122"/>
                <a:cs typeface="Courier New" pitchFamily="34" charset="-120"/>
              </a:rPr>
              <a:t>WHERE g.gene_id IS NULL;</a:t>
            </a:r>
            <a:endParaRPr lang="en-US" sz="1300" dirty="0"/>
          </a:p>
        </p:txBody>
      </p:sp>
      <p:sp>
        <p:nvSpPr>
          <p:cNvPr id="11" name="Shape 8"/>
          <p:cNvSpPr/>
          <p:nvPr/>
        </p:nvSpPr>
        <p:spPr>
          <a:xfrm>
            <a:off x="5760720" y="2148840"/>
            <a:ext cx="2926080" cy="2514600"/>
          </a:xfrm>
          <a:prstGeom prst="roundRect">
            <a:avLst>
              <a:gd name="adj" fmla="val 2909"/>
            </a:avLst>
          </a:prstGeom>
          <a:solidFill>
            <a:srgbClr val="CADCFC"/>
          </a:solidFill>
          <a:ln w="12700">
            <a:solidFill>
              <a:srgbClr val="CADCFC"/>
            </a:solidFill>
            <a:prstDash val="solid"/>
          </a:ln>
        </p:spPr>
      </p:sp>
      <p:sp>
        <p:nvSpPr>
          <p:cNvPr id="12" name="Text 9"/>
          <p:cNvSpPr txBox="1"/>
          <p:nvPr/>
        </p:nvSpPr>
        <p:spPr>
          <a:xfrm>
            <a:off x="5943600" y="2258568"/>
            <a:ext cx="2560320" cy="365760"/>
          </a:xfrm>
          <a:prstGeom prst="rect">
            <a:avLst/>
          </a:prstGeom>
          <a:noFill/>
          <a:ln/>
        </p:spPr>
        <p:txBody>
          <a:bodyPr wrap="square" lIns="0" tIns="0" rIns="0" bIns="0" rtlCol="0" anchor="ctr"/>
          <a:lstStyle/>
          <a:p>
            <a:pPr indent="0" marL="0">
              <a:buNone/>
            </a:pPr>
            <a:r>
              <a:rPr lang="en-US" sz="1600" b="1" dirty="0">
                <a:solidFill>
                  <a:srgbClr val="0B3D59"/>
                </a:solidFill>
                <a:latin typeface="Cambria" pitchFamily="34" charset="0"/>
                <a:ea typeface="Cambria" pitchFamily="34" charset="-122"/>
                <a:cs typeface="Cambria" pitchFamily="34" charset="-120"/>
              </a:rPr>
              <a:t>Defend yourself</a:t>
            </a:r>
            <a:endParaRPr lang="en-US" sz="1600" dirty="0"/>
          </a:p>
        </p:txBody>
      </p:sp>
      <p:sp>
        <p:nvSpPr>
          <p:cNvPr id="13" name="Text 10"/>
          <p:cNvSpPr txBox="1"/>
          <p:nvPr/>
        </p:nvSpPr>
        <p:spPr>
          <a:xfrm>
            <a:off x="5943600" y="2651760"/>
            <a:ext cx="2560320" cy="1920240"/>
          </a:xfrm>
          <a:prstGeom prst="rect">
            <a:avLst/>
          </a:prstGeom>
          <a:noFill/>
          <a:ln/>
        </p:spPr>
        <p:txBody>
          <a:bodyPr wrap="square" lIns="0" tIns="0" rIns="0" bIns="0" rtlCol="0" anchor="t"/>
          <a:lstStyle/>
          <a:p>
            <a:pPr indent="0" marL="0">
              <a:buNone/>
            </a:pPr>
            <a:r>
              <a:rPr lang="en-US" sz="1400" dirty="0">
                <a:solidFill>
                  <a:srgbClr val="1A1A1A"/>
                </a:solidFill>
                <a:latin typeface="Calibri" pitchFamily="34" charset="0"/>
                <a:ea typeface="Calibri" pitchFamily="34" charset="-122"/>
                <a:cs typeface="Calibri" pitchFamily="34" charset="-120"/>
              </a:rPr>
              <a:t>Count rows before and after.</a:t>
            </a:r>
            <a:endParaRPr lang="en-US" sz="1400" dirty="0"/>
          </a:p>
          <a:p>
            <a:pPr indent="0" marL="0">
              <a:buNone/>
            </a:pPr>
            <a:r>
              <a:rPr lang="en-US" sz="1400" dirty="0">
                <a:solidFill>
                  <a:srgbClr val="1A1A1A"/>
                </a:solidFill>
                <a:latin typeface="Calibri" pitchFamily="34" charset="0"/>
                <a:ea typeface="Calibri" pitchFamily="34" charset="-122"/>
                <a:cs typeface="Calibri" pitchFamily="34" charset="-120"/>
              </a:rPr>
              <a:t>Find orphans with LEFT JOIN … IS NULL.</a:t>
            </a:r>
            <a:endParaRPr lang="en-US" sz="1400" dirty="0"/>
          </a:p>
          <a:p>
            <a:pPr indent="0" marL="0">
              <a:buNone/>
            </a:pPr>
            <a:r>
              <a:rPr lang="en-US" sz="1400" dirty="0">
                <a:solidFill>
                  <a:srgbClr val="1A1A1A"/>
                </a:solidFill>
                <a:latin typeface="Calibri" pitchFamily="34" charset="0"/>
                <a:ea typeface="Calibri" pitchFamily="34" charset="-122"/>
                <a:cs typeface="Calibri" pitchFamily="34" charset="-120"/>
              </a:rPr>
              <a:t>Normalize: UPPER(TRIM(x)).</a:t>
            </a:r>
            <a:endParaRPr lang="en-US" sz="1400" dirty="0"/>
          </a:p>
          <a:p>
            <a:pPr indent="0" marL="0">
              <a:buNone/>
            </a:pPr>
            <a:r>
              <a:rPr lang="en-US" sz="1400" dirty="0">
                <a:solidFill>
                  <a:srgbClr val="1A1A1A"/>
                </a:solidFill>
                <a:latin typeface="Calibri" pitchFamily="34" charset="0"/>
                <a:ea typeface="Calibri" pitchFamily="34" charset="-122"/>
                <a:cs typeface="Calibri" pitchFamily="34" charset="-120"/>
              </a:rPr>
              <a:t>Prefer stable IDs over names.</a:t>
            </a:r>
            <a:endParaRPr lang="en-US" sz="1400" dirty="0"/>
          </a:p>
        </p:txBody>
      </p:sp>
      <p:sp>
        <p:nvSpPr>
          <p:cNvPr id="14" name="Shape 11"/>
          <p:cNvSpPr/>
          <p:nvPr/>
        </p:nvSpPr>
        <p:spPr>
          <a:xfrm>
            <a:off x="457200" y="3703320"/>
            <a:ext cx="5120640" cy="731520"/>
          </a:xfrm>
          <a:prstGeom prst="roundRect">
            <a:avLst>
              <a:gd name="adj" fmla="val 10000"/>
            </a:avLst>
          </a:prstGeom>
          <a:solidFill>
            <a:srgbClr val="082C40"/>
          </a:solidFill>
          <a:ln w="12700">
            <a:solidFill>
              <a:srgbClr val="082C40"/>
            </a:solidFill>
            <a:prstDash val="solid"/>
          </a:ln>
        </p:spPr>
      </p:sp>
      <p:sp>
        <p:nvSpPr>
          <p:cNvPr id="15" name="Text 12"/>
          <p:cNvSpPr txBox="1"/>
          <p:nvPr/>
        </p:nvSpPr>
        <p:spPr>
          <a:xfrm>
            <a:off x="594360" y="3776472"/>
            <a:ext cx="4846320" cy="585216"/>
          </a:xfrm>
          <a:prstGeom prst="rect">
            <a:avLst/>
          </a:prstGeom>
          <a:noFill/>
          <a:ln/>
        </p:spPr>
        <p:txBody>
          <a:bodyPr wrap="square" lIns="0" tIns="0" rIns="0" bIns="0" rtlCol="0" anchor="t"/>
          <a:lstStyle/>
          <a:p>
            <a:pPr indent="0" marL="0">
              <a:buNone/>
            </a:pPr>
            <a:r>
              <a:rPr lang="en-US" sz="1200" dirty="0">
                <a:solidFill>
                  <a:srgbClr val="E8EEF2"/>
                </a:solidFill>
                <a:latin typeface="Courier New" pitchFamily="34" charset="0"/>
                <a:ea typeface="Courier New" pitchFamily="34" charset="-122"/>
                <a:cs typeface="Courier New" pitchFamily="34" charset="-120"/>
              </a:rPr>
              <a:t>-- fix: normalize the key (12 of 12)</a:t>
            </a:r>
            <a:endParaRPr lang="en-US" sz="1200" dirty="0"/>
          </a:p>
          <a:p>
            <a:pPr indent="0" marL="0">
              <a:buNone/>
            </a:pPr>
            <a:r>
              <a:rPr lang="en-US" sz="1200" dirty="0">
                <a:solidFill>
                  <a:srgbClr val="E8EEF2"/>
                </a:solidFill>
                <a:latin typeface="Courier New" pitchFamily="34" charset="0"/>
                <a:ea typeface="Courier New" pitchFamily="34" charset="-122"/>
                <a:cs typeface="Courier New" pitchFamily="34" charset="-120"/>
              </a:rPr>
              <a:t>ON g.symbol = UPPER(TRIM(m.gene_symbol))</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9"/>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0B3D59"/>
                </a:solidFill>
                <a:latin typeface="Cambria" pitchFamily="34" charset="0"/>
                <a:ea typeface="Cambria" pitchFamily="34" charset="-122"/>
                <a:cs typeface="Cambria" pitchFamily="34" charset="-120"/>
              </a:rPr>
              <a:t>Your turn: merge three tables</a:t>
            </a:r>
            <a:endParaRPr lang="en-US" sz="3000" dirty="0"/>
          </a:p>
        </p:txBody>
      </p:sp>
      <p:sp>
        <p:nvSpPr>
          <p:cNvPr id="3" name="Text 1"/>
          <p:cNvSpPr txBox="1"/>
          <p:nvPr/>
        </p:nvSpPr>
        <p:spPr>
          <a:xfrm>
            <a:off x="8412480" y="4754880"/>
            <a:ext cx="365760" cy="228600"/>
          </a:xfrm>
          <a:prstGeom prst="rect">
            <a:avLst/>
          </a:prstGeom>
          <a:noFill/>
          <a:ln/>
        </p:spPr>
        <p:txBody>
          <a:bodyPr wrap="square" lIns="0" tIns="0" rIns="0" bIns="0" rtlCol="0" anchor="ctr"/>
          <a:lstStyle/>
          <a:p>
            <a:pPr algn="r" indent="0" marL="0">
              <a:buNone/>
            </a:pPr>
            <a:r>
              <a:rPr lang="en-US" sz="1000" dirty="0">
                <a:solidFill>
                  <a:srgbClr val="5A6B75"/>
                </a:solidFill>
              </a:rPr>
              <a:t>9</a:t>
            </a:r>
            <a:endParaRPr lang="en-US" sz="1000" dirty="0"/>
          </a:p>
        </p:txBody>
      </p:sp>
      <p:sp>
        <p:nvSpPr>
          <p:cNvPr id="5" name="Shape 2"/>
          <p:cNvSpPr/>
          <p:nvPr/>
        </p:nvSpPr>
        <p:spPr>
          <a:xfrm>
            <a:off x="457200" y="1097280"/>
            <a:ext cx="5120640" cy="3566160"/>
          </a:xfrm>
          <a:prstGeom prst="roundRect">
            <a:avLst>
              <a:gd name="adj" fmla="val 2051"/>
            </a:avLst>
          </a:prstGeom>
          <a:solidFill>
            <a:srgbClr val="E3E9EC"/>
          </a:solidFill>
          <a:ln w="12700">
            <a:solidFill>
              <a:srgbClr val="E3E9EC"/>
            </a:solidFill>
            <a:prstDash val="solid"/>
          </a:ln>
        </p:spPr>
      </p:sp>
      <p:sp>
        <p:nvSpPr>
          <p:cNvPr id="6" name="Text 3"/>
          <p:cNvSpPr txBox="1"/>
          <p:nvPr/>
        </p:nvSpPr>
        <p:spPr>
          <a:xfrm>
            <a:off x="640080" y="1207008"/>
            <a:ext cx="4754880" cy="365760"/>
          </a:xfrm>
          <a:prstGeom prst="rect">
            <a:avLst/>
          </a:prstGeom>
          <a:noFill/>
          <a:ln/>
        </p:spPr>
        <p:txBody>
          <a:bodyPr wrap="square" lIns="0" tIns="0" rIns="0" bIns="0" rtlCol="0" anchor="ctr"/>
          <a:lstStyle/>
          <a:p>
            <a:pPr indent="0" marL="0">
              <a:buNone/>
            </a:pPr>
            <a:r>
              <a:rPr lang="en-US" sz="1800" b="1" dirty="0">
                <a:solidFill>
                  <a:srgbClr val="0B3D59"/>
                </a:solidFill>
                <a:latin typeface="Cambria" pitchFamily="34" charset="0"/>
                <a:ea typeface="Cambria" pitchFamily="34" charset="-122"/>
                <a:cs typeface="Cambria" pitchFamily="34" charset="-120"/>
              </a:rPr>
              <a:t>Task</a:t>
            </a:r>
            <a:endParaRPr lang="en-US" sz="1800" dirty="0"/>
          </a:p>
        </p:txBody>
      </p:sp>
      <p:sp>
        <p:nvSpPr>
          <p:cNvPr id="7" name="Text 4"/>
          <p:cNvSpPr txBox="1"/>
          <p:nvPr/>
        </p:nvSpPr>
        <p:spPr>
          <a:xfrm>
            <a:off x="640080" y="1600200"/>
            <a:ext cx="4754880" cy="2971800"/>
          </a:xfrm>
          <a:prstGeom prst="rect">
            <a:avLst/>
          </a:prstGeom>
          <a:noFill/>
          <a:ln/>
        </p:spPr>
        <p:txBody>
          <a:bodyPr wrap="square" lIns="0" tIns="0" rIns="0" bIns="0" rtlCol="0" anchor="t"/>
          <a:lstStyle/>
          <a:p>
            <a:pPr indent="0" marL="0">
              <a:buNone/>
            </a:pPr>
            <a:r>
              <a:rPr lang="en-US" sz="1500" dirty="0">
                <a:solidFill>
                  <a:srgbClr val="1A1A1A"/>
                </a:solidFill>
                <a:latin typeface="Calibri" pitchFamily="34" charset="0"/>
                <a:ea typeface="Calibri" pitchFamily="34" charset="-122"/>
                <a:cs typeface="Calibri" pitchFamily="34" charset="-120"/>
              </a:rPr>
              <a:t>Build one table with one row per subject (all 8 subjects) showing:</a:t>
            </a:r>
            <a:endParaRPr lang="en-US" sz="1500" dirty="0"/>
          </a:p>
          <a:p>
            <a:pPr indent="0" marL="0">
              <a:buNone/>
            </a:pPr>
            <a:endParaRPr lang="en-US" sz="1500" dirty="0"/>
          </a:p>
          <a:p>
            <a:pPr indent="0" marL="0">
              <a:buNone/>
            </a:pPr>
            <a:r>
              <a:rPr lang="en-US" sz="1500" dirty="0">
                <a:solidFill>
                  <a:srgbClr val="1A1A1A"/>
                </a:solidFill>
                <a:latin typeface="Calibri" pitchFamily="34" charset="0"/>
                <a:ea typeface="Calibri" pitchFamily="34" charset="-122"/>
                <a:cs typeface="Calibri" pitchFamily="34" charset="-120"/>
              </a:rPr>
              <a:t>• subject_id, cohort</a:t>
            </a:r>
            <a:endParaRPr lang="en-US" sz="1500" dirty="0"/>
          </a:p>
          <a:p>
            <a:pPr indent="0" marL="0">
              <a:buNone/>
            </a:pPr>
            <a:r>
              <a:rPr lang="en-US" sz="1500" dirty="0">
                <a:solidFill>
                  <a:srgbClr val="1A1A1A"/>
                </a:solidFill>
                <a:latin typeface="Calibri" pitchFamily="34" charset="0"/>
                <a:ea typeface="Calibri" pitchFamily="34" charset="-122"/>
                <a:cs typeface="Calibri" pitchFamily="34" charset="-120"/>
              </a:rPr>
              <a:t>• number of tumor samples</a:t>
            </a:r>
            <a:endParaRPr lang="en-US" sz="1500" dirty="0"/>
          </a:p>
          <a:p>
            <a:pPr indent="0" marL="0">
              <a:buNone/>
            </a:pPr>
            <a:r>
              <a:rPr lang="en-US" sz="1500" dirty="0">
                <a:solidFill>
                  <a:srgbClr val="1A1A1A"/>
                </a:solidFill>
                <a:latin typeface="Calibri" pitchFamily="34" charset="0"/>
                <a:ea typeface="Calibri" pitchFamily="34" charset="-122"/>
                <a:cs typeface="Calibri" pitchFamily="34" charset="-120"/>
              </a:rPr>
              <a:t>• number of distinct genes mutated in those tumors (KRAS counted once, however it is spelled)</a:t>
            </a:r>
            <a:endParaRPr lang="en-US" sz="1500" dirty="0"/>
          </a:p>
          <a:p>
            <a:pPr indent="0" marL="0">
              <a:buNone/>
            </a:pPr>
            <a:endParaRPr lang="en-US" sz="1500" dirty="0"/>
          </a:p>
          <a:p>
            <a:pPr indent="0" marL="0">
              <a:buNone/>
            </a:pPr>
            <a:r>
              <a:rPr lang="en-US" sz="1500" dirty="0">
                <a:solidFill>
                  <a:srgbClr val="1A1A1A"/>
                </a:solidFill>
                <a:latin typeface="Calibri" pitchFamily="34" charset="0"/>
                <a:ea typeface="Calibri" pitchFamily="34" charset="-122"/>
                <a:cs typeface="Calibri" pitchFamily="34" charset="-120"/>
              </a:rPr>
              <a:t>All 8 subjects must appear, including the one with no samples.</a:t>
            </a:r>
            <a:endParaRPr lang="en-US" sz="1500" dirty="0"/>
          </a:p>
        </p:txBody>
      </p:sp>
      <p:sp>
        <p:nvSpPr>
          <p:cNvPr id="8" name="Shape 5"/>
          <p:cNvSpPr/>
          <p:nvPr/>
        </p:nvSpPr>
        <p:spPr>
          <a:xfrm>
            <a:off x="5760720" y="1097280"/>
            <a:ext cx="2926080" cy="3566160"/>
          </a:xfrm>
          <a:prstGeom prst="roundRect">
            <a:avLst>
              <a:gd name="adj" fmla="val 2500"/>
            </a:avLst>
          </a:prstGeom>
          <a:solidFill>
            <a:srgbClr val="CADCFC"/>
          </a:solidFill>
          <a:ln w="12700">
            <a:solidFill>
              <a:srgbClr val="CADCFC"/>
            </a:solidFill>
            <a:prstDash val="solid"/>
          </a:ln>
        </p:spPr>
      </p:sp>
      <p:sp>
        <p:nvSpPr>
          <p:cNvPr id="9" name="Text 6"/>
          <p:cNvSpPr txBox="1"/>
          <p:nvPr/>
        </p:nvSpPr>
        <p:spPr>
          <a:xfrm>
            <a:off x="5943600" y="1207008"/>
            <a:ext cx="2560320" cy="365760"/>
          </a:xfrm>
          <a:prstGeom prst="rect">
            <a:avLst/>
          </a:prstGeom>
          <a:noFill/>
          <a:ln/>
        </p:spPr>
        <p:txBody>
          <a:bodyPr wrap="square" lIns="0" tIns="0" rIns="0" bIns="0" rtlCol="0" anchor="ctr"/>
          <a:lstStyle/>
          <a:p>
            <a:pPr indent="0" marL="0">
              <a:buNone/>
            </a:pPr>
            <a:r>
              <a:rPr lang="en-US" sz="1800" b="1" dirty="0">
                <a:solidFill>
                  <a:srgbClr val="0B3D59"/>
                </a:solidFill>
                <a:latin typeface="Cambria" pitchFamily="34" charset="0"/>
                <a:ea typeface="Cambria" pitchFamily="34" charset="-122"/>
                <a:cs typeface="Cambria" pitchFamily="34" charset="-120"/>
              </a:rPr>
              <a:t>Checks</a:t>
            </a:r>
            <a:endParaRPr lang="en-US" sz="1800" dirty="0"/>
          </a:p>
        </p:txBody>
      </p:sp>
      <p:sp>
        <p:nvSpPr>
          <p:cNvPr id="10" name="Text 7"/>
          <p:cNvSpPr txBox="1"/>
          <p:nvPr/>
        </p:nvSpPr>
        <p:spPr>
          <a:xfrm>
            <a:off x="5943600" y="1600200"/>
            <a:ext cx="2560320" cy="2971800"/>
          </a:xfrm>
          <a:prstGeom prst="rect">
            <a:avLst/>
          </a:prstGeom>
          <a:noFill/>
          <a:ln/>
        </p:spPr>
        <p:txBody>
          <a:bodyPr wrap="square" lIns="0" tIns="0" rIns="0" bIns="0" rtlCol="0" anchor="t"/>
          <a:lstStyle/>
          <a:p>
            <a:pPr indent="0" marL="0">
              <a:buNone/>
            </a:pPr>
            <a:r>
              <a:rPr lang="en-US" sz="1400" dirty="0">
                <a:solidFill>
                  <a:srgbClr val="1A1A1A"/>
                </a:solidFill>
                <a:latin typeface="Calibri" pitchFamily="34" charset="0"/>
                <a:ea typeface="Calibri" pitchFamily="34" charset="-122"/>
                <a:cs typeface="Calibri" pitchFamily="34" charset="-120"/>
              </a:rPr>
              <a:t>Do you get exactly 8 rows?</a:t>
            </a:r>
            <a:endParaRPr lang="en-US" sz="1400" dirty="0"/>
          </a:p>
          <a:p>
            <a:pPr indent="0" marL="0">
              <a:buNone/>
            </a:pPr>
            <a:endParaRPr lang="en-US" sz="1400" dirty="0"/>
          </a:p>
          <a:p>
            <a:pPr indent="0" marL="0">
              <a:buNone/>
            </a:pPr>
            <a:r>
              <a:rPr lang="en-US" sz="1400" dirty="0">
                <a:solidFill>
                  <a:srgbClr val="1A1A1A"/>
                </a:solidFill>
                <a:latin typeface="Calibri" pitchFamily="34" charset="0"/>
                <a:ea typeface="Calibri" pitchFamily="34" charset="-122"/>
                <a:cs typeface="Calibri" pitchFamily="34" charset="-120"/>
              </a:rPr>
              <a:t>Is subject 4 KRAS-mutant (mutation row 6, 'KRAS ')?</a:t>
            </a:r>
            <a:endParaRPr lang="en-US" sz="1400" dirty="0"/>
          </a:p>
          <a:p>
            <a:pPr indent="0" marL="0">
              <a:buNone/>
            </a:pPr>
            <a:endParaRPr lang="en-US" sz="1400" dirty="0"/>
          </a:p>
          <a:p>
            <a:pPr indent="0" marL="0">
              <a:buNone/>
            </a:pPr>
            <a:r>
              <a:rPr lang="en-US" sz="1400" dirty="0">
                <a:solidFill>
                  <a:srgbClr val="1A1A1A"/>
                </a:solidFill>
                <a:latin typeface="Calibri" pitchFamily="34" charset="0"/>
                <a:ea typeface="Calibri" pitchFamily="34" charset="-122"/>
                <a:cs typeface="Calibri" pitchFamily="34" charset="-120"/>
              </a:rPr>
              <a:t>What is subject 8's tumor count: 0 or NULL? Which is right, and why?</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9"/>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0B3D59"/>
                </a:solidFill>
                <a:latin typeface="Cambria" pitchFamily="34" charset="0"/>
                <a:ea typeface="Cambria" pitchFamily="34" charset="-122"/>
                <a:cs typeface="Cambria" pitchFamily="34" charset="-120"/>
              </a:rPr>
              <a:t>Genomic databases: same ideas, bigger tables</a:t>
            </a:r>
            <a:endParaRPr lang="en-US" sz="3000" dirty="0"/>
          </a:p>
        </p:txBody>
      </p:sp>
      <p:sp>
        <p:nvSpPr>
          <p:cNvPr id="3" name="Text 1"/>
          <p:cNvSpPr txBox="1"/>
          <p:nvPr/>
        </p:nvSpPr>
        <p:spPr>
          <a:xfrm>
            <a:off x="8412480" y="4754880"/>
            <a:ext cx="365760" cy="228600"/>
          </a:xfrm>
          <a:prstGeom prst="rect">
            <a:avLst/>
          </a:prstGeom>
          <a:noFill/>
          <a:ln/>
        </p:spPr>
        <p:txBody>
          <a:bodyPr wrap="square" lIns="0" tIns="0" rIns="0" bIns="0" rtlCol="0" anchor="ctr"/>
          <a:lstStyle/>
          <a:p>
            <a:pPr algn="r" indent="0" marL="0">
              <a:buNone/>
            </a:pPr>
            <a:r>
              <a:rPr lang="en-US" sz="1000" dirty="0">
                <a:solidFill>
                  <a:srgbClr val="5A6B75"/>
                </a:solidFill>
              </a:rPr>
              <a:t>10</a:t>
            </a:r>
            <a:endParaRPr lang="en-US" sz="1000" dirty="0"/>
          </a:p>
        </p:txBody>
      </p:sp>
      <p:sp>
        <p:nvSpPr>
          <p:cNvPr id="5" name="Shape 2"/>
          <p:cNvSpPr/>
          <p:nvPr/>
        </p:nvSpPr>
        <p:spPr>
          <a:xfrm>
            <a:off x="457200" y="1097280"/>
            <a:ext cx="2606040" cy="2926080"/>
          </a:xfrm>
          <a:prstGeom prst="roundRect">
            <a:avLst>
              <a:gd name="adj" fmla="val 2807"/>
            </a:avLst>
          </a:prstGeom>
          <a:solidFill>
            <a:srgbClr val="E3E9EC"/>
          </a:solidFill>
          <a:ln w="12700">
            <a:solidFill>
              <a:srgbClr val="E3E9EC"/>
            </a:solidFill>
            <a:prstDash val="solid"/>
          </a:ln>
        </p:spPr>
      </p:sp>
      <p:sp>
        <p:nvSpPr>
          <p:cNvPr id="6" name="Text 3"/>
          <p:cNvSpPr txBox="1"/>
          <p:nvPr/>
        </p:nvSpPr>
        <p:spPr>
          <a:xfrm>
            <a:off x="640080" y="1207008"/>
            <a:ext cx="2240280" cy="365760"/>
          </a:xfrm>
          <a:prstGeom prst="rect">
            <a:avLst/>
          </a:prstGeom>
          <a:noFill/>
          <a:ln/>
        </p:spPr>
        <p:txBody>
          <a:bodyPr wrap="square" lIns="0" tIns="0" rIns="0" bIns="0" rtlCol="0" anchor="ctr"/>
          <a:lstStyle/>
          <a:p>
            <a:pPr indent="0" marL="0">
              <a:buNone/>
            </a:pPr>
            <a:r>
              <a:rPr lang="en-US" sz="1600" b="1" dirty="0">
                <a:solidFill>
                  <a:srgbClr val="0B3D59"/>
                </a:solidFill>
                <a:latin typeface="Cambria" pitchFamily="34" charset="0"/>
                <a:ea typeface="Cambria" pitchFamily="34" charset="-122"/>
                <a:cs typeface="Cambria" pitchFamily="34" charset="-120"/>
              </a:rPr>
              <a:t>UCSC Genome Browser</a:t>
            </a:r>
            <a:endParaRPr lang="en-US" sz="1600" dirty="0"/>
          </a:p>
        </p:txBody>
      </p:sp>
      <p:sp>
        <p:nvSpPr>
          <p:cNvPr id="7" name="Text 4"/>
          <p:cNvSpPr txBox="1"/>
          <p:nvPr/>
        </p:nvSpPr>
        <p:spPr>
          <a:xfrm>
            <a:off x="640080" y="1600200"/>
            <a:ext cx="2240280" cy="2331720"/>
          </a:xfrm>
          <a:prstGeom prst="rect">
            <a:avLst/>
          </a:prstGeom>
          <a:noFill/>
          <a:ln/>
        </p:spPr>
        <p:txBody>
          <a:bodyPr wrap="square" lIns="0" tIns="0" rIns="0" bIns="0" rtlCol="0" anchor="t"/>
          <a:lstStyle/>
          <a:p>
            <a:pPr indent="0" marL="0">
              <a:buNone/>
            </a:pPr>
            <a:r>
              <a:rPr lang="en-US" sz="1400" dirty="0">
                <a:solidFill>
                  <a:srgbClr val="1A1A1A"/>
                </a:solidFill>
                <a:latin typeface="Calibri" pitchFamily="34" charset="0"/>
                <a:ea typeface="Calibri" pitchFamily="34" charset="-122"/>
                <a:cs typeface="Calibri" pitchFamily="34" charset="-120"/>
              </a:rPr>
              <a:t>Coordinate-centric.</a:t>
            </a:r>
            <a:endParaRPr lang="en-US" sz="1400" dirty="0"/>
          </a:p>
          <a:p>
            <a:pPr indent="0" marL="0">
              <a:buNone/>
            </a:pPr>
            <a:endParaRPr lang="en-US" sz="1400" dirty="0"/>
          </a:p>
          <a:p>
            <a:pPr indent="0" marL="0">
              <a:buNone/>
            </a:pPr>
            <a:r>
              <a:rPr lang="en-US" sz="1400" dirty="0">
                <a:solidFill>
                  <a:srgbClr val="1A1A1A"/>
                </a:solidFill>
                <a:latin typeface="Calibri" pitchFamily="34" charset="0"/>
                <a:ea typeface="Calibri" pitchFamily="34" charset="-122"/>
                <a:cs typeface="Calibri" pitchFamily="34" charset="-120"/>
              </a:rPr>
              <a:t>Tracks = tables keyed by chrom, start, end.</a:t>
            </a:r>
            <a:endParaRPr lang="en-US" sz="1400" dirty="0"/>
          </a:p>
          <a:p>
            <a:pPr indent="0" marL="0">
              <a:buNone/>
            </a:pPr>
            <a:endParaRPr lang="en-US" sz="1400" dirty="0"/>
          </a:p>
          <a:p>
            <a:pPr indent="0" marL="0">
              <a:buNone/>
            </a:pPr>
            <a:r>
              <a:rPr lang="en-US" sz="1400" dirty="0">
                <a:solidFill>
                  <a:srgbClr val="1A1A1A"/>
                </a:solidFill>
                <a:latin typeface="Calibri" pitchFamily="34" charset="0"/>
                <a:ea typeface="Calibri" pitchFamily="34" charset="-122"/>
                <a:cs typeface="Calibri" pitchFamily="34" charset="-120"/>
              </a:rPr>
              <a:t>Best for: what is in this region?</a:t>
            </a:r>
            <a:endParaRPr lang="en-US" sz="1400" dirty="0"/>
          </a:p>
          <a:p>
            <a:pPr indent="0" marL="0">
              <a:buNone/>
            </a:pPr>
            <a:endParaRPr lang="en-US" sz="1400" dirty="0"/>
          </a:p>
          <a:p>
            <a:pPr indent="0" marL="0">
              <a:buNone/>
            </a:pPr>
            <a:r>
              <a:rPr lang="en-US" sz="1400" dirty="0">
                <a:solidFill>
                  <a:srgbClr val="1A1A1A"/>
                </a:solidFill>
                <a:latin typeface="Calibri" pitchFamily="34" charset="0"/>
                <a:ea typeface="Calibri" pitchFamily="34" charset="-122"/>
                <a:cs typeface="Calibri" pitchFamily="34" charset="-120"/>
              </a:rPr>
              <a:t>Table Browser, REST API, public MySQL.</a:t>
            </a:r>
            <a:endParaRPr lang="en-US" sz="1400" dirty="0"/>
          </a:p>
        </p:txBody>
      </p:sp>
      <p:sp>
        <p:nvSpPr>
          <p:cNvPr id="8" name="Shape 5"/>
          <p:cNvSpPr/>
          <p:nvPr/>
        </p:nvSpPr>
        <p:spPr>
          <a:xfrm>
            <a:off x="3246120" y="1097280"/>
            <a:ext cx="2606040" cy="2926080"/>
          </a:xfrm>
          <a:prstGeom prst="roundRect">
            <a:avLst>
              <a:gd name="adj" fmla="val 2807"/>
            </a:avLst>
          </a:prstGeom>
          <a:solidFill>
            <a:srgbClr val="E3E9EC"/>
          </a:solidFill>
          <a:ln w="12700">
            <a:solidFill>
              <a:srgbClr val="E3E9EC"/>
            </a:solidFill>
            <a:prstDash val="solid"/>
          </a:ln>
        </p:spPr>
      </p:sp>
      <p:sp>
        <p:nvSpPr>
          <p:cNvPr id="9" name="Text 6"/>
          <p:cNvSpPr txBox="1"/>
          <p:nvPr/>
        </p:nvSpPr>
        <p:spPr>
          <a:xfrm>
            <a:off x="3429000" y="1207008"/>
            <a:ext cx="2240280" cy="365760"/>
          </a:xfrm>
          <a:prstGeom prst="rect">
            <a:avLst/>
          </a:prstGeom>
          <a:noFill/>
          <a:ln/>
        </p:spPr>
        <p:txBody>
          <a:bodyPr wrap="square" lIns="0" tIns="0" rIns="0" bIns="0" rtlCol="0" anchor="ctr"/>
          <a:lstStyle/>
          <a:p>
            <a:pPr indent="0" marL="0">
              <a:buNone/>
            </a:pPr>
            <a:r>
              <a:rPr lang="en-US" sz="1600" b="1" dirty="0">
                <a:solidFill>
                  <a:srgbClr val="0B3D59"/>
                </a:solidFill>
                <a:latin typeface="Cambria" pitchFamily="34" charset="0"/>
                <a:ea typeface="Cambria" pitchFamily="34" charset="-122"/>
                <a:cs typeface="Cambria" pitchFamily="34" charset="-120"/>
              </a:rPr>
              <a:t>NCBI</a:t>
            </a:r>
            <a:endParaRPr lang="en-US" sz="1600" dirty="0"/>
          </a:p>
        </p:txBody>
      </p:sp>
      <p:sp>
        <p:nvSpPr>
          <p:cNvPr id="10" name="Text 7"/>
          <p:cNvSpPr txBox="1"/>
          <p:nvPr/>
        </p:nvSpPr>
        <p:spPr>
          <a:xfrm>
            <a:off x="3429000" y="1600200"/>
            <a:ext cx="2240280" cy="2331720"/>
          </a:xfrm>
          <a:prstGeom prst="rect">
            <a:avLst/>
          </a:prstGeom>
          <a:noFill/>
          <a:ln/>
        </p:spPr>
        <p:txBody>
          <a:bodyPr wrap="square" lIns="0" tIns="0" rIns="0" bIns="0" rtlCol="0" anchor="t"/>
          <a:lstStyle/>
          <a:p>
            <a:pPr indent="0" marL="0">
              <a:buNone/>
            </a:pPr>
            <a:r>
              <a:rPr lang="en-US" sz="1400" dirty="0">
                <a:solidFill>
                  <a:srgbClr val="1A1A1A"/>
                </a:solidFill>
                <a:latin typeface="Calibri" pitchFamily="34" charset="0"/>
                <a:ea typeface="Calibri" pitchFamily="34" charset="-122"/>
                <a:cs typeface="Calibri" pitchFamily="34" charset="-120"/>
              </a:rPr>
              <a:t>Identifier-centric.</a:t>
            </a:r>
            <a:endParaRPr lang="en-US" sz="1400" dirty="0"/>
          </a:p>
          <a:p>
            <a:pPr indent="0" marL="0">
              <a:buNone/>
            </a:pPr>
            <a:endParaRPr lang="en-US" sz="1400" dirty="0"/>
          </a:p>
          <a:p>
            <a:pPr indent="0" marL="0">
              <a:buNone/>
            </a:pPr>
            <a:r>
              <a:rPr lang="en-US" sz="1400" dirty="0">
                <a:solidFill>
                  <a:srgbClr val="1A1A1A"/>
                </a:solidFill>
                <a:latin typeface="Calibri" pitchFamily="34" charset="0"/>
                <a:ea typeface="Calibri" pitchFamily="34" charset="-122"/>
                <a:cs typeface="Calibri" pitchFamily="34" charset="-120"/>
              </a:rPr>
              <a:t>Gene (GeneID), SRA (reads), GEO (expression), ClinVar (variants).</a:t>
            </a:r>
            <a:endParaRPr lang="en-US" sz="1400" dirty="0"/>
          </a:p>
          <a:p>
            <a:pPr indent="0" marL="0">
              <a:buNone/>
            </a:pPr>
            <a:endParaRPr lang="en-US" sz="1400" dirty="0"/>
          </a:p>
          <a:p>
            <a:pPr indent="0" marL="0">
              <a:buNone/>
            </a:pPr>
            <a:r>
              <a:rPr lang="en-US" sz="1400" dirty="0">
                <a:solidFill>
                  <a:srgbClr val="1A1A1A"/>
                </a:solidFill>
                <a:latin typeface="Calibri" pitchFamily="34" charset="0"/>
                <a:ea typeface="Calibri" pitchFamily="34" charset="-122"/>
                <a:cs typeface="Calibri" pitchFamily="34" charset="-120"/>
              </a:rPr>
              <a:t>Best for: tell me about this gene or dataset.</a:t>
            </a:r>
            <a:endParaRPr lang="en-US" sz="1400" dirty="0"/>
          </a:p>
          <a:p>
            <a:pPr indent="0" marL="0">
              <a:buNone/>
            </a:pPr>
            <a:endParaRPr lang="en-US" sz="1400" dirty="0"/>
          </a:p>
          <a:p>
            <a:pPr indent="0" marL="0">
              <a:buNone/>
            </a:pPr>
            <a:r>
              <a:rPr lang="en-US" sz="1400" dirty="0">
                <a:solidFill>
                  <a:srgbClr val="1A1A1A"/>
                </a:solidFill>
                <a:latin typeface="Calibri" pitchFamily="34" charset="0"/>
                <a:ea typeface="Calibri" pitchFamily="34" charset="-122"/>
                <a:cs typeface="Calibri" pitchFamily="34" charset="-120"/>
              </a:rPr>
              <a:t>Web, E-utilities, datasets CLI.</a:t>
            </a:r>
            <a:endParaRPr lang="en-US" sz="1400" dirty="0"/>
          </a:p>
        </p:txBody>
      </p:sp>
      <p:sp>
        <p:nvSpPr>
          <p:cNvPr id="11" name="Shape 8"/>
          <p:cNvSpPr/>
          <p:nvPr/>
        </p:nvSpPr>
        <p:spPr>
          <a:xfrm>
            <a:off x="6035040" y="1097280"/>
            <a:ext cx="2651760" cy="2926080"/>
          </a:xfrm>
          <a:prstGeom prst="roundRect">
            <a:avLst>
              <a:gd name="adj" fmla="val 2759"/>
            </a:avLst>
          </a:prstGeom>
          <a:solidFill>
            <a:srgbClr val="CADCFC"/>
          </a:solidFill>
          <a:ln w="12700">
            <a:solidFill>
              <a:srgbClr val="CADCFC"/>
            </a:solidFill>
            <a:prstDash val="solid"/>
          </a:ln>
        </p:spPr>
      </p:sp>
      <p:sp>
        <p:nvSpPr>
          <p:cNvPr id="12" name="Text 9"/>
          <p:cNvSpPr txBox="1"/>
          <p:nvPr/>
        </p:nvSpPr>
        <p:spPr>
          <a:xfrm>
            <a:off x="6217920" y="1207008"/>
            <a:ext cx="2286000" cy="365760"/>
          </a:xfrm>
          <a:prstGeom prst="rect">
            <a:avLst/>
          </a:prstGeom>
          <a:noFill/>
          <a:ln/>
        </p:spPr>
        <p:txBody>
          <a:bodyPr wrap="square" lIns="0" tIns="0" rIns="0" bIns="0" rtlCol="0" anchor="ctr"/>
          <a:lstStyle/>
          <a:p>
            <a:pPr indent="0" marL="0">
              <a:buNone/>
            </a:pPr>
            <a:r>
              <a:rPr lang="en-US" sz="1600" b="1" dirty="0">
                <a:solidFill>
                  <a:srgbClr val="0B3D59"/>
                </a:solidFill>
                <a:latin typeface="Cambria" pitchFamily="34" charset="0"/>
                <a:ea typeface="Cambria" pitchFamily="34" charset="-122"/>
                <a:cs typeface="Cambria" pitchFamily="34" charset="-120"/>
              </a:rPr>
              <a:t>Bridge keys</a:t>
            </a:r>
            <a:endParaRPr lang="en-US" sz="1600" dirty="0"/>
          </a:p>
        </p:txBody>
      </p:sp>
      <p:sp>
        <p:nvSpPr>
          <p:cNvPr id="13" name="Text 10"/>
          <p:cNvSpPr txBox="1"/>
          <p:nvPr/>
        </p:nvSpPr>
        <p:spPr>
          <a:xfrm>
            <a:off x="6217920" y="1600200"/>
            <a:ext cx="2286000" cy="2331720"/>
          </a:xfrm>
          <a:prstGeom prst="rect">
            <a:avLst/>
          </a:prstGeom>
          <a:noFill/>
          <a:ln/>
        </p:spPr>
        <p:txBody>
          <a:bodyPr wrap="square" lIns="0" tIns="0" rIns="0" bIns="0" rtlCol="0" anchor="t"/>
          <a:lstStyle/>
          <a:p>
            <a:pPr indent="0" marL="0">
              <a:buNone/>
            </a:pPr>
            <a:r>
              <a:rPr lang="en-US" sz="1400" dirty="0">
                <a:solidFill>
                  <a:srgbClr val="1A1A1A"/>
                </a:solidFill>
                <a:latin typeface="Calibri" pitchFamily="34" charset="0"/>
                <a:ea typeface="Calibri" pitchFamily="34" charset="-122"/>
                <a:cs typeface="Calibri" pitchFamily="34" charset="-120"/>
              </a:rPr>
              <a:t>How you join across them:</a:t>
            </a:r>
            <a:endParaRPr lang="en-US" sz="1400" dirty="0"/>
          </a:p>
          <a:p>
            <a:pPr indent="0" marL="0">
              <a:buNone/>
            </a:pPr>
            <a:endParaRPr lang="en-US" sz="1400" dirty="0"/>
          </a:p>
          <a:p>
            <a:pPr indent="0" marL="0">
              <a:buNone/>
            </a:pPr>
            <a:r>
              <a:rPr lang="en-US" sz="1400" dirty="0">
                <a:solidFill>
                  <a:srgbClr val="1A1A1A"/>
                </a:solidFill>
                <a:latin typeface="Calibri" pitchFamily="34" charset="0"/>
                <a:ea typeface="Calibri" pitchFamily="34" charset="-122"/>
                <a:cs typeface="Calibri" pitchFamily="34" charset="-120"/>
              </a:rPr>
              <a:t>NCBI GeneID (3845)</a:t>
            </a:r>
            <a:endParaRPr lang="en-US" sz="1400" dirty="0"/>
          </a:p>
          <a:p>
            <a:pPr indent="0" marL="0">
              <a:buNone/>
            </a:pPr>
            <a:r>
              <a:rPr lang="en-US" sz="1400" dirty="0">
                <a:solidFill>
                  <a:srgbClr val="1A1A1A"/>
                </a:solidFill>
                <a:latin typeface="Calibri" pitchFamily="34" charset="0"/>
                <a:ea typeface="Calibri" pitchFamily="34" charset="-122"/>
                <a:cs typeface="Calibri" pitchFamily="34" charset="-120"/>
              </a:rPr>
              <a:t>Ensembl gene (ENSG00000133703)</a:t>
            </a:r>
            <a:endParaRPr lang="en-US" sz="1400" dirty="0"/>
          </a:p>
          <a:p>
            <a:pPr indent="0" marL="0">
              <a:buNone/>
            </a:pPr>
            <a:r>
              <a:rPr lang="en-US" sz="1400" dirty="0">
                <a:solidFill>
                  <a:srgbClr val="1A1A1A"/>
                </a:solidFill>
                <a:latin typeface="Calibri" pitchFamily="34" charset="0"/>
                <a:ea typeface="Calibri" pitchFamily="34" charset="-122"/>
                <a:cs typeface="Calibri" pitchFamily="34" charset="-120"/>
              </a:rPr>
              <a:t>HGNC symbol (KRAS)</a:t>
            </a:r>
            <a:endParaRPr lang="en-US" sz="1400" dirty="0"/>
          </a:p>
          <a:p>
            <a:pPr indent="0" marL="0">
              <a:buNone/>
            </a:pPr>
            <a:endParaRPr lang="en-US" sz="1400" dirty="0"/>
          </a:p>
          <a:p>
            <a:pPr indent="0" marL="0">
              <a:buNone/>
            </a:pPr>
            <a:r>
              <a:rPr lang="en-US" sz="1400" dirty="0">
                <a:solidFill>
                  <a:srgbClr val="1A1A1A"/>
                </a:solidFill>
                <a:latin typeface="Calibri" pitchFamily="34" charset="0"/>
                <a:ea typeface="Calibri" pitchFamily="34" charset="-122"/>
                <a:cs typeface="Calibri" pitchFamily="34" charset="-120"/>
              </a:rPr>
              <a:t>IDs are stable. Symbols change.</a:t>
            </a:r>
            <a:endParaRPr lang="en-US" sz="1400" dirty="0"/>
          </a:p>
        </p:txBody>
      </p:sp>
      <p:sp>
        <p:nvSpPr>
          <p:cNvPr id="14" name="Text 11"/>
          <p:cNvSpPr txBox="1"/>
          <p:nvPr/>
        </p:nvSpPr>
        <p:spPr>
          <a:xfrm>
            <a:off x="457200" y="4160520"/>
            <a:ext cx="8229600" cy="548640"/>
          </a:xfrm>
          <a:prstGeom prst="rect">
            <a:avLst/>
          </a:prstGeom>
          <a:noFill/>
          <a:ln/>
        </p:spPr>
        <p:txBody>
          <a:bodyPr wrap="square" lIns="0" tIns="0" rIns="0" bIns="0" rtlCol="0" anchor="ctr"/>
          <a:lstStyle/>
          <a:p>
            <a:pPr indent="0" marL="0">
              <a:buNone/>
            </a:pPr>
            <a:r>
              <a:rPr lang="en-US" sz="1500" i="1" dirty="0">
                <a:solidFill>
                  <a:srgbClr val="0B3D59"/>
                </a:solidFill>
              </a:rPr>
              <a:t>UCSC rows carry the NCBI GeneID in an ncbiGene column. That one field is the join between the two worlds.</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9"/>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0B3D59"/>
                </a:solidFill>
                <a:latin typeface="Cambria" pitchFamily="34" charset="0"/>
                <a:ea typeface="Cambria" pitchFamily="34" charset="-122"/>
                <a:cs typeface="Cambria" pitchFamily="34" charset="-120"/>
              </a:rPr>
              <a:t>One real query: where is KRAS?</a:t>
            </a:r>
            <a:endParaRPr lang="en-US" sz="3000" dirty="0"/>
          </a:p>
        </p:txBody>
      </p:sp>
      <p:sp>
        <p:nvSpPr>
          <p:cNvPr id="3" name="Text 1"/>
          <p:cNvSpPr txBox="1"/>
          <p:nvPr/>
        </p:nvSpPr>
        <p:spPr>
          <a:xfrm>
            <a:off x="8412480" y="4754880"/>
            <a:ext cx="365760" cy="228600"/>
          </a:xfrm>
          <a:prstGeom prst="rect">
            <a:avLst/>
          </a:prstGeom>
          <a:noFill/>
          <a:ln/>
        </p:spPr>
        <p:txBody>
          <a:bodyPr wrap="square" lIns="0" tIns="0" rIns="0" bIns="0" rtlCol="0" anchor="ctr"/>
          <a:lstStyle/>
          <a:p>
            <a:pPr algn="r" indent="0" marL="0">
              <a:buNone/>
            </a:pPr>
            <a:r>
              <a:rPr lang="en-US" sz="1000" dirty="0">
                <a:solidFill>
                  <a:srgbClr val="5A6B75"/>
                </a:solidFill>
              </a:rPr>
              <a:t>11</a:t>
            </a:r>
            <a:endParaRPr lang="en-US" sz="1000" dirty="0"/>
          </a:p>
        </p:txBody>
      </p:sp>
      <p:sp>
        <p:nvSpPr>
          <p:cNvPr id="5" name="Shape 2"/>
          <p:cNvSpPr/>
          <p:nvPr/>
        </p:nvSpPr>
        <p:spPr>
          <a:xfrm>
            <a:off x="457200" y="1051560"/>
            <a:ext cx="8229600" cy="914400"/>
          </a:xfrm>
          <a:prstGeom prst="roundRect">
            <a:avLst>
              <a:gd name="adj" fmla="val 8000"/>
            </a:avLst>
          </a:prstGeom>
          <a:solidFill>
            <a:srgbClr val="082C40"/>
          </a:solidFill>
          <a:ln w="12700">
            <a:solidFill>
              <a:srgbClr val="082C40"/>
            </a:solidFill>
            <a:prstDash val="solid"/>
          </a:ln>
        </p:spPr>
      </p:sp>
      <p:sp>
        <p:nvSpPr>
          <p:cNvPr id="6" name="Text 3"/>
          <p:cNvSpPr txBox="1"/>
          <p:nvPr/>
        </p:nvSpPr>
        <p:spPr>
          <a:xfrm>
            <a:off x="594360" y="1124712"/>
            <a:ext cx="7955280" cy="768096"/>
          </a:xfrm>
          <a:prstGeom prst="rect">
            <a:avLst/>
          </a:prstGeom>
          <a:noFill/>
          <a:ln/>
        </p:spPr>
        <p:txBody>
          <a:bodyPr wrap="square" lIns="0" tIns="0" rIns="0" bIns="0" rtlCol="0" anchor="t"/>
          <a:lstStyle/>
          <a:p>
            <a:pPr indent="0" marL="0">
              <a:buNone/>
            </a:pPr>
            <a:r>
              <a:rPr lang="en-US" sz="1300" dirty="0">
                <a:solidFill>
                  <a:srgbClr val="E8EEF2"/>
                </a:solidFill>
                <a:latin typeface="Courier New" pitchFamily="34" charset="0"/>
                <a:ea typeface="Courier New" pitchFamily="34" charset="-122"/>
                <a:cs typeface="Courier New" pitchFamily="34" charset="-120"/>
              </a:rPr>
              <a:t>UCSC='https://api.genome.ucsc.edu/getData/track'</a:t>
            </a:r>
            <a:endParaRPr lang="en-US" sz="1300" dirty="0"/>
          </a:p>
          <a:p>
            <a:pPr indent="0" marL="0">
              <a:buNone/>
            </a:pPr>
            <a:r>
              <a:rPr lang="en-US" sz="1300" dirty="0">
                <a:solidFill>
                  <a:srgbClr val="E8EEF2"/>
                </a:solidFill>
                <a:latin typeface="Courier New" pitchFamily="34" charset="0"/>
                <a:ea typeface="Courier New" pitchFamily="34" charset="-122"/>
                <a:cs typeface="Courier New" pitchFamily="34" charset="-120"/>
              </a:rPr>
              <a:t>Q='genome=hg38;track=mane;chrom=chr12;start=25205000;end=25251000'</a:t>
            </a:r>
            <a:endParaRPr lang="en-US" sz="1300" dirty="0"/>
          </a:p>
          <a:p>
            <a:pPr indent="0" marL="0">
              <a:buNone/>
            </a:pPr>
            <a:r>
              <a:rPr lang="en-US" sz="1300" dirty="0">
                <a:solidFill>
                  <a:srgbClr val="E8EEF2"/>
                </a:solidFill>
                <a:latin typeface="Courier New" pitchFamily="34" charset="0"/>
                <a:ea typeface="Courier New" pitchFamily="34" charset="-122"/>
                <a:cs typeface="Courier New" pitchFamily="34" charset="-120"/>
              </a:rPr>
              <a:t>curl -s "$UCSC?$Q" | python3 -m json.tool | less</a:t>
            </a:r>
            <a:endParaRPr lang="en-US" sz="13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2194560"/>
          <a:ext cx="8229600" cy="914400"/>
        </p:xfrm>
        <a:graphic>
          <a:graphicData uri="http://schemas.openxmlformats.org/drawingml/2006/table">
            <a:tbl>
              <a:tblPr/>
              <a:tblGrid>
                <a:gridCol w="1737360"/>
                <a:gridCol w="914400"/>
                <a:gridCol w="1097280"/>
                <a:gridCol w="1097280"/>
                <a:gridCol w="640080"/>
                <a:gridCol w="1280160"/>
                <a:gridCol w="1463040"/>
              </a:tblGrid>
              <a:tr h="329184">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name</a:t>
                      </a:r>
                      <a:endParaRPr lang="en-US" sz="1200" dirty="0">
                        <a:latin typeface="Calibri" charset="0"/>
                        <a:ea typeface="Calibri" charset="0"/>
                        <a:cs typeface="Calibri" charset="0"/>
                      </a:endParaRPr>
                    </a:p>
                  </a:txBody>
                  <a:tcPr marL="73152" marR="73152" marT="27432" marB="27432" anchor="ctr">
                    <a:lnL w="6350" cap="flat" cmpd="sng" algn="ctr">
                      <a:solidFill>
                        <a:srgbClr val="D6DEE2"/>
                      </a:solidFill>
                      <a:prstDash val="solid"/>
                      <a:round/>
                      <a:headEnd type="none" w="med" len="med"/>
                      <a:tailEnd type="none" w="med" len="med"/>
                    </a:lnL>
                    <a:lnR w="6350" cap="flat" cmpd="sng" algn="ctr">
                      <a:solidFill>
                        <a:srgbClr val="D6DEE2"/>
                      </a:solidFill>
                      <a:prstDash val="solid"/>
                      <a:round/>
                      <a:headEnd type="none" w="med" len="med"/>
                      <a:tailEnd type="none" w="med" len="med"/>
                    </a:lnR>
                    <a:lnT w="6350" cap="flat" cmpd="sng" algn="ctr">
                      <a:solidFill>
                        <a:srgbClr val="D6DEE2"/>
                      </a:solidFill>
                      <a:prstDash val="solid"/>
                      <a:round/>
                      <a:headEnd type="none" w="med" len="med"/>
                      <a:tailEnd type="none" w="med" len="med"/>
                    </a:lnT>
                    <a:lnB w="6350" cap="flat" cmpd="sng" algn="ctr">
                      <a:solidFill>
                        <a:srgbClr val="D6DEE2"/>
                      </a:solidFill>
                      <a:prstDash val="solid"/>
                      <a:round/>
                      <a:headEnd type="none" w="med" len="med"/>
                      <a:tailEnd type="none" w="med" len="med"/>
                    </a:lnB>
                    <a:solidFill>
                      <a:srgbClr val="1C7293"/>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geneName2</a:t>
                      </a:r>
                      <a:endParaRPr lang="en-US" sz="1200" dirty="0">
                        <a:latin typeface="Calibri" charset="0"/>
                        <a:ea typeface="Calibri" charset="0"/>
                        <a:cs typeface="Calibri" charset="0"/>
                      </a:endParaRPr>
                    </a:p>
                  </a:txBody>
                  <a:tcPr marL="73152" marR="73152" marT="27432" marB="27432" anchor="ctr">
                    <a:lnL w="6350" cap="flat" cmpd="sng" algn="ctr">
                      <a:solidFill>
                        <a:srgbClr val="D6DEE2"/>
                      </a:solidFill>
                      <a:prstDash val="solid"/>
                      <a:round/>
                      <a:headEnd type="none" w="med" len="med"/>
                      <a:tailEnd type="none" w="med" len="med"/>
                    </a:lnL>
                    <a:lnR w="6350" cap="flat" cmpd="sng" algn="ctr">
                      <a:solidFill>
                        <a:srgbClr val="D6DEE2"/>
                      </a:solidFill>
                      <a:prstDash val="solid"/>
                      <a:round/>
                      <a:headEnd type="none" w="med" len="med"/>
                      <a:tailEnd type="none" w="med" len="med"/>
                    </a:lnR>
                    <a:lnT w="6350" cap="flat" cmpd="sng" algn="ctr">
                      <a:solidFill>
                        <a:srgbClr val="D6DEE2"/>
                      </a:solidFill>
                      <a:prstDash val="solid"/>
                      <a:round/>
                      <a:headEnd type="none" w="med" len="med"/>
                      <a:tailEnd type="none" w="med" len="med"/>
                    </a:lnT>
                    <a:lnB w="6350" cap="flat" cmpd="sng" algn="ctr">
                      <a:solidFill>
                        <a:srgbClr val="D6DEE2"/>
                      </a:solidFill>
                      <a:prstDash val="solid"/>
                      <a:round/>
                      <a:headEnd type="none" w="med" len="med"/>
                      <a:tailEnd type="none" w="med" len="med"/>
                    </a:lnB>
                    <a:solidFill>
                      <a:srgbClr val="1C7293"/>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chromStart</a:t>
                      </a:r>
                      <a:endParaRPr lang="en-US" sz="1200" dirty="0">
                        <a:latin typeface="Calibri" charset="0"/>
                        <a:ea typeface="Calibri" charset="0"/>
                        <a:cs typeface="Calibri" charset="0"/>
                      </a:endParaRPr>
                    </a:p>
                  </a:txBody>
                  <a:tcPr marL="73152" marR="73152" marT="27432" marB="27432" anchor="ctr">
                    <a:lnL w="6350" cap="flat" cmpd="sng" algn="ctr">
                      <a:solidFill>
                        <a:srgbClr val="D6DEE2"/>
                      </a:solidFill>
                      <a:prstDash val="solid"/>
                      <a:round/>
                      <a:headEnd type="none" w="med" len="med"/>
                      <a:tailEnd type="none" w="med" len="med"/>
                    </a:lnL>
                    <a:lnR w="6350" cap="flat" cmpd="sng" algn="ctr">
                      <a:solidFill>
                        <a:srgbClr val="D6DEE2"/>
                      </a:solidFill>
                      <a:prstDash val="solid"/>
                      <a:round/>
                      <a:headEnd type="none" w="med" len="med"/>
                      <a:tailEnd type="none" w="med" len="med"/>
                    </a:lnR>
                    <a:lnT w="6350" cap="flat" cmpd="sng" algn="ctr">
                      <a:solidFill>
                        <a:srgbClr val="D6DEE2"/>
                      </a:solidFill>
                      <a:prstDash val="solid"/>
                      <a:round/>
                      <a:headEnd type="none" w="med" len="med"/>
                      <a:tailEnd type="none" w="med" len="med"/>
                    </a:lnT>
                    <a:lnB w="6350" cap="flat" cmpd="sng" algn="ctr">
                      <a:solidFill>
                        <a:srgbClr val="D6DEE2"/>
                      </a:solidFill>
                      <a:prstDash val="solid"/>
                      <a:round/>
                      <a:headEnd type="none" w="med" len="med"/>
                      <a:tailEnd type="none" w="med" len="med"/>
                    </a:lnB>
                    <a:solidFill>
                      <a:srgbClr val="1C7293"/>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chromEnd</a:t>
                      </a:r>
                      <a:endParaRPr lang="en-US" sz="1200" dirty="0">
                        <a:latin typeface="Calibri" charset="0"/>
                        <a:ea typeface="Calibri" charset="0"/>
                        <a:cs typeface="Calibri" charset="0"/>
                      </a:endParaRPr>
                    </a:p>
                  </a:txBody>
                  <a:tcPr marL="73152" marR="73152" marT="27432" marB="27432" anchor="ctr">
                    <a:lnL w="6350" cap="flat" cmpd="sng" algn="ctr">
                      <a:solidFill>
                        <a:srgbClr val="D6DEE2"/>
                      </a:solidFill>
                      <a:prstDash val="solid"/>
                      <a:round/>
                      <a:headEnd type="none" w="med" len="med"/>
                      <a:tailEnd type="none" w="med" len="med"/>
                    </a:lnL>
                    <a:lnR w="6350" cap="flat" cmpd="sng" algn="ctr">
                      <a:solidFill>
                        <a:srgbClr val="D6DEE2"/>
                      </a:solidFill>
                      <a:prstDash val="solid"/>
                      <a:round/>
                      <a:headEnd type="none" w="med" len="med"/>
                      <a:tailEnd type="none" w="med" len="med"/>
                    </a:lnR>
                    <a:lnT w="6350" cap="flat" cmpd="sng" algn="ctr">
                      <a:solidFill>
                        <a:srgbClr val="D6DEE2"/>
                      </a:solidFill>
                      <a:prstDash val="solid"/>
                      <a:round/>
                      <a:headEnd type="none" w="med" len="med"/>
                      <a:tailEnd type="none" w="med" len="med"/>
                    </a:lnT>
                    <a:lnB w="6350" cap="flat" cmpd="sng" algn="ctr">
                      <a:solidFill>
                        <a:srgbClr val="D6DEE2"/>
                      </a:solidFill>
                      <a:prstDash val="solid"/>
                      <a:round/>
                      <a:headEnd type="none" w="med" len="med"/>
                      <a:tailEnd type="none" w="med" len="med"/>
                    </a:lnB>
                    <a:solidFill>
                      <a:srgbClr val="1C7293"/>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strand</a:t>
                      </a:r>
                      <a:endParaRPr lang="en-US" sz="1200" dirty="0">
                        <a:latin typeface="Calibri" charset="0"/>
                        <a:ea typeface="Calibri" charset="0"/>
                        <a:cs typeface="Calibri" charset="0"/>
                      </a:endParaRPr>
                    </a:p>
                  </a:txBody>
                  <a:tcPr marL="73152" marR="73152" marT="27432" marB="27432" anchor="ctr">
                    <a:lnL w="6350" cap="flat" cmpd="sng" algn="ctr">
                      <a:solidFill>
                        <a:srgbClr val="D6DEE2"/>
                      </a:solidFill>
                      <a:prstDash val="solid"/>
                      <a:round/>
                      <a:headEnd type="none" w="med" len="med"/>
                      <a:tailEnd type="none" w="med" len="med"/>
                    </a:lnL>
                    <a:lnR w="6350" cap="flat" cmpd="sng" algn="ctr">
                      <a:solidFill>
                        <a:srgbClr val="D6DEE2"/>
                      </a:solidFill>
                      <a:prstDash val="solid"/>
                      <a:round/>
                      <a:headEnd type="none" w="med" len="med"/>
                      <a:tailEnd type="none" w="med" len="med"/>
                    </a:lnR>
                    <a:lnT w="6350" cap="flat" cmpd="sng" algn="ctr">
                      <a:solidFill>
                        <a:srgbClr val="D6DEE2"/>
                      </a:solidFill>
                      <a:prstDash val="solid"/>
                      <a:round/>
                      <a:headEnd type="none" w="med" len="med"/>
                      <a:tailEnd type="none" w="med" len="med"/>
                    </a:lnT>
                    <a:lnB w="6350" cap="flat" cmpd="sng" algn="ctr">
                      <a:solidFill>
                        <a:srgbClr val="D6DEE2"/>
                      </a:solidFill>
                      <a:prstDash val="solid"/>
                      <a:round/>
                      <a:headEnd type="none" w="med" len="med"/>
                      <a:tailEnd type="none" w="med" len="med"/>
                    </a:lnB>
                    <a:solidFill>
                      <a:srgbClr val="1C7293"/>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ncbiGene</a:t>
                      </a:r>
                      <a:endParaRPr lang="en-US" sz="1200" dirty="0">
                        <a:latin typeface="Calibri" charset="0"/>
                        <a:ea typeface="Calibri" charset="0"/>
                        <a:cs typeface="Calibri" charset="0"/>
                      </a:endParaRPr>
                    </a:p>
                  </a:txBody>
                  <a:tcPr marL="73152" marR="73152" marT="27432" marB="27432" anchor="ctr">
                    <a:lnL w="6350" cap="flat" cmpd="sng" algn="ctr">
                      <a:solidFill>
                        <a:srgbClr val="D6DEE2"/>
                      </a:solidFill>
                      <a:prstDash val="solid"/>
                      <a:round/>
                      <a:headEnd type="none" w="med" len="med"/>
                      <a:tailEnd type="none" w="med" len="med"/>
                    </a:lnL>
                    <a:lnR w="6350" cap="flat" cmpd="sng" algn="ctr">
                      <a:solidFill>
                        <a:srgbClr val="D6DEE2"/>
                      </a:solidFill>
                      <a:prstDash val="solid"/>
                      <a:round/>
                      <a:headEnd type="none" w="med" len="med"/>
                      <a:tailEnd type="none" w="med" len="med"/>
                    </a:lnR>
                    <a:lnT w="6350" cap="flat" cmpd="sng" algn="ctr">
                      <a:solidFill>
                        <a:srgbClr val="D6DEE2"/>
                      </a:solidFill>
                      <a:prstDash val="solid"/>
                      <a:round/>
                      <a:headEnd type="none" w="med" len="med"/>
                      <a:tailEnd type="none" w="med" len="med"/>
                    </a:lnT>
                    <a:lnB w="6350" cap="flat" cmpd="sng" algn="ctr">
                      <a:solidFill>
                        <a:srgbClr val="D6DEE2"/>
                      </a:solidFill>
                      <a:prstDash val="solid"/>
                      <a:round/>
                      <a:headEnd type="none" w="med" len="med"/>
                      <a:tailEnd type="none" w="med" len="med"/>
                    </a:lnB>
                    <a:solidFill>
                      <a:srgbClr val="1C7293"/>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maneStat</a:t>
                      </a:r>
                      <a:endParaRPr lang="en-US" sz="1200" dirty="0">
                        <a:latin typeface="Calibri" charset="0"/>
                        <a:ea typeface="Calibri" charset="0"/>
                        <a:cs typeface="Calibri" charset="0"/>
                      </a:endParaRPr>
                    </a:p>
                  </a:txBody>
                  <a:tcPr marL="73152" marR="73152" marT="27432" marB="27432" anchor="ctr">
                    <a:lnL w="6350" cap="flat" cmpd="sng" algn="ctr">
                      <a:solidFill>
                        <a:srgbClr val="D6DEE2"/>
                      </a:solidFill>
                      <a:prstDash val="solid"/>
                      <a:round/>
                      <a:headEnd type="none" w="med" len="med"/>
                      <a:tailEnd type="none" w="med" len="med"/>
                    </a:lnL>
                    <a:lnR w="6350" cap="flat" cmpd="sng" algn="ctr">
                      <a:solidFill>
                        <a:srgbClr val="D6DEE2"/>
                      </a:solidFill>
                      <a:prstDash val="solid"/>
                      <a:round/>
                      <a:headEnd type="none" w="med" len="med"/>
                      <a:tailEnd type="none" w="med" len="med"/>
                    </a:lnR>
                    <a:lnT w="6350" cap="flat" cmpd="sng" algn="ctr">
                      <a:solidFill>
                        <a:srgbClr val="D6DEE2"/>
                      </a:solidFill>
                      <a:prstDash val="solid"/>
                      <a:round/>
                      <a:headEnd type="none" w="med" len="med"/>
                      <a:tailEnd type="none" w="med" len="med"/>
                    </a:lnT>
                    <a:lnB w="6350" cap="flat" cmpd="sng" algn="ctr">
                      <a:solidFill>
                        <a:srgbClr val="D6DEE2"/>
                      </a:solidFill>
                      <a:prstDash val="solid"/>
                      <a:round/>
                      <a:headEnd type="none" w="med" len="med"/>
                      <a:tailEnd type="none" w="med" len="med"/>
                    </a:lnB>
                    <a:solidFill>
                      <a:srgbClr val="1C7293"/>
                    </a:solidFill>
                  </a:tcPr>
                </a:tc>
              </a:tr>
              <a:tr h="329184">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ENST00000311936.8</a:t>
                      </a:r>
                      <a:endParaRPr lang="en-US" sz="1200" dirty="0">
                        <a:latin typeface="Calibri" charset="0"/>
                        <a:ea typeface="Calibri" charset="0"/>
                        <a:cs typeface="Calibri" charset="0"/>
                      </a:endParaRPr>
                    </a:p>
                  </a:txBody>
                  <a:tcPr marL="73152" marR="73152" marT="27432" marB="27432" anchor="ctr">
                    <a:lnL w="6350" cap="flat" cmpd="sng" algn="ctr">
                      <a:solidFill>
                        <a:srgbClr val="D6DEE2"/>
                      </a:solidFill>
                      <a:prstDash val="solid"/>
                      <a:round/>
                      <a:headEnd type="none" w="med" len="med"/>
                      <a:tailEnd type="none" w="med" len="med"/>
                    </a:lnL>
                    <a:lnR w="6350" cap="flat" cmpd="sng" algn="ctr">
                      <a:solidFill>
                        <a:srgbClr val="D6DEE2"/>
                      </a:solidFill>
                      <a:prstDash val="solid"/>
                      <a:round/>
                      <a:headEnd type="none" w="med" len="med"/>
                      <a:tailEnd type="none" w="med" len="med"/>
                    </a:lnR>
                    <a:lnT w="6350" cap="flat" cmpd="sng" algn="ctr">
                      <a:solidFill>
                        <a:srgbClr val="D6DEE2"/>
                      </a:solidFill>
                      <a:prstDash val="solid"/>
                      <a:round/>
                      <a:headEnd type="none" w="med" len="med"/>
                      <a:tailEnd type="none" w="med" len="med"/>
                    </a:lnT>
                    <a:lnB w="6350" cap="flat" cmpd="sng" algn="ctr">
                      <a:solidFill>
                        <a:srgbClr val="D6DEE2"/>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KRAS</a:t>
                      </a:r>
                      <a:endParaRPr lang="en-US" sz="1200" dirty="0">
                        <a:latin typeface="Calibri" charset="0"/>
                        <a:ea typeface="Calibri" charset="0"/>
                        <a:cs typeface="Calibri" charset="0"/>
                      </a:endParaRPr>
                    </a:p>
                  </a:txBody>
                  <a:tcPr marL="73152" marR="73152" marT="27432" marB="27432" anchor="ctr">
                    <a:lnL w="6350" cap="flat" cmpd="sng" algn="ctr">
                      <a:solidFill>
                        <a:srgbClr val="D6DEE2"/>
                      </a:solidFill>
                      <a:prstDash val="solid"/>
                      <a:round/>
                      <a:headEnd type="none" w="med" len="med"/>
                      <a:tailEnd type="none" w="med" len="med"/>
                    </a:lnL>
                    <a:lnR w="6350" cap="flat" cmpd="sng" algn="ctr">
                      <a:solidFill>
                        <a:srgbClr val="D6DEE2"/>
                      </a:solidFill>
                      <a:prstDash val="solid"/>
                      <a:round/>
                      <a:headEnd type="none" w="med" len="med"/>
                      <a:tailEnd type="none" w="med" len="med"/>
                    </a:lnR>
                    <a:lnT w="6350" cap="flat" cmpd="sng" algn="ctr">
                      <a:solidFill>
                        <a:srgbClr val="D6DEE2"/>
                      </a:solidFill>
                      <a:prstDash val="solid"/>
                      <a:round/>
                      <a:headEnd type="none" w="med" len="med"/>
                      <a:tailEnd type="none" w="med" len="med"/>
                    </a:lnT>
                    <a:lnB w="6350" cap="flat" cmpd="sng" algn="ctr">
                      <a:solidFill>
                        <a:srgbClr val="D6DEE2"/>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25205245</a:t>
                      </a:r>
                      <a:endParaRPr lang="en-US" sz="1200" dirty="0">
                        <a:latin typeface="Calibri" charset="0"/>
                        <a:ea typeface="Calibri" charset="0"/>
                        <a:cs typeface="Calibri" charset="0"/>
                      </a:endParaRPr>
                    </a:p>
                  </a:txBody>
                  <a:tcPr marL="73152" marR="73152" marT="27432" marB="27432" anchor="ctr">
                    <a:lnL w="6350" cap="flat" cmpd="sng" algn="ctr">
                      <a:solidFill>
                        <a:srgbClr val="D6DEE2"/>
                      </a:solidFill>
                      <a:prstDash val="solid"/>
                      <a:round/>
                      <a:headEnd type="none" w="med" len="med"/>
                      <a:tailEnd type="none" w="med" len="med"/>
                    </a:lnL>
                    <a:lnR w="6350" cap="flat" cmpd="sng" algn="ctr">
                      <a:solidFill>
                        <a:srgbClr val="D6DEE2"/>
                      </a:solidFill>
                      <a:prstDash val="solid"/>
                      <a:round/>
                      <a:headEnd type="none" w="med" len="med"/>
                      <a:tailEnd type="none" w="med" len="med"/>
                    </a:lnR>
                    <a:lnT w="6350" cap="flat" cmpd="sng" algn="ctr">
                      <a:solidFill>
                        <a:srgbClr val="D6DEE2"/>
                      </a:solidFill>
                      <a:prstDash val="solid"/>
                      <a:round/>
                      <a:headEnd type="none" w="med" len="med"/>
                      <a:tailEnd type="none" w="med" len="med"/>
                    </a:lnT>
                    <a:lnB w="6350" cap="flat" cmpd="sng" algn="ctr">
                      <a:solidFill>
                        <a:srgbClr val="D6DEE2"/>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25250929</a:t>
                      </a:r>
                      <a:endParaRPr lang="en-US" sz="1200" dirty="0">
                        <a:latin typeface="Calibri" charset="0"/>
                        <a:ea typeface="Calibri" charset="0"/>
                        <a:cs typeface="Calibri" charset="0"/>
                      </a:endParaRPr>
                    </a:p>
                  </a:txBody>
                  <a:tcPr marL="73152" marR="73152" marT="27432" marB="27432" anchor="ctr">
                    <a:lnL w="6350" cap="flat" cmpd="sng" algn="ctr">
                      <a:solidFill>
                        <a:srgbClr val="D6DEE2"/>
                      </a:solidFill>
                      <a:prstDash val="solid"/>
                      <a:round/>
                      <a:headEnd type="none" w="med" len="med"/>
                      <a:tailEnd type="none" w="med" len="med"/>
                    </a:lnL>
                    <a:lnR w="6350" cap="flat" cmpd="sng" algn="ctr">
                      <a:solidFill>
                        <a:srgbClr val="D6DEE2"/>
                      </a:solidFill>
                      <a:prstDash val="solid"/>
                      <a:round/>
                      <a:headEnd type="none" w="med" len="med"/>
                      <a:tailEnd type="none" w="med" len="med"/>
                    </a:lnR>
                    <a:lnT w="6350" cap="flat" cmpd="sng" algn="ctr">
                      <a:solidFill>
                        <a:srgbClr val="D6DEE2"/>
                      </a:solidFill>
                      <a:prstDash val="solid"/>
                      <a:round/>
                      <a:headEnd type="none" w="med" len="med"/>
                      <a:tailEnd type="none" w="med" len="med"/>
                    </a:lnT>
                    <a:lnB w="6350" cap="flat" cmpd="sng" algn="ctr">
                      <a:solidFill>
                        <a:srgbClr val="D6DEE2"/>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3152" marR="73152" marT="27432" marB="27432" anchor="ctr">
                    <a:lnL w="6350" cap="flat" cmpd="sng" algn="ctr">
                      <a:solidFill>
                        <a:srgbClr val="D6DEE2"/>
                      </a:solidFill>
                      <a:prstDash val="solid"/>
                      <a:round/>
                      <a:headEnd type="none" w="med" len="med"/>
                      <a:tailEnd type="none" w="med" len="med"/>
                    </a:lnL>
                    <a:lnR w="6350" cap="flat" cmpd="sng" algn="ctr">
                      <a:solidFill>
                        <a:srgbClr val="D6DEE2"/>
                      </a:solidFill>
                      <a:prstDash val="solid"/>
                      <a:round/>
                      <a:headEnd type="none" w="med" len="med"/>
                      <a:tailEnd type="none" w="med" len="med"/>
                    </a:lnR>
                    <a:lnT w="6350" cap="flat" cmpd="sng" algn="ctr">
                      <a:solidFill>
                        <a:srgbClr val="D6DEE2"/>
                      </a:solidFill>
                      <a:prstDash val="solid"/>
                      <a:round/>
                      <a:headEnd type="none" w="med" len="med"/>
                      <a:tailEnd type="none" w="med" len="med"/>
                    </a:lnT>
                    <a:lnB w="6350" cap="flat" cmpd="sng" algn="ctr">
                      <a:solidFill>
                        <a:srgbClr val="D6DEE2"/>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GeneID:3845</a:t>
                      </a:r>
                      <a:endParaRPr lang="en-US" sz="1200" dirty="0">
                        <a:latin typeface="Calibri" charset="0"/>
                        <a:ea typeface="Calibri" charset="0"/>
                        <a:cs typeface="Calibri" charset="0"/>
                      </a:endParaRPr>
                    </a:p>
                  </a:txBody>
                  <a:tcPr marL="73152" marR="73152" marT="27432" marB="27432" anchor="ctr">
                    <a:lnL w="6350" cap="flat" cmpd="sng" algn="ctr">
                      <a:solidFill>
                        <a:srgbClr val="D6DEE2"/>
                      </a:solidFill>
                      <a:prstDash val="solid"/>
                      <a:round/>
                      <a:headEnd type="none" w="med" len="med"/>
                      <a:tailEnd type="none" w="med" len="med"/>
                    </a:lnL>
                    <a:lnR w="6350" cap="flat" cmpd="sng" algn="ctr">
                      <a:solidFill>
                        <a:srgbClr val="D6DEE2"/>
                      </a:solidFill>
                      <a:prstDash val="solid"/>
                      <a:round/>
                      <a:headEnd type="none" w="med" len="med"/>
                      <a:tailEnd type="none" w="med" len="med"/>
                    </a:lnR>
                    <a:lnT w="6350" cap="flat" cmpd="sng" algn="ctr">
                      <a:solidFill>
                        <a:srgbClr val="D6DEE2"/>
                      </a:solidFill>
                      <a:prstDash val="solid"/>
                      <a:round/>
                      <a:headEnd type="none" w="med" len="med"/>
                      <a:tailEnd type="none" w="med" len="med"/>
                    </a:lnT>
                    <a:lnB w="6350" cap="flat" cmpd="sng" algn="ctr">
                      <a:solidFill>
                        <a:srgbClr val="D6DEE2"/>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MANE Select</a:t>
                      </a:r>
                      <a:endParaRPr lang="en-US" sz="1200" dirty="0">
                        <a:latin typeface="Calibri" charset="0"/>
                        <a:ea typeface="Calibri" charset="0"/>
                        <a:cs typeface="Calibri" charset="0"/>
                      </a:endParaRPr>
                    </a:p>
                  </a:txBody>
                  <a:tcPr marL="73152" marR="73152" marT="27432" marB="27432" anchor="ctr">
                    <a:lnL w="6350" cap="flat" cmpd="sng" algn="ctr">
                      <a:solidFill>
                        <a:srgbClr val="D6DEE2"/>
                      </a:solidFill>
                      <a:prstDash val="solid"/>
                      <a:round/>
                      <a:headEnd type="none" w="med" len="med"/>
                      <a:tailEnd type="none" w="med" len="med"/>
                    </a:lnL>
                    <a:lnR w="6350" cap="flat" cmpd="sng" algn="ctr">
                      <a:solidFill>
                        <a:srgbClr val="D6DEE2"/>
                      </a:solidFill>
                      <a:prstDash val="solid"/>
                      <a:round/>
                      <a:headEnd type="none" w="med" len="med"/>
                      <a:tailEnd type="none" w="med" len="med"/>
                    </a:lnR>
                    <a:lnT w="6350" cap="flat" cmpd="sng" algn="ctr">
                      <a:solidFill>
                        <a:srgbClr val="D6DEE2"/>
                      </a:solidFill>
                      <a:prstDash val="solid"/>
                      <a:round/>
                      <a:headEnd type="none" w="med" len="med"/>
                      <a:tailEnd type="none" w="med" len="med"/>
                    </a:lnT>
                    <a:lnB w="6350" cap="flat" cmpd="sng" algn="ctr">
                      <a:solidFill>
                        <a:srgbClr val="D6DEE2"/>
                      </a:solidFill>
                      <a:prstDash val="solid"/>
                      <a:round/>
                      <a:headEnd type="none" w="med" len="med"/>
                      <a:tailEnd type="none" w="med" len="med"/>
                    </a:lnB>
                    <a:solidFill>
                      <a:srgbClr val="FFFFFF"/>
                    </a:solidFill>
                  </a:tcPr>
                </a:tc>
              </a:tr>
              <a:tr h="329184">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ENST00000256078.10</a:t>
                      </a:r>
                      <a:endParaRPr lang="en-US" sz="1200" dirty="0">
                        <a:latin typeface="Calibri" charset="0"/>
                        <a:ea typeface="Calibri" charset="0"/>
                        <a:cs typeface="Calibri" charset="0"/>
                      </a:endParaRPr>
                    </a:p>
                  </a:txBody>
                  <a:tcPr marL="73152" marR="73152" marT="27432" marB="27432" anchor="ctr">
                    <a:lnL w="6350" cap="flat" cmpd="sng" algn="ctr">
                      <a:solidFill>
                        <a:srgbClr val="D6DEE2"/>
                      </a:solidFill>
                      <a:prstDash val="solid"/>
                      <a:round/>
                      <a:headEnd type="none" w="med" len="med"/>
                      <a:tailEnd type="none" w="med" len="med"/>
                    </a:lnL>
                    <a:lnR w="6350" cap="flat" cmpd="sng" algn="ctr">
                      <a:solidFill>
                        <a:srgbClr val="D6DEE2"/>
                      </a:solidFill>
                      <a:prstDash val="solid"/>
                      <a:round/>
                      <a:headEnd type="none" w="med" len="med"/>
                      <a:tailEnd type="none" w="med" len="med"/>
                    </a:lnR>
                    <a:lnT w="6350" cap="flat" cmpd="sng" algn="ctr">
                      <a:solidFill>
                        <a:srgbClr val="D6DEE2"/>
                      </a:solidFill>
                      <a:prstDash val="solid"/>
                      <a:round/>
                      <a:headEnd type="none" w="med" len="med"/>
                      <a:tailEnd type="none" w="med" len="med"/>
                    </a:lnT>
                    <a:lnB w="6350" cap="flat" cmpd="sng" algn="ctr">
                      <a:solidFill>
                        <a:srgbClr val="D6DEE2"/>
                      </a:solidFill>
                      <a:prstDash val="solid"/>
                      <a:round/>
                      <a:headEnd type="none" w="med" len="med"/>
                      <a:tailEnd type="none" w="med" len="med"/>
                    </a:lnB>
                    <a:solidFill>
                      <a:srgbClr val="E3E9EC"/>
                    </a:solidFill>
                  </a:tcPr>
                </a:tc>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KRAS</a:t>
                      </a:r>
                      <a:endParaRPr lang="en-US" sz="1200" dirty="0">
                        <a:latin typeface="Calibri" charset="0"/>
                        <a:ea typeface="Calibri" charset="0"/>
                        <a:cs typeface="Calibri" charset="0"/>
                      </a:endParaRPr>
                    </a:p>
                  </a:txBody>
                  <a:tcPr marL="73152" marR="73152" marT="27432" marB="27432" anchor="ctr">
                    <a:lnL w="6350" cap="flat" cmpd="sng" algn="ctr">
                      <a:solidFill>
                        <a:srgbClr val="D6DEE2"/>
                      </a:solidFill>
                      <a:prstDash val="solid"/>
                      <a:round/>
                      <a:headEnd type="none" w="med" len="med"/>
                      <a:tailEnd type="none" w="med" len="med"/>
                    </a:lnL>
                    <a:lnR w="6350" cap="flat" cmpd="sng" algn="ctr">
                      <a:solidFill>
                        <a:srgbClr val="D6DEE2"/>
                      </a:solidFill>
                      <a:prstDash val="solid"/>
                      <a:round/>
                      <a:headEnd type="none" w="med" len="med"/>
                      <a:tailEnd type="none" w="med" len="med"/>
                    </a:lnR>
                    <a:lnT w="6350" cap="flat" cmpd="sng" algn="ctr">
                      <a:solidFill>
                        <a:srgbClr val="D6DEE2"/>
                      </a:solidFill>
                      <a:prstDash val="solid"/>
                      <a:round/>
                      <a:headEnd type="none" w="med" len="med"/>
                      <a:tailEnd type="none" w="med" len="med"/>
                    </a:lnT>
                    <a:lnB w="6350" cap="flat" cmpd="sng" algn="ctr">
                      <a:solidFill>
                        <a:srgbClr val="D6DEE2"/>
                      </a:solidFill>
                      <a:prstDash val="solid"/>
                      <a:round/>
                      <a:headEnd type="none" w="med" len="med"/>
                      <a:tailEnd type="none" w="med" len="med"/>
                    </a:lnB>
                    <a:solidFill>
                      <a:srgbClr val="E3E9EC"/>
                    </a:solidFill>
                  </a:tcPr>
                </a:tc>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25205245</a:t>
                      </a:r>
                      <a:endParaRPr lang="en-US" sz="1200" dirty="0">
                        <a:latin typeface="Calibri" charset="0"/>
                        <a:ea typeface="Calibri" charset="0"/>
                        <a:cs typeface="Calibri" charset="0"/>
                      </a:endParaRPr>
                    </a:p>
                  </a:txBody>
                  <a:tcPr marL="73152" marR="73152" marT="27432" marB="27432" anchor="ctr">
                    <a:lnL w="6350" cap="flat" cmpd="sng" algn="ctr">
                      <a:solidFill>
                        <a:srgbClr val="D6DEE2"/>
                      </a:solidFill>
                      <a:prstDash val="solid"/>
                      <a:round/>
                      <a:headEnd type="none" w="med" len="med"/>
                      <a:tailEnd type="none" w="med" len="med"/>
                    </a:lnL>
                    <a:lnR w="6350" cap="flat" cmpd="sng" algn="ctr">
                      <a:solidFill>
                        <a:srgbClr val="D6DEE2"/>
                      </a:solidFill>
                      <a:prstDash val="solid"/>
                      <a:round/>
                      <a:headEnd type="none" w="med" len="med"/>
                      <a:tailEnd type="none" w="med" len="med"/>
                    </a:lnR>
                    <a:lnT w="6350" cap="flat" cmpd="sng" algn="ctr">
                      <a:solidFill>
                        <a:srgbClr val="D6DEE2"/>
                      </a:solidFill>
                      <a:prstDash val="solid"/>
                      <a:round/>
                      <a:headEnd type="none" w="med" len="med"/>
                      <a:tailEnd type="none" w="med" len="med"/>
                    </a:lnT>
                    <a:lnB w="6350" cap="flat" cmpd="sng" algn="ctr">
                      <a:solidFill>
                        <a:srgbClr val="D6DEE2"/>
                      </a:solidFill>
                      <a:prstDash val="solid"/>
                      <a:round/>
                      <a:headEnd type="none" w="med" len="med"/>
                      <a:tailEnd type="none" w="med" len="med"/>
                    </a:lnB>
                    <a:solidFill>
                      <a:srgbClr val="E3E9EC"/>
                    </a:solidFill>
                  </a:tcPr>
                </a:tc>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25250929</a:t>
                      </a:r>
                      <a:endParaRPr lang="en-US" sz="1200" dirty="0">
                        <a:latin typeface="Calibri" charset="0"/>
                        <a:ea typeface="Calibri" charset="0"/>
                        <a:cs typeface="Calibri" charset="0"/>
                      </a:endParaRPr>
                    </a:p>
                  </a:txBody>
                  <a:tcPr marL="73152" marR="73152" marT="27432" marB="27432" anchor="ctr">
                    <a:lnL w="6350" cap="flat" cmpd="sng" algn="ctr">
                      <a:solidFill>
                        <a:srgbClr val="D6DEE2"/>
                      </a:solidFill>
                      <a:prstDash val="solid"/>
                      <a:round/>
                      <a:headEnd type="none" w="med" len="med"/>
                      <a:tailEnd type="none" w="med" len="med"/>
                    </a:lnL>
                    <a:lnR w="6350" cap="flat" cmpd="sng" algn="ctr">
                      <a:solidFill>
                        <a:srgbClr val="D6DEE2"/>
                      </a:solidFill>
                      <a:prstDash val="solid"/>
                      <a:round/>
                      <a:headEnd type="none" w="med" len="med"/>
                      <a:tailEnd type="none" w="med" len="med"/>
                    </a:lnR>
                    <a:lnT w="6350" cap="flat" cmpd="sng" algn="ctr">
                      <a:solidFill>
                        <a:srgbClr val="D6DEE2"/>
                      </a:solidFill>
                      <a:prstDash val="solid"/>
                      <a:round/>
                      <a:headEnd type="none" w="med" len="med"/>
                      <a:tailEnd type="none" w="med" len="med"/>
                    </a:lnT>
                    <a:lnB w="6350" cap="flat" cmpd="sng" algn="ctr">
                      <a:solidFill>
                        <a:srgbClr val="D6DEE2"/>
                      </a:solidFill>
                      <a:prstDash val="solid"/>
                      <a:round/>
                      <a:headEnd type="none" w="med" len="med"/>
                      <a:tailEnd type="none" w="med" len="med"/>
                    </a:lnB>
                    <a:solidFill>
                      <a:srgbClr val="E3E9EC"/>
                    </a:solidFill>
                  </a:tcPr>
                </a:tc>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3152" marR="73152" marT="27432" marB="27432" anchor="ctr">
                    <a:lnL w="6350" cap="flat" cmpd="sng" algn="ctr">
                      <a:solidFill>
                        <a:srgbClr val="D6DEE2"/>
                      </a:solidFill>
                      <a:prstDash val="solid"/>
                      <a:round/>
                      <a:headEnd type="none" w="med" len="med"/>
                      <a:tailEnd type="none" w="med" len="med"/>
                    </a:lnL>
                    <a:lnR w="6350" cap="flat" cmpd="sng" algn="ctr">
                      <a:solidFill>
                        <a:srgbClr val="D6DEE2"/>
                      </a:solidFill>
                      <a:prstDash val="solid"/>
                      <a:round/>
                      <a:headEnd type="none" w="med" len="med"/>
                      <a:tailEnd type="none" w="med" len="med"/>
                    </a:lnR>
                    <a:lnT w="6350" cap="flat" cmpd="sng" algn="ctr">
                      <a:solidFill>
                        <a:srgbClr val="D6DEE2"/>
                      </a:solidFill>
                      <a:prstDash val="solid"/>
                      <a:round/>
                      <a:headEnd type="none" w="med" len="med"/>
                      <a:tailEnd type="none" w="med" len="med"/>
                    </a:lnT>
                    <a:lnB w="6350" cap="flat" cmpd="sng" algn="ctr">
                      <a:solidFill>
                        <a:srgbClr val="D6DEE2"/>
                      </a:solidFill>
                      <a:prstDash val="solid"/>
                      <a:round/>
                      <a:headEnd type="none" w="med" len="med"/>
                      <a:tailEnd type="none" w="med" len="med"/>
                    </a:lnB>
                    <a:solidFill>
                      <a:srgbClr val="E3E9EC"/>
                    </a:solidFill>
                  </a:tcPr>
                </a:tc>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GeneID:3845</a:t>
                      </a:r>
                      <a:endParaRPr lang="en-US" sz="1200" dirty="0">
                        <a:latin typeface="Calibri" charset="0"/>
                        <a:ea typeface="Calibri" charset="0"/>
                        <a:cs typeface="Calibri" charset="0"/>
                      </a:endParaRPr>
                    </a:p>
                  </a:txBody>
                  <a:tcPr marL="73152" marR="73152" marT="27432" marB="27432" anchor="ctr">
                    <a:lnL w="6350" cap="flat" cmpd="sng" algn="ctr">
                      <a:solidFill>
                        <a:srgbClr val="D6DEE2"/>
                      </a:solidFill>
                      <a:prstDash val="solid"/>
                      <a:round/>
                      <a:headEnd type="none" w="med" len="med"/>
                      <a:tailEnd type="none" w="med" len="med"/>
                    </a:lnL>
                    <a:lnR w="6350" cap="flat" cmpd="sng" algn="ctr">
                      <a:solidFill>
                        <a:srgbClr val="D6DEE2"/>
                      </a:solidFill>
                      <a:prstDash val="solid"/>
                      <a:round/>
                      <a:headEnd type="none" w="med" len="med"/>
                      <a:tailEnd type="none" w="med" len="med"/>
                    </a:lnR>
                    <a:lnT w="6350" cap="flat" cmpd="sng" algn="ctr">
                      <a:solidFill>
                        <a:srgbClr val="D6DEE2"/>
                      </a:solidFill>
                      <a:prstDash val="solid"/>
                      <a:round/>
                      <a:headEnd type="none" w="med" len="med"/>
                      <a:tailEnd type="none" w="med" len="med"/>
                    </a:lnT>
                    <a:lnB w="6350" cap="flat" cmpd="sng" algn="ctr">
                      <a:solidFill>
                        <a:srgbClr val="D6DEE2"/>
                      </a:solidFill>
                      <a:prstDash val="solid"/>
                      <a:round/>
                      <a:headEnd type="none" w="med" len="med"/>
                      <a:tailEnd type="none" w="med" len="med"/>
                    </a:lnB>
                    <a:solidFill>
                      <a:srgbClr val="E3E9EC"/>
                    </a:solidFill>
                  </a:tcPr>
                </a:tc>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MANE Plus Clinical</a:t>
                      </a:r>
                      <a:endParaRPr lang="en-US" sz="1200" dirty="0">
                        <a:latin typeface="Calibri" charset="0"/>
                        <a:ea typeface="Calibri" charset="0"/>
                        <a:cs typeface="Calibri" charset="0"/>
                      </a:endParaRPr>
                    </a:p>
                  </a:txBody>
                  <a:tcPr marL="73152" marR="73152" marT="27432" marB="27432" anchor="ctr">
                    <a:lnL w="6350" cap="flat" cmpd="sng" algn="ctr">
                      <a:solidFill>
                        <a:srgbClr val="D6DEE2"/>
                      </a:solidFill>
                      <a:prstDash val="solid"/>
                      <a:round/>
                      <a:headEnd type="none" w="med" len="med"/>
                      <a:tailEnd type="none" w="med" len="med"/>
                    </a:lnL>
                    <a:lnR w="6350" cap="flat" cmpd="sng" algn="ctr">
                      <a:solidFill>
                        <a:srgbClr val="D6DEE2"/>
                      </a:solidFill>
                      <a:prstDash val="solid"/>
                      <a:round/>
                      <a:headEnd type="none" w="med" len="med"/>
                      <a:tailEnd type="none" w="med" len="med"/>
                    </a:lnR>
                    <a:lnT w="6350" cap="flat" cmpd="sng" algn="ctr">
                      <a:solidFill>
                        <a:srgbClr val="D6DEE2"/>
                      </a:solidFill>
                      <a:prstDash val="solid"/>
                      <a:round/>
                      <a:headEnd type="none" w="med" len="med"/>
                      <a:tailEnd type="none" w="med" len="med"/>
                    </a:lnT>
                    <a:lnB w="6350" cap="flat" cmpd="sng" algn="ctr">
                      <a:solidFill>
                        <a:srgbClr val="D6DEE2"/>
                      </a:solidFill>
                      <a:prstDash val="solid"/>
                      <a:round/>
                      <a:headEnd type="none" w="med" len="med"/>
                      <a:tailEnd type="none" w="med" len="med"/>
                    </a:lnB>
                    <a:solidFill>
                      <a:srgbClr val="E3E9EC"/>
                    </a:solidFill>
                  </a:tcPr>
                </a:tc>
              </a:tr>
            </a:tbl>
          </a:graphicData>
        </a:graphic>
      </p:graphicFrame>
      <p:sp>
        <p:nvSpPr>
          <p:cNvPr id="8" name="Shape 4"/>
          <p:cNvSpPr/>
          <p:nvPr/>
        </p:nvSpPr>
        <p:spPr>
          <a:xfrm>
            <a:off x="457200" y="3429000"/>
            <a:ext cx="4023360" cy="1280160"/>
          </a:xfrm>
          <a:prstGeom prst="roundRect">
            <a:avLst>
              <a:gd name="adj" fmla="val 5714"/>
            </a:avLst>
          </a:prstGeom>
          <a:solidFill>
            <a:srgbClr val="CADCFC"/>
          </a:solidFill>
          <a:ln w="12700">
            <a:solidFill>
              <a:srgbClr val="CADCFC"/>
            </a:solidFill>
            <a:prstDash val="solid"/>
          </a:ln>
        </p:spPr>
      </p:sp>
      <p:sp>
        <p:nvSpPr>
          <p:cNvPr id="9" name="Text 5"/>
          <p:cNvSpPr txBox="1"/>
          <p:nvPr/>
        </p:nvSpPr>
        <p:spPr>
          <a:xfrm>
            <a:off x="640080" y="3538728"/>
            <a:ext cx="3657600" cy="365760"/>
          </a:xfrm>
          <a:prstGeom prst="rect">
            <a:avLst/>
          </a:prstGeom>
          <a:noFill/>
          <a:ln/>
        </p:spPr>
        <p:txBody>
          <a:bodyPr wrap="square" lIns="0" tIns="0" rIns="0" bIns="0" rtlCol="0" anchor="ctr"/>
          <a:lstStyle/>
          <a:p>
            <a:pPr indent="0" marL="0">
              <a:buNone/>
            </a:pPr>
            <a:r>
              <a:rPr lang="en-US" sz="1600" b="1" dirty="0">
                <a:solidFill>
                  <a:srgbClr val="0B3D59"/>
                </a:solidFill>
                <a:latin typeface="Cambria" pitchFamily="34" charset="0"/>
                <a:ea typeface="Cambria" pitchFamily="34" charset="-122"/>
                <a:cs typeface="Cambria" pitchFamily="34" charset="-120"/>
              </a:rPr>
              <a:t>Off by one</a:t>
            </a:r>
            <a:endParaRPr lang="en-US" sz="1600" dirty="0"/>
          </a:p>
        </p:txBody>
      </p:sp>
      <p:sp>
        <p:nvSpPr>
          <p:cNvPr id="10" name="Text 6"/>
          <p:cNvSpPr txBox="1"/>
          <p:nvPr/>
        </p:nvSpPr>
        <p:spPr>
          <a:xfrm>
            <a:off x="640080" y="3931920"/>
            <a:ext cx="3657600" cy="685800"/>
          </a:xfrm>
          <a:prstGeom prst="rect">
            <a:avLst/>
          </a:prstGeom>
          <a:noFill/>
          <a:ln/>
        </p:spPr>
        <p:txBody>
          <a:bodyPr wrap="square" lIns="0" tIns="0" rIns="0" bIns="0" rtlCol="0" anchor="t"/>
          <a:lstStyle/>
          <a:p>
            <a:pPr indent="0" marL="0">
              <a:buNone/>
            </a:pPr>
            <a:r>
              <a:rPr lang="en-US" sz="1400" dirty="0">
                <a:solidFill>
                  <a:srgbClr val="1A1A1A"/>
                </a:solidFill>
                <a:latin typeface="Calibri" pitchFamily="34" charset="0"/>
                <a:ea typeface="Calibri" pitchFamily="34" charset="-122"/>
                <a:cs typeface="Calibri" pitchFamily="34" charset="-120"/>
              </a:rPr>
              <a:t>UCSC tables: 0-based start (25205245).</a:t>
            </a:r>
            <a:endParaRPr lang="en-US" sz="1400" dirty="0"/>
          </a:p>
          <a:p>
            <a:pPr indent="0" marL="0">
              <a:buNone/>
            </a:pPr>
            <a:r>
              <a:rPr lang="en-US" sz="1400" dirty="0">
                <a:solidFill>
                  <a:srgbClr val="1A1A1A"/>
                </a:solidFill>
                <a:latin typeface="Calibri" pitchFamily="34" charset="0"/>
                <a:ea typeface="Calibri" pitchFamily="34" charset="-122"/>
                <a:cs typeface="Calibri" pitchFamily="34" charset="-120"/>
              </a:rPr>
              <a:t>Browser display: 1-based (25205246).</a:t>
            </a:r>
            <a:endParaRPr lang="en-US" sz="1400" dirty="0"/>
          </a:p>
        </p:txBody>
      </p:sp>
      <p:sp>
        <p:nvSpPr>
          <p:cNvPr id="11" name="Shape 7"/>
          <p:cNvSpPr/>
          <p:nvPr/>
        </p:nvSpPr>
        <p:spPr>
          <a:xfrm>
            <a:off x="4663440" y="3429000"/>
            <a:ext cx="4023360" cy="1280160"/>
          </a:xfrm>
          <a:prstGeom prst="roundRect">
            <a:avLst>
              <a:gd name="adj" fmla="val 5714"/>
            </a:avLst>
          </a:prstGeom>
          <a:solidFill>
            <a:srgbClr val="E3E9EC"/>
          </a:solidFill>
          <a:ln w="12700">
            <a:solidFill>
              <a:srgbClr val="E3E9EC"/>
            </a:solidFill>
            <a:prstDash val="solid"/>
          </a:ln>
        </p:spPr>
      </p:sp>
      <p:sp>
        <p:nvSpPr>
          <p:cNvPr id="12" name="Text 8"/>
          <p:cNvSpPr txBox="1"/>
          <p:nvPr/>
        </p:nvSpPr>
        <p:spPr>
          <a:xfrm>
            <a:off x="4846320" y="3538728"/>
            <a:ext cx="3657600" cy="365760"/>
          </a:xfrm>
          <a:prstGeom prst="rect">
            <a:avLst/>
          </a:prstGeom>
          <a:noFill/>
          <a:ln/>
        </p:spPr>
        <p:txBody>
          <a:bodyPr wrap="square" lIns="0" tIns="0" rIns="0" bIns="0" rtlCol="0" anchor="ctr"/>
          <a:lstStyle/>
          <a:p>
            <a:pPr indent="0" marL="0">
              <a:buNone/>
            </a:pPr>
            <a:r>
              <a:rPr lang="en-US" sz="1600" b="1" dirty="0">
                <a:solidFill>
                  <a:srgbClr val="0B3D59"/>
                </a:solidFill>
                <a:latin typeface="Cambria" pitchFamily="34" charset="0"/>
                <a:ea typeface="Cambria" pitchFamily="34" charset="-122"/>
                <a:cs typeface="Cambria" pitchFamily="34" charset="-120"/>
              </a:rPr>
              <a:t>Same shape as our demo</a:t>
            </a:r>
            <a:endParaRPr lang="en-US" sz="1600" dirty="0"/>
          </a:p>
        </p:txBody>
      </p:sp>
      <p:sp>
        <p:nvSpPr>
          <p:cNvPr id="13" name="Text 9"/>
          <p:cNvSpPr txBox="1"/>
          <p:nvPr/>
        </p:nvSpPr>
        <p:spPr>
          <a:xfrm>
            <a:off x="4846320" y="3931920"/>
            <a:ext cx="3657600" cy="685800"/>
          </a:xfrm>
          <a:prstGeom prst="rect">
            <a:avLst/>
          </a:prstGeom>
          <a:noFill/>
          <a:ln/>
        </p:spPr>
        <p:txBody>
          <a:bodyPr wrap="square" lIns="0" tIns="0" rIns="0" bIns="0" rtlCol="0" anchor="t"/>
          <a:lstStyle/>
          <a:p>
            <a:pPr indent="0" marL="0">
              <a:buNone/>
            </a:pPr>
            <a:r>
              <a:rPr lang="en-US" sz="1400" dirty="0">
                <a:solidFill>
                  <a:srgbClr val="1A1A1A"/>
                </a:solidFill>
                <a:latin typeface="Calibri" pitchFamily="34" charset="0"/>
                <a:ea typeface="Calibri" pitchFamily="34" charset="-122"/>
                <a:cs typeface="Calibri" pitchFamily="34" charset="-120"/>
              </a:rPr>
              <a:t>genes JOIN transcripts ON gene_id. Same join, real rows.</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7F9"/>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0B3D59"/>
                </a:solidFill>
                <a:latin typeface="Cambria" pitchFamily="34" charset="0"/>
                <a:ea typeface="Cambria" pitchFamily="34" charset="-122"/>
                <a:cs typeface="Cambria" pitchFamily="34" charset="-120"/>
              </a:rPr>
              <a:t>Same gene, NCBI's view</a:t>
            </a:r>
            <a:endParaRPr lang="en-US" sz="3000" dirty="0"/>
          </a:p>
        </p:txBody>
      </p:sp>
      <p:sp>
        <p:nvSpPr>
          <p:cNvPr id="3" name="Text 1"/>
          <p:cNvSpPr txBox="1"/>
          <p:nvPr/>
        </p:nvSpPr>
        <p:spPr>
          <a:xfrm>
            <a:off x="8412480" y="4754880"/>
            <a:ext cx="365760" cy="228600"/>
          </a:xfrm>
          <a:prstGeom prst="rect">
            <a:avLst/>
          </a:prstGeom>
          <a:noFill/>
          <a:ln/>
        </p:spPr>
        <p:txBody>
          <a:bodyPr wrap="square" lIns="0" tIns="0" rIns="0" bIns="0" rtlCol="0" anchor="ctr"/>
          <a:lstStyle/>
          <a:p>
            <a:pPr algn="r" indent="0" marL="0">
              <a:buNone/>
            </a:pPr>
            <a:r>
              <a:rPr lang="en-US" sz="1000" dirty="0">
                <a:solidFill>
                  <a:srgbClr val="5A6B75"/>
                </a:solidFill>
              </a:rPr>
              <a:t>12</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2194560"/>
                <a:gridCol w="6035040"/>
              </a:tblGrid>
              <a:tr h="329184">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field</a:t>
                      </a:r>
                      <a:endParaRPr lang="en-US" sz="1300" dirty="0">
                        <a:latin typeface="Calibri" charset="0"/>
                        <a:ea typeface="Calibri" charset="0"/>
                        <a:cs typeface="Calibri" charset="0"/>
                      </a:endParaRPr>
                    </a:p>
                  </a:txBody>
                  <a:tcPr marL="73152" marR="73152" marT="27432" marB="27432" anchor="ctr">
                    <a:lnL w="6350" cap="flat" cmpd="sng" algn="ctr">
                      <a:solidFill>
                        <a:srgbClr val="D6DEE2"/>
                      </a:solidFill>
                      <a:prstDash val="solid"/>
                      <a:round/>
                      <a:headEnd type="none" w="med" len="med"/>
                      <a:tailEnd type="none" w="med" len="med"/>
                    </a:lnL>
                    <a:lnR w="6350" cap="flat" cmpd="sng" algn="ctr">
                      <a:solidFill>
                        <a:srgbClr val="D6DEE2"/>
                      </a:solidFill>
                      <a:prstDash val="solid"/>
                      <a:round/>
                      <a:headEnd type="none" w="med" len="med"/>
                      <a:tailEnd type="none" w="med" len="med"/>
                    </a:lnR>
                    <a:lnT w="6350" cap="flat" cmpd="sng" algn="ctr">
                      <a:solidFill>
                        <a:srgbClr val="D6DEE2"/>
                      </a:solidFill>
                      <a:prstDash val="solid"/>
                      <a:round/>
                      <a:headEnd type="none" w="med" len="med"/>
                      <a:tailEnd type="none" w="med" len="med"/>
                    </a:lnT>
                    <a:lnB w="6350" cap="flat" cmpd="sng" algn="ctr">
                      <a:solidFill>
                        <a:srgbClr val="D6DEE2"/>
                      </a:solidFill>
                      <a:prstDash val="solid"/>
                      <a:round/>
                      <a:headEnd type="none" w="med" len="med"/>
                      <a:tailEnd type="none" w="med" len="med"/>
                    </a:lnB>
                    <a:solidFill>
                      <a:srgbClr val="1C7293"/>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value</a:t>
                      </a:r>
                      <a:endParaRPr lang="en-US" sz="1300" dirty="0">
                        <a:latin typeface="Calibri" charset="0"/>
                        <a:ea typeface="Calibri" charset="0"/>
                        <a:cs typeface="Calibri" charset="0"/>
                      </a:endParaRPr>
                    </a:p>
                  </a:txBody>
                  <a:tcPr marL="73152" marR="73152" marT="27432" marB="27432" anchor="ctr">
                    <a:lnL w="6350" cap="flat" cmpd="sng" algn="ctr">
                      <a:solidFill>
                        <a:srgbClr val="D6DEE2"/>
                      </a:solidFill>
                      <a:prstDash val="solid"/>
                      <a:round/>
                      <a:headEnd type="none" w="med" len="med"/>
                      <a:tailEnd type="none" w="med" len="med"/>
                    </a:lnL>
                    <a:lnR w="6350" cap="flat" cmpd="sng" algn="ctr">
                      <a:solidFill>
                        <a:srgbClr val="D6DEE2"/>
                      </a:solidFill>
                      <a:prstDash val="solid"/>
                      <a:round/>
                      <a:headEnd type="none" w="med" len="med"/>
                      <a:tailEnd type="none" w="med" len="med"/>
                    </a:lnR>
                    <a:lnT w="6350" cap="flat" cmpd="sng" algn="ctr">
                      <a:solidFill>
                        <a:srgbClr val="D6DEE2"/>
                      </a:solidFill>
                      <a:prstDash val="solid"/>
                      <a:round/>
                      <a:headEnd type="none" w="med" len="med"/>
                      <a:tailEnd type="none" w="med" len="med"/>
                    </a:lnT>
                    <a:lnB w="6350" cap="flat" cmpd="sng" algn="ctr">
                      <a:solidFill>
                        <a:srgbClr val="D6DEE2"/>
                      </a:solidFill>
                      <a:prstDash val="solid"/>
                      <a:round/>
                      <a:headEnd type="none" w="med" len="med"/>
                      <a:tailEnd type="none" w="med" len="med"/>
                    </a:lnB>
                    <a:solidFill>
                      <a:srgbClr val="1C7293"/>
                    </a:solidFill>
                  </a:tcPr>
                </a:tc>
              </a:tr>
              <a:tr h="329184">
                <a:tc>
                  <a:txBody>
                    <a:bodyPr/>
                    <a:lstStyle/>
                    <a:p>
                      <a:pPr algn="l" indent="0" marL="0">
                        <a:buNone/>
                      </a:pPr>
                      <a:r>
                        <a:rPr lang="en-US" sz="1300" dirty="0">
                          <a:solidFill>
                            <a:srgbClr val="1A1A1A"/>
                          </a:solidFill>
                          <a:latin typeface="Calibri" pitchFamily="34" charset="0"/>
                          <a:ea typeface="Calibri" pitchFamily="34" charset="-122"/>
                          <a:cs typeface="Calibri" pitchFamily="34" charset="-120"/>
                        </a:rPr>
                        <a:t>GeneID</a:t>
                      </a:r>
                      <a:endParaRPr lang="en-US" sz="1300" dirty="0">
                        <a:latin typeface="Calibri" charset="0"/>
                        <a:ea typeface="Calibri" charset="0"/>
                        <a:cs typeface="Calibri" charset="0"/>
                      </a:endParaRPr>
                    </a:p>
                  </a:txBody>
                  <a:tcPr marL="73152" marR="73152" marT="27432" marB="27432" anchor="ctr">
                    <a:lnL w="6350" cap="flat" cmpd="sng" algn="ctr">
                      <a:solidFill>
                        <a:srgbClr val="D6DEE2"/>
                      </a:solidFill>
                      <a:prstDash val="solid"/>
                      <a:round/>
                      <a:headEnd type="none" w="med" len="med"/>
                      <a:tailEnd type="none" w="med" len="med"/>
                    </a:lnL>
                    <a:lnR w="6350" cap="flat" cmpd="sng" algn="ctr">
                      <a:solidFill>
                        <a:srgbClr val="D6DEE2"/>
                      </a:solidFill>
                      <a:prstDash val="solid"/>
                      <a:round/>
                      <a:headEnd type="none" w="med" len="med"/>
                      <a:tailEnd type="none" w="med" len="med"/>
                    </a:lnR>
                    <a:lnT w="6350" cap="flat" cmpd="sng" algn="ctr">
                      <a:solidFill>
                        <a:srgbClr val="D6DEE2"/>
                      </a:solidFill>
                      <a:prstDash val="solid"/>
                      <a:round/>
                      <a:headEnd type="none" w="med" len="med"/>
                      <a:tailEnd type="none" w="med" len="med"/>
                    </a:lnT>
                    <a:lnB w="6350" cap="flat" cmpd="sng" algn="ctr">
                      <a:solidFill>
                        <a:srgbClr val="D6DEE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A1A1A"/>
                          </a:solidFill>
                          <a:latin typeface="Calibri" pitchFamily="34" charset="0"/>
                          <a:ea typeface="Calibri" pitchFamily="34" charset="-122"/>
                          <a:cs typeface="Calibri" pitchFamily="34" charset="-120"/>
                        </a:rPr>
                        <a:t>3845</a:t>
                      </a:r>
                      <a:endParaRPr lang="en-US" sz="1300" dirty="0">
                        <a:latin typeface="Calibri" charset="0"/>
                        <a:ea typeface="Calibri" charset="0"/>
                        <a:cs typeface="Calibri" charset="0"/>
                      </a:endParaRPr>
                    </a:p>
                  </a:txBody>
                  <a:tcPr marL="73152" marR="73152" marT="27432" marB="27432" anchor="ctr">
                    <a:lnL w="6350" cap="flat" cmpd="sng" algn="ctr">
                      <a:solidFill>
                        <a:srgbClr val="D6DEE2"/>
                      </a:solidFill>
                      <a:prstDash val="solid"/>
                      <a:round/>
                      <a:headEnd type="none" w="med" len="med"/>
                      <a:tailEnd type="none" w="med" len="med"/>
                    </a:lnL>
                    <a:lnR w="6350" cap="flat" cmpd="sng" algn="ctr">
                      <a:solidFill>
                        <a:srgbClr val="D6DEE2"/>
                      </a:solidFill>
                      <a:prstDash val="solid"/>
                      <a:round/>
                      <a:headEnd type="none" w="med" len="med"/>
                      <a:tailEnd type="none" w="med" len="med"/>
                    </a:lnR>
                    <a:lnT w="6350" cap="flat" cmpd="sng" algn="ctr">
                      <a:solidFill>
                        <a:srgbClr val="D6DEE2"/>
                      </a:solidFill>
                      <a:prstDash val="solid"/>
                      <a:round/>
                      <a:headEnd type="none" w="med" len="med"/>
                      <a:tailEnd type="none" w="med" len="med"/>
                    </a:lnT>
                    <a:lnB w="6350" cap="flat" cmpd="sng" algn="ctr">
                      <a:solidFill>
                        <a:srgbClr val="D6DEE2"/>
                      </a:solidFill>
                      <a:prstDash val="solid"/>
                      <a:round/>
                      <a:headEnd type="none" w="med" len="med"/>
                      <a:tailEnd type="none" w="med" len="med"/>
                    </a:lnB>
                    <a:solidFill>
                      <a:srgbClr val="FFFFFF"/>
                    </a:solidFill>
                  </a:tcPr>
                </a:tc>
              </a:tr>
              <a:tr h="329184">
                <a:tc>
                  <a:txBody>
                    <a:bodyPr/>
                    <a:lstStyle/>
                    <a:p>
                      <a:pPr algn="l" indent="0" marL="0">
                        <a:buNone/>
                      </a:pPr>
                      <a:r>
                        <a:rPr lang="en-US" sz="1300" dirty="0">
                          <a:solidFill>
                            <a:srgbClr val="1A1A1A"/>
                          </a:solidFill>
                          <a:latin typeface="Calibri" pitchFamily="34" charset="0"/>
                          <a:ea typeface="Calibri" pitchFamily="34" charset="-122"/>
                          <a:cs typeface="Calibri" pitchFamily="34" charset="-120"/>
                        </a:rPr>
                        <a:t>symbol</a:t>
                      </a:r>
                      <a:endParaRPr lang="en-US" sz="1300" dirty="0">
                        <a:latin typeface="Calibri" charset="0"/>
                        <a:ea typeface="Calibri" charset="0"/>
                        <a:cs typeface="Calibri" charset="0"/>
                      </a:endParaRPr>
                    </a:p>
                  </a:txBody>
                  <a:tcPr marL="73152" marR="73152" marT="27432" marB="27432" anchor="ctr">
                    <a:lnL w="6350" cap="flat" cmpd="sng" algn="ctr">
                      <a:solidFill>
                        <a:srgbClr val="D6DEE2"/>
                      </a:solidFill>
                      <a:prstDash val="solid"/>
                      <a:round/>
                      <a:headEnd type="none" w="med" len="med"/>
                      <a:tailEnd type="none" w="med" len="med"/>
                    </a:lnL>
                    <a:lnR w="6350" cap="flat" cmpd="sng" algn="ctr">
                      <a:solidFill>
                        <a:srgbClr val="D6DEE2"/>
                      </a:solidFill>
                      <a:prstDash val="solid"/>
                      <a:round/>
                      <a:headEnd type="none" w="med" len="med"/>
                      <a:tailEnd type="none" w="med" len="med"/>
                    </a:lnR>
                    <a:lnT w="6350" cap="flat" cmpd="sng" algn="ctr">
                      <a:solidFill>
                        <a:srgbClr val="D6DEE2"/>
                      </a:solidFill>
                      <a:prstDash val="solid"/>
                      <a:round/>
                      <a:headEnd type="none" w="med" len="med"/>
                      <a:tailEnd type="none" w="med" len="med"/>
                    </a:lnT>
                    <a:lnB w="6350" cap="flat" cmpd="sng" algn="ctr">
                      <a:solidFill>
                        <a:srgbClr val="D6DEE2"/>
                      </a:solidFill>
                      <a:prstDash val="solid"/>
                      <a:round/>
                      <a:headEnd type="none" w="med" len="med"/>
                      <a:tailEnd type="none" w="med" len="med"/>
                    </a:lnB>
                    <a:solidFill>
                      <a:srgbClr val="E3E9EC"/>
                    </a:solidFill>
                  </a:tcPr>
                </a:tc>
                <a:tc>
                  <a:txBody>
                    <a:bodyPr/>
                    <a:lstStyle/>
                    <a:p>
                      <a:pPr algn="l" indent="0" marL="0">
                        <a:buNone/>
                      </a:pPr>
                      <a:r>
                        <a:rPr lang="en-US" sz="1300" dirty="0">
                          <a:solidFill>
                            <a:srgbClr val="1A1A1A"/>
                          </a:solidFill>
                          <a:latin typeface="Calibri" pitchFamily="34" charset="0"/>
                          <a:ea typeface="Calibri" pitchFamily="34" charset="-122"/>
                          <a:cs typeface="Calibri" pitchFamily="34" charset="-120"/>
                        </a:rPr>
                        <a:t>KRAS (KRas proto-oncogene, GTPase)</a:t>
                      </a:r>
                      <a:endParaRPr lang="en-US" sz="1300" dirty="0">
                        <a:latin typeface="Calibri" charset="0"/>
                        <a:ea typeface="Calibri" charset="0"/>
                        <a:cs typeface="Calibri" charset="0"/>
                      </a:endParaRPr>
                    </a:p>
                  </a:txBody>
                  <a:tcPr marL="73152" marR="73152" marT="27432" marB="27432" anchor="ctr">
                    <a:lnL w="6350" cap="flat" cmpd="sng" algn="ctr">
                      <a:solidFill>
                        <a:srgbClr val="D6DEE2"/>
                      </a:solidFill>
                      <a:prstDash val="solid"/>
                      <a:round/>
                      <a:headEnd type="none" w="med" len="med"/>
                      <a:tailEnd type="none" w="med" len="med"/>
                    </a:lnL>
                    <a:lnR w="6350" cap="flat" cmpd="sng" algn="ctr">
                      <a:solidFill>
                        <a:srgbClr val="D6DEE2"/>
                      </a:solidFill>
                      <a:prstDash val="solid"/>
                      <a:round/>
                      <a:headEnd type="none" w="med" len="med"/>
                      <a:tailEnd type="none" w="med" len="med"/>
                    </a:lnR>
                    <a:lnT w="6350" cap="flat" cmpd="sng" algn="ctr">
                      <a:solidFill>
                        <a:srgbClr val="D6DEE2"/>
                      </a:solidFill>
                      <a:prstDash val="solid"/>
                      <a:round/>
                      <a:headEnd type="none" w="med" len="med"/>
                      <a:tailEnd type="none" w="med" len="med"/>
                    </a:lnT>
                    <a:lnB w="6350" cap="flat" cmpd="sng" algn="ctr">
                      <a:solidFill>
                        <a:srgbClr val="D6DEE2"/>
                      </a:solidFill>
                      <a:prstDash val="solid"/>
                      <a:round/>
                      <a:headEnd type="none" w="med" len="med"/>
                      <a:tailEnd type="none" w="med" len="med"/>
                    </a:lnB>
                    <a:solidFill>
                      <a:srgbClr val="E3E9EC"/>
                    </a:solidFill>
                  </a:tcPr>
                </a:tc>
              </a:tr>
              <a:tr h="329184">
                <a:tc>
                  <a:txBody>
                    <a:bodyPr/>
                    <a:lstStyle/>
                    <a:p>
                      <a:pPr algn="l" indent="0" marL="0">
                        <a:buNone/>
                      </a:pPr>
                      <a:r>
                        <a:rPr lang="en-US" sz="1300" dirty="0">
                          <a:solidFill>
                            <a:srgbClr val="1A1A1A"/>
                          </a:solidFill>
                          <a:latin typeface="Calibri" pitchFamily="34" charset="0"/>
                          <a:ea typeface="Calibri" pitchFamily="34" charset="-122"/>
                          <a:cs typeface="Calibri" pitchFamily="34" charset="-120"/>
                        </a:rPr>
                        <a:t>other aliases</a:t>
                      </a:r>
                      <a:endParaRPr lang="en-US" sz="1300" dirty="0">
                        <a:latin typeface="Calibri" charset="0"/>
                        <a:ea typeface="Calibri" charset="0"/>
                        <a:cs typeface="Calibri" charset="0"/>
                      </a:endParaRPr>
                    </a:p>
                  </a:txBody>
                  <a:tcPr marL="73152" marR="73152" marT="27432" marB="27432" anchor="ctr">
                    <a:lnL w="6350" cap="flat" cmpd="sng" algn="ctr">
                      <a:solidFill>
                        <a:srgbClr val="D6DEE2"/>
                      </a:solidFill>
                      <a:prstDash val="solid"/>
                      <a:round/>
                      <a:headEnd type="none" w="med" len="med"/>
                      <a:tailEnd type="none" w="med" len="med"/>
                    </a:lnL>
                    <a:lnR w="6350" cap="flat" cmpd="sng" algn="ctr">
                      <a:solidFill>
                        <a:srgbClr val="D6DEE2"/>
                      </a:solidFill>
                      <a:prstDash val="solid"/>
                      <a:round/>
                      <a:headEnd type="none" w="med" len="med"/>
                      <a:tailEnd type="none" w="med" len="med"/>
                    </a:lnR>
                    <a:lnT w="6350" cap="flat" cmpd="sng" algn="ctr">
                      <a:solidFill>
                        <a:srgbClr val="D6DEE2"/>
                      </a:solidFill>
                      <a:prstDash val="solid"/>
                      <a:round/>
                      <a:headEnd type="none" w="med" len="med"/>
                      <a:tailEnd type="none" w="med" len="med"/>
                    </a:lnT>
                    <a:lnB w="6350" cap="flat" cmpd="sng" algn="ctr">
                      <a:solidFill>
                        <a:srgbClr val="D6DEE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A1A1A"/>
                          </a:solidFill>
                          <a:latin typeface="Calibri" pitchFamily="34" charset="0"/>
                          <a:ea typeface="Calibri" pitchFamily="34" charset="-122"/>
                          <a:cs typeface="Calibri" pitchFamily="34" charset="-120"/>
                        </a:rPr>
                        <a:t>KRAS2, KI-RAS, K-Ras, c-Ki-ras, RASK2, … (~20 listed)</a:t>
                      </a:r>
                      <a:endParaRPr lang="en-US" sz="1300" dirty="0">
                        <a:latin typeface="Calibri" charset="0"/>
                        <a:ea typeface="Calibri" charset="0"/>
                        <a:cs typeface="Calibri" charset="0"/>
                      </a:endParaRPr>
                    </a:p>
                  </a:txBody>
                  <a:tcPr marL="73152" marR="73152" marT="27432" marB="27432" anchor="ctr">
                    <a:lnL w="6350" cap="flat" cmpd="sng" algn="ctr">
                      <a:solidFill>
                        <a:srgbClr val="D6DEE2"/>
                      </a:solidFill>
                      <a:prstDash val="solid"/>
                      <a:round/>
                      <a:headEnd type="none" w="med" len="med"/>
                      <a:tailEnd type="none" w="med" len="med"/>
                    </a:lnL>
                    <a:lnR w="6350" cap="flat" cmpd="sng" algn="ctr">
                      <a:solidFill>
                        <a:srgbClr val="D6DEE2"/>
                      </a:solidFill>
                      <a:prstDash val="solid"/>
                      <a:round/>
                      <a:headEnd type="none" w="med" len="med"/>
                      <a:tailEnd type="none" w="med" len="med"/>
                    </a:lnR>
                    <a:lnT w="6350" cap="flat" cmpd="sng" algn="ctr">
                      <a:solidFill>
                        <a:srgbClr val="D6DEE2"/>
                      </a:solidFill>
                      <a:prstDash val="solid"/>
                      <a:round/>
                      <a:headEnd type="none" w="med" len="med"/>
                      <a:tailEnd type="none" w="med" len="med"/>
                    </a:lnT>
                    <a:lnB w="6350" cap="flat" cmpd="sng" algn="ctr">
                      <a:solidFill>
                        <a:srgbClr val="D6DEE2"/>
                      </a:solidFill>
                      <a:prstDash val="solid"/>
                      <a:round/>
                      <a:headEnd type="none" w="med" len="med"/>
                      <a:tailEnd type="none" w="med" len="med"/>
                    </a:lnB>
                    <a:solidFill>
                      <a:srgbClr val="FFFFFF"/>
                    </a:solidFill>
                  </a:tcPr>
                </a:tc>
              </a:tr>
              <a:tr h="329184">
                <a:tc>
                  <a:txBody>
                    <a:bodyPr/>
                    <a:lstStyle/>
                    <a:p>
                      <a:pPr algn="l" indent="0" marL="0">
                        <a:buNone/>
                      </a:pPr>
                      <a:r>
                        <a:rPr lang="en-US" sz="1300" dirty="0">
                          <a:solidFill>
                            <a:srgbClr val="1A1A1A"/>
                          </a:solidFill>
                          <a:latin typeface="Calibri" pitchFamily="34" charset="0"/>
                          <a:ea typeface="Calibri" pitchFamily="34" charset="-122"/>
                          <a:cs typeface="Calibri" pitchFamily="34" charset="-120"/>
                        </a:rPr>
                        <a:t>GRCh38  NC_000012.12</a:t>
                      </a:r>
                      <a:endParaRPr lang="en-US" sz="1300" dirty="0">
                        <a:latin typeface="Calibri" charset="0"/>
                        <a:ea typeface="Calibri" charset="0"/>
                        <a:cs typeface="Calibri" charset="0"/>
                      </a:endParaRPr>
                    </a:p>
                  </a:txBody>
                  <a:tcPr marL="73152" marR="73152" marT="27432" marB="27432" anchor="ctr">
                    <a:lnL w="6350" cap="flat" cmpd="sng" algn="ctr">
                      <a:solidFill>
                        <a:srgbClr val="D6DEE2"/>
                      </a:solidFill>
                      <a:prstDash val="solid"/>
                      <a:round/>
                      <a:headEnd type="none" w="med" len="med"/>
                      <a:tailEnd type="none" w="med" len="med"/>
                    </a:lnL>
                    <a:lnR w="6350" cap="flat" cmpd="sng" algn="ctr">
                      <a:solidFill>
                        <a:srgbClr val="D6DEE2"/>
                      </a:solidFill>
                      <a:prstDash val="solid"/>
                      <a:round/>
                      <a:headEnd type="none" w="med" len="med"/>
                      <a:tailEnd type="none" w="med" len="med"/>
                    </a:lnR>
                    <a:lnT w="6350" cap="flat" cmpd="sng" algn="ctr">
                      <a:solidFill>
                        <a:srgbClr val="D6DEE2"/>
                      </a:solidFill>
                      <a:prstDash val="solid"/>
                      <a:round/>
                      <a:headEnd type="none" w="med" len="med"/>
                      <a:tailEnd type="none" w="med" len="med"/>
                    </a:lnT>
                    <a:lnB w="6350" cap="flat" cmpd="sng" algn="ctr">
                      <a:solidFill>
                        <a:srgbClr val="D6DEE2"/>
                      </a:solidFill>
                      <a:prstDash val="solid"/>
                      <a:round/>
                      <a:headEnd type="none" w="med" len="med"/>
                      <a:tailEnd type="none" w="med" len="med"/>
                    </a:lnB>
                    <a:solidFill>
                      <a:srgbClr val="E3E9EC"/>
                    </a:solidFill>
                  </a:tcPr>
                </a:tc>
                <a:tc>
                  <a:txBody>
                    <a:bodyPr/>
                    <a:lstStyle/>
                    <a:p>
                      <a:pPr algn="l" indent="0" marL="0">
                        <a:buNone/>
                      </a:pPr>
                      <a:r>
                        <a:rPr lang="en-US" sz="1300" dirty="0">
                          <a:solidFill>
                            <a:srgbClr val="1A1A1A"/>
                          </a:solidFill>
                          <a:latin typeface="Calibri" pitchFamily="34" charset="0"/>
                          <a:ea typeface="Calibri" pitchFamily="34" charset="-122"/>
                          <a:cs typeface="Calibri" pitchFamily="34" charset="-120"/>
                        </a:rPr>
                        <a:t>start 25250928  ·  stop 25205245</a:t>
                      </a:r>
                      <a:endParaRPr lang="en-US" sz="1300" dirty="0">
                        <a:latin typeface="Calibri" charset="0"/>
                        <a:ea typeface="Calibri" charset="0"/>
                        <a:cs typeface="Calibri" charset="0"/>
                      </a:endParaRPr>
                    </a:p>
                  </a:txBody>
                  <a:tcPr marL="73152" marR="73152" marT="27432" marB="27432" anchor="ctr">
                    <a:lnL w="6350" cap="flat" cmpd="sng" algn="ctr">
                      <a:solidFill>
                        <a:srgbClr val="D6DEE2"/>
                      </a:solidFill>
                      <a:prstDash val="solid"/>
                      <a:round/>
                      <a:headEnd type="none" w="med" len="med"/>
                      <a:tailEnd type="none" w="med" len="med"/>
                    </a:lnL>
                    <a:lnR w="6350" cap="flat" cmpd="sng" algn="ctr">
                      <a:solidFill>
                        <a:srgbClr val="D6DEE2"/>
                      </a:solidFill>
                      <a:prstDash val="solid"/>
                      <a:round/>
                      <a:headEnd type="none" w="med" len="med"/>
                      <a:tailEnd type="none" w="med" len="med"/>
                    </a:lnR>
                    <a:lnT w="6350" cap="flat" cmpd="sng" algn="ctr">
                      <a:solidFill>
                        <a:srgbClr val="D6DEE2"/>
                      </a:solidFill>
                      <a:prstDash val="solid"/>
                      <a:round/>
                      <a:headEnd type="none" w="med" len="med"/>
                      <a:tailEnd type="none" w="med" len="med"/>
                    </a:lnT>
                    <a:lnB w="6350" cap="flat" cmpd="sng" algn="ctr">
                      <a:solidFill>
                        <a:srgbClr val="D6DEE2"/>
                      </a:solidFill>
                      <a:prstDash val="solid"/>
                      <a:round/>
                      <a:headEnd type="none" w="med" len="med"/>
                      <a:tailEnd type="none" w="med" len="med"/>
                    </a:lnB>
                    <a:solidFill>
                      <a:srgbClr val="E3E9EC"/>
                    </a:solidFill>
                  </a:tcPr>
                </a:tc>
              </a:tr>
              <a:tr h="329184">
                <a:tc>
                  <a:txBody>
                    <a:bodyPr/>
                    <a:lstStyle/>
                    <a:p>
                      <a:pPr algn="l" indent="0" marL="0">
                        <a:buNone/>
                      </a:pPr>
                      <a:r>
                        <a:rPr lang="en-US" sz="1300" dirty="0">
                          <a:solidFill>
                            <a:srgbClr val="1A1A1A"/>
                          </a:solidFill>
                          <a:latin typeface="Calibri" pitchFamily="34" charset="0"/>
                          <a:ea typeface="Calibri" pitchFamily="34" charset="-122"/>
                          <a:cs typeface="Calibri" pitchFamily="34" charset="-120"/>
                        </a:rPr>
                        <a:t>GRCh37  NC_000012.11</a:t>
                      </a:r>
                      <a:endParaRPr lang="en-US" sz="1300" dirty="0">
                        <a:latin typeface="Calibri" charset="0"/>
                        <a:ea typeface="Calibri" charset="0"/>
                        <a:cs typeface="Calibri" charset="0"/>
                      </a:endParaRPr>
                    </a:p>
                  </a:txBody>
                  <a:tcPr marL="73152" marR="73152" marT="27432" marB="27432" anchor="ctr">
                    <a:lnL w="6350" cap="flat" cmpd="sng" algn="ctr">
                      <a:solidFill>
                        <a:srgbClr val="D6DEE2"/>
                      </a:solidFill>
                      <a:prstDash val="solid"/>
                      <a:round/>
                      <a:headEnd type="none" w="med" len="med"/>
                      <a:tailEnd type="none" w="med" len="med"/>
                    </a:lnL>
                    <a:lnR w="6350" cap="flat" cmpd="sng" algn="ctr">
                      <a:solidFill>
                        <a:srgbClr val="D6DEE2"/>
                      </a:solidFill>
                      <a:prstDash val="solid"/>
                      <a:round/>
                      <a:headEnd type="none" w="med" len="med"/>
                      <a:tailEnd type="none" w="med" len="med"/>
                    </a:lnR>
                    <a:lnT w="6350" cap="flat" cmpd="sng" algn="ctr">
                      <a:solidFill>
                        <a:srgbClr val="D6DEE2"/>
                      </a:solidFill>
                      <a:prstDash val="solid"/>
                      <a:round/>
                      <a:headEnd type="none" w="med" len="med"/>
                      <a:tailEnd type="none" w="med" len="med"/>
                    </a:lnT>
                    <a:lnB w="6350" cap="flat" cmpd="sng" algn="ctr">
                      <a:solidFill>
                        <a:srgbClr val="D6DEE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A1A1A"/>
                          </a:solidFill>
                          <a:latin typeface="Calibri" pitchFamily="34" charset="0"/>
                          <a:ea typeface="Calibri" pitchFamily="34" charset="-122"/>
                          <a:cs typeface="Calibri" pitchFamily="34" charset="-120"/>
                        </a:rPr>
                        <a:t>start 25403862  ·  stop 25358179</a:t>
                      </a:r>
                      <a:endParaRPr lang="en-US" sz="1300" dirty="0">
                        <a:latin typeface="Calibri" charset="0"/>
                        <a:ea typeface="Calibri" charset="0"/>
                        <a:cs typeface="Calibri" charset="0"/>
                      </a:endParaRPr>
                    </a:p>
                  </a:txBody>
                  <a:tcPr marL="73152" marR="73152" marT="27432" marB="27432" anchor="ctr">
                    <a:lnL w="6350" cap="flat" cmpd="sng" algn="ctr">
                      <a:solidFill>
                        <a:srgbClr val="D6DEE2"/>
                      </a:solidFill>
                      <a:prstDash val="solid"/>
                      <a:round/>
                      <a:headEnd type="none" w="med" len="med"/>
                      <a:tailEnd type="none" w="med" len="med"/>
                    </a:lnL>
                    <a:lnR w="6350" cap="flat" cmpd="sng" algn="ctr">
                      <a:solidFill>
                        <a:srgbClr val="D6DEE2"/>
                      </a:solidFill>
                      <a:prstDash val="solid"/>
                      <a:round/>
                      <a:headEnd type="none" w="med" len="med"/>
                      <a:tailEnd type="none" w="med" len="med"/>
                    </a:lnR>
                    <a:lnT w="6350" cap="flat" cmpd="sng" algn="ctr">
                      <a:solidFill>
                        <a:srgbClr val="D6DEE2"/>
                      </a:solidFill>
                      <a:prstDash val="solid"/>
                      <a:round/>
                      <a:headEnd type="none" w="med" len="med"/>
                      <a:tailEnd type="none" w="med" len="med"/>
                    </a:lnT>
                    <a:lnB w="6350" cap="flat" cmpd="sng" algn="ctr">
                      <a:solidFill>
                        <a:srgbClr val="D6DEE2"/>
                      </a:solidFill>
                      <a:prstDash val="solid"/>
                      <a:round/>
                      <a:headEnd type="none" w="med" len="med"/>
                      <a:tailEnd type="none" w="med" len="med"/>
                    </a:lnB>
                    <a:solidFill>
                      <a:srgbClr val="FFFFFF"/>
                    </a:solidFill>
                  </a:tcPr>
                </a:tc>
              </a:tr>
            </a:tbl>
          </a:graphicData>
        </a:graphic>
      </p:graphicFrame>
      <p:sp>
        <p:nvSpPr>
          <p:cNvPr id="6" name="Shape 2"/>
          <p:cNvSpPr/>
          <p:nvPr/>
        </p:nvSpPr>
        <p:spPr>
          <a:xfrm>
            <a:off x="457200" y="3246120"/>
            <a:ext cx="2606040" cy="1463040"/>
          </a:xfrm>
          <a:prstGeom prst="roundRect">
            <a:avLst>
              <a:gd name="adj" fmla="val 5000"/>
            </a:avLst>
          </a:prstGeom>
          <a:solidFill>
            <a:srgbClr val="CADCFC"/>
          </a:solidFill>
          <a:ln w="12700">
            <a:solidFill>
              <a:srgbClr val="CADCFC"/>
            </a:solidFill>
            <a:prstDash val="solid"/>
          </a:ln>
        </p:spPr>
      </p:sp>
      <p:sp>
        <p:nvSpPr>
          <p:cNvPr id="7" name="Text 3"/>
          <p:cNvSpPr txBox="1"/>
          <p:nvPr/>
        </p:nvSpPr>
        <p:spPr>
          <a:xfrm>
            <a:off x="640080" y="3355848"/>
            <a:ext cx="2240280" cy="365760"/>
          </a:xfrm>
          <a:prstGeom prst="rect">
            <a:avLst/>
          </a:prstGeom>
          <a:noFill/>
          <a:ln/>
        </p:spPr>
        <p:txBody>
          <a:bodyPr wrap="square" lIns="0" tIns="0" rIns="0" bIns="0" rtlCol="0" anchor="ctr"/>
          <a:lstStyle/>
          <a:p>
            <a:pPr indent="0" marL="0">
              <a:buNone/>
            </a:pPr>
            <a:r>
              <a:rPr lang="en-US" sz="1600" b="1" dirty="0">
                <a:solidFill>
                  <a:srgbClr val="0B3D59"/>
                </a:solidFill>
                <a:latin typeface="Cambria" pitchFamily="34" charset="0"/>
                <a:ea typeface="Cambria" pitchFamily="34" charset="-122"/>
                <a:cs typeface="Cambria" pitchFamily="34" charset="-120"/>
              </a:rPr>
              <a:t>Aliases</a:t>
            </a:r>
            <a:endParaRPr lang="en-US" sz="1600" dirty="0"/>
          </a:p>
        </p:txBody>
      </p:sp>
      <p:sp>
        <p:nvSpPr>
          <p:cNvPr id="8" name="Text 4"/>
          <p:cNvSpPr txBox="1"/>
          <p:nvPr/>
        </p:nvSpPr>
        <p:spPr>
          <a:xfrm>
            <a:off x="640080" y="3749040"/>
            <a:ext cx="2240280" cy="868680"/>
          </a:xfrm>
          <a:prstGeom prst="rect">
            <a:avLst/>
          </a:prstGeom>
          <a:noFill/>
          <a:ln/>
        </p:spPr>
        <p:txBody>
          <a:bodyPr wrap="square" lIns="0" tIns="0" rIns="0" bIns="0" rtlCol="0" anchor="t"/>
          <a:lstStyle/>
          <a:p>
            <a:pPr indent="0" marL="0">
              <a:buNone/>
            </a:pPr>
            <a:r>
              <a:rPr lang="en-US" sz="1400" dirty="0">
                <a:solidFill>
                  <a:srgbClr val="1A1A1A"/>
                </a:solidFill>
                <a:latin typeface="Calibri" pitchFamily="34" charset="0"/>
                <a:ea typeface="Calibri" pitchFamily="34" charset="-122"/>
                <a:cs typeface="Calibri" pitchFamily="34" charset="-120"/>
              </a:rPr>
              <a:t>Joining on symbols breaks. Join on GeneID.</a:t>
            </a:r>
            <a:endParaRPr lang="en-US" sz="1400" dirty="0"/>
          </a:p>
        </p:txBody>
      </p:sp>
      <p:sp>
        <p:nvSpPr>
          <p:cNvPr id="9" name="Shape 5"/>
          <p:cNvSpPr/>
          <p:nvPr/>
        </p:nvSpPr>
        <p:spPr>
          <a:xfrm>
            <a:off x="3268980" y="3246120"/>
            <a:ext cx="2606040" cy="1463040"/>
          </a:xfrm>
          <a:prstGeom prst="roundRect">
            <a:avLst>
              <a:gd name="adj" fmla="val 5000"/>
            </a:avLst>
          </a:prstGeom>
          <a:solidFill>
            <a:srgbClr val="CADCFC"/>
          </a:solidFill>
          <a:ln w="12700">
            <a:solidFill>
              <a:srgbClr val="CADCFC"/>
            </a:solidFill>
            <a:prstDash val="solid"/>
          </a:ln>
        </p:spPr>
      </p:sp>
      <p:sp>
        <p:nvSpPr>
          <p:cNvPr id="10" name="Text 6"/>
          <p:cNvSpPr txBox="1"/>
          <p:nvPr/>
        </p:nvSpPr>
        <p:spPr>
          <a:xfrm>
            <a:off x="3451860" y="3355848"/>
            <a:ext cx="2240280" cy="365760"/>
          </a:xfrm>
          <a:prstGeom prst="rect">
            <a:avLst/>
          </a:prstGeom>
          <a:noFill/>
          <a:ln/>
        </p:spPr>
        <p:txBody>
          <a:bodyPr wrap="square" lIns="0" tIns="0" rIns="0" bIns="0" rtlCol="0" anchor="ctr"/>
          <a:lstStyle/>
          <a:p>
            <a:pPr indent="0" marL="0">
              <a:buNone/>
            </a:pPr>
            <a:r>
              <a:rPr lang="en-US" sz="1600" b="1" dirty="0">
                <a:solidFill>
                  <a:srgbClr val="0B3D59"/>
                </a:solidFill>
                <a:latin typeface="Cambria" pitchFamily="34" charset="0"/>
                <a:ea typeface="Cambria" pitchFamily="34" charset="-122"/>
                <a:cs typeface="Cambria" pitchFamily="34" charset="-120"/>
              </a:rPr>
              <a:t>Assemblies</a:t>
            </a:r>
            <a:endParaRPr lang="en-US" sz="1600" dirty="0"/>
          </a:p>
        </p:txBody>
      </p:sp>
      <p:sp>
        <p:nvSpPr>
          <p:cNvPr id="11" name="Text 7"/>
          <p:cNvSpPr txBox="1"/>
          <p:nvPr/>
        </p:nvSpPr>
        <p:spPr>
          <a:xfrm>
            <a:off x="3451860" y="3749040"/>
            <a:ext cx="2240280" cy="868680"/>
          </a:xfrm>
          <a:prstGeom prst="rect">
            <a:avLst/>
          </a:prstGeom>
          <a:noFill/>
          <a:ln/>
        </p:spPr>
        <p:txBody>
          <a:bodyPr wrap="square" lIns="0" tIns="0" rIns="0" bIns="0" rtlCol="0" anchor="t"/>
          <a:lstStyle/>
          <a:p>
            <a:pPr indent="0" marL="0">
              <a:buNone/>
            </a:pPr>
            <a:r>
              <a:rPr lang="en-US" sz="1400" dirty="0">
                <a:solidFill>
                  <a:srgbClr val="1A1A1A"/>
                </a:solidFill>
                <a:latin typeface="Calibri" pitchFamily="34" charset="0"/>
                <a:ea typeface="Calibri" pitchFamily="34" charset="-122"/>
                <a:cs typeface="Calibri" pitchFamily="34" charset="-120"/>
              </a:rPr>
              <a:t>hg19 vs hg38: KRAS moves ~153 kb. Record the build.</a:t>
            </a:r>
            <a:endParaRPr lang="en-US" sz="1400" dirty="0"/>
          </a:p>
        </p:txBody>
      </p:sp>
      <p:sp>
        <p:nvSpPr>
          <p:cNvPr id="12" name="Shape 8"/>
          <p:cNvSpPr/>
          <p:nvPr/>
        </p:nvSpPr>
        <p:spPr>
          <a:xfrm>
            <a:off x="6080760" y="3246120"/>
            <a:ext cx="2606040" cy="1463040"/>
          </a:xfrm>
          <a:prstGeom prst="roundRect">
            <a:avLst>
              <a:gd name="adj" fmla="val 5000"/>
            </a:avLst>
          </a:prstGeom>
          <a:solidFill>
            <a:srgbClr val="CADCFC"/>
          </a:solidFill>
          <a:ln w="12700">
            <a:solidFill>
              <a:srgbClr val="CADCFC"/>
            </a:solidFill>
            <a:prstDash val="solid"/>
          </a:ln>
        </p:spPr>
      </p:sp>
      <p:sp>
        <p:nvSpPr>
          <p:cNvPr id="13" name="Text 9"/>
          <p:cNvSpPr txBox="1"/>
          <p:nvPr/>
        </p:nvSpPr>
        <p:spPr>
          <a:xfrm>
            <a:off x="6263640" y="3355848"/>
            <a:ext cx="2240280" cy="365760"/>
          </a:xfrm>
          <a:prstGeom prst="rect">
            <a:avLst/>
          </a:prstGeom>
          <a:noFill/>
          <a:ln/>
        </p:spPr>
        <p:txBody>
          <a:bodyPr wrap="square" lIns="0" tIns="0" rIns="0" bIns="0" rtlCol="0" anchor="ctr"/>
          <a:lstStyle/>
          <a:p>
            <a:pPr indent="0" marL="0">
              <a:buNone/>
            </a:pPr>
            <a:r>
              <a:rPr lang="en-US" sz="1600" b="1" dirty="0">
                <a:solidFill>
                  <a:srgbClr val="0B3D59"/>
                </a:solidFill>
                <a:latin typeface="Cambria" pitchFamily="34" charset="0"/>
                <a:ea typeface="Cambria" pitchFamily="34" charset="-122"/>
                <a:cs typeface="Cambria" pitchFamily="34" charset="-120"/>
              </a:rPr>
              <a:t>Conventions</a:t>
            </a:r>
            <a:endParaRPr lang="en-US" sz="1600" dirty="0"/>
          </a:p>
        </p:txBody>
      </p:sp>
      <p:sp>
        <p:nvSpPr>
          <p:cNvPr id="14" name="Text 10"/>
          <p:cNvSpPr txBox="1"/>
          <p:nvPr/>
        </p:nvSpPr>
        <p:spPr>
          <a:xfrm>
            <a:off x="6263640" y="3749040"/>
            <a:ext cx="2240280" cy="868680"/>
          </a:xfrm>
          <a:prstGeom prst="rect">
            <a:avLst/>
          </a:prstGeom>
          <a:noFill/>
          <a:ln/>
        </p:spPr>
        <p:txBody>
          <a:bodyPr wrap="square" lIns="0" tIns="0" rIns="0" bIns="0" rtlCol="0" anchor="t"/>
          <a:lstStyle/>
          <a:p>
            <a:pPr indent="0" marL="0">
              <a:buNone/>
            </a:pPr>
            <a:r>
              <a:rPr lang="en-US" sz="1400" dirty="0">
                <a:solidFill>
                  <a:srgbClr val="1A1A1A"/>
                </a:solidFill>
                <a:latin typeface="Calibri" pitchFamily="34" charset="0"/>
                <a:ea typeface="Calibri" pitchFamily="34" charset="-122"/>
                <a:cs typeface="Calibri" pitchFamily="34" charset="-120"/>
              </a:rPr>
              <a:t>Minus strand: NCBI writes start &gt; stop. UCSC: low number first.</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7F9"/>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0B3D59"/>
                </a:solidFill>
                <a:latin typeface="Cambria" pitchFamily="34" charset="0"/>
                <a:ea typeface="Cambria" pitchFamily="34" charset="-122"/>
                <a:cs typeface="Cambria" pitchFamily="34" charset="-120"/>
              </a:rPr>
              <a:t>Web UI or code?</a:t>
            </a:r>
            <a:endParaRPr lang="en-US" sz="3000" dirty="0"/>
          </a:p>
        </p:txBody>
      </p:sp>
      <p:sp>
        <p:nvSpPr>
          <p:cNvPr id="3" name="Text 1"/>
          <p:cNvSpPr txBox="1"/>
          <p:nvPr/>
        </p:nvSpPr>
        <p:spPr>
          <a:xfrm>
            <a:off x="8412480" y="4754880"/>
            <a:ext cx="365760" cy="228600"/>
          </a:xfrm>
          <a:prstGeom prst="rect">
            <a:avLst/>
          </a:prstGeom>
          <a:noFill/>
          <a:ln/>
        </p:spPr>
        <p:txBody>
          <a:bodyPr wrap="square" lIns="0" tIns="0" rIns="0" bIns="0" rtlCol="0" anchor="ctr"/>
          <a:lstStyle/>
          <a:p>
            <a:pPr algn="r" indent="0" marL="0">
              <a:buNone/>
            </a:pPr>
            <a:r>
              <a:rPr lang="en-US" sz="1000" dirty="0">
                <a:solidFill>
                  <a:srgbClr val="5A6B75"/>
                </a:solidFill>
              </a:rPr>
              <a:t>13</a:t>
            </a:r>
            <a:endParaRPr lang="en-US" sz="1000" dirty="0"/>
          </a:p>
        </p:txBody>
      </p:sp>
      <p:sp>
        <p:nvSpPr>
          <p:cNvPr id="5" name="Shape 2"/>
          <p:cNvSpPr/>
          <p:nvPr/>
        </p:nvSpPr>
        <p:spPr>
          <a:xfrm>
            <a:off x="457200" y="1097280"/>
            <a:ext cx="4023360" cy="2468880"/>
          </a:xfrm>
          <a:prstGeom prst="roundRect">
            <a:avLst>
              <a:gd name="adj" fmla="val 2963"/>
            </a:avLst>
          </a:prstGeom>
          <a:solidFill>
            <a:srgbClr val="E3E9EC"/>
          </a:solidFill>
          <a:ln w="12700">
            <a:solidFill>
              <a:srgbClr val="E3E9EC"/>
            </a:solidFill>
            <a:prstDash val="solid"/>
          </a:ln>
        </p:spPr>
      </p:sp>
      <p:sp>
        <p:nvSpPr>
          <p:cNvPr id="6" name="Text 3"/>
          <p:cNvSpPr txBox="1"/>
          <p:nvPr/>
        </p:nvSpPr>
        <p:spPr>
          <a:xfrm>
            <a:off x="640080" y="1207008"/>
            <a:ext cx="3657600" cy="365760"/>
          </a:xfrm>
          <a:prstGeom prst="rect">
            <a:avLst/>
          </a:prstGeom>
          <a:noFill/>
          <a:ln/>
        </p:spPr>
        <p:txBody>
          <a:bodyPr wrap="square" lIns="0" tIns="0" rIns="0" bIns="0" rtlCol="0" anchor="ctr"/>
          <a:lstStyle/>
          <a:p>
            <a:pPr indent="0" marL="0">
              <a:buNone/>
            </a:pPr>
            <a:r>
              <a:rPr lang="en-US" sz="1800" b="1" dirty="0">
                <a:solidFill>
                  <a:srgbClr val="0B3D59"/>
                </a:solidFill>
                <a:latin typeface="Cambria" pitchFamily="34" charset="0"/>
                <a:ea typeface="Cambria" pitchFamily="34" charset="-122"/>
                <a:cs typeface="Cambria" pitchFamily="34" charset="-120"/>
              </a:rPr>
              <a:t>Web UI</a:t>
            </a:r>
            <a:endParaRPr lang="en-US" sz="1800" dirty="0"/>
          </a:p>
        </p:txBody>
      </p:sp>
      <p:sp>
        <p:nvSpPr>
          <p:cNvPr id="7" name="Text 4"/>
          <p:cNvSpPr txBox="1"/>
          <p:nvPr/>
        </p:nvSpPr>
        <p:spPr>
          <a:xfrm>
            <a:off x="640080" y="1600200"/>
            <a:ext cx="3657600" cy="1874520"/>
          </a:xfrm>
          <a:prstGeom prst="rect">
            <a:avLst/>
          </a:prstGeom>
          <a:noFill/>
          <a:ln/>
        </p:spPr>
        <p:txBody>
          <a:bodyPr wrap="square" lIns="0" tIns="0" rIns="0" bIns="0" rtlCol="0" anchor="t"/>
          <a:lstStyle/>
          <a:p>
            <a:pPr indent="0" marL="0">
              <a:buNone/>
            </a:pPr>
            <a:r>
              <a:rPr lang="en-US" sz="1500" dirty="0">
                <a:solidFill>
                  <a:srgbClr val="1A1A1A"/>
                </a:solidFill>
                <a:latin typeface="Calibri" pitchFamily="34" charset="0"/>
                <a:ea typeface="Calibri" pitchFamily="34" charset="-122"/>
                <a:cs typeface="Calibri" pitchFamily="34" charset="-120"/>
              </a:rPr>
              <a:t>Table Browser, Gene, GEO search.</a:t>
            </a:r>
            <a:endParaRPr lang="en-US" sz="1500" dirty="0"/>
          </a:p>
          <a:p>
            <a:pPr indent="0" marL="0">
              <a:buNone/>
            </a:pPr>
            <a:endParaRPr lang="en-US" sz="1500" dirty="0"/>
          </a:p>
          <a:p>
            <a:pPr indent="0" marL="0">
              <a:buNone/>
            </a:pPr>
            <a:r>
              <a:rPr lang="en-US" sz="1500" dirty="0">
                <a:solidFill>
                  <a:srgbClr val="1A1A1A"/>
                </a:solidFill>
                <a:latin typeface="Calibri" pitchFamily="34" charset="0"/>
                <a:ea typeface="Calibri" pitchFamily="34" charset="-122"/>
                <a:cs typeface="Calibri" pitchFamily="34" charset="-120"/>
              </a:rPr>
              <a:t>✓ Fast to explore</a:t>
            </a:r>
            <a:endParaRPr lang="en-US" sz="1500" dirty="0"/>
          </a:p>
          <a:p>
            <a:pPr indent="0" marL="0">
              <a:buNone/>
            </a:pPr>
            <a:r>
              <a:rPr lang="en-US" sz="1500" dirty="0">
                <a:solidFill>
                  <a:srgbClr val="1A1A1A"/>
                </a:solidFill>
                <a:latin typeface="Calibri" pitchFamily="34" charset="0"/>
                <a:ea typeface="Calibri" pitchFamily="34" charset="-122"/>
                <a:cs typeface="Calibri" pitchFamily="34" charset="-120"/>
              </a:rPr>
              <a:t>✓ See what fields exist</a:t>
            </a:r>
            <a:endParaRPr lang="en-US" sz="1500" dirty="0"/>
          </a:p>
          <a:p>
            <a:pPr indent="0" marL="0">
              <a:buNone/>
            </a:pPr>
            <a:r>
              <a:rPr lang="en-US" sz="1500" dirty="0">
                <a:solidFill>
                  <a:srgbClr val="1A1A1A"/>
                </a:solidFill>
                <a:latin typeface="Calibri" pitchFamily="34" charset="0"/>
                <a:ea typeface="Calibri" pitchFamily="34" charset="-122"/>
                <a:cs typeface="Calibri" pitchFamily="34" charset="-120"/>
              </a:rPr>
              <a:t>✗ Click-path is not recorded</a:t>
            </a:r>
            <a:endParaRPr lang="en-US" sz="1500" dirty="0"/>
          </a:p>
          <a:p>
            <a:pPr indent="0" marL="0">
              <a:buNone/>
            </a:pPr>
            <a:r>
              <a:rPr lang="en-US" sz="1500" dirty="0">
                <a:solidFill>
                  <a:srgbClr val="1A1A1A"/>
                </a:solidFill>
                <a:latin typeface="Calibri" pitchFamily="34" charset="0"/>
                <a:ea typeface="Calibri" pitchFamily="34" charset="-122"/>
                <a:cs typeface="Calibri" pitchFamily="34" charset="-120"/>
              </a:rPr>
              <a:t>✗ Hard to re-run next month</a:t>
            </a:r>
            <a:endParaRPr lang="en-US" sz="1500" dirty="0"/>
          </a:p>
        </p:txBody>
      </p:sp>
      <p:sp>
        <p:nvSpPr>
          <p:cNvPr id="8" name="Shape 5"/>
          <p:cNvSpPr/>
          <p:nvPr/>
        </p:nvSpPr>
        <p:spPr>
          <a:xfrm>
            <a:off x="4663440" y="1097280"/>
            <a:ext cx="4023360" cy="2468880"/>
          </a:xfrm>
          <a:prstGeom prst="roundRect">
            <a:avLst>
              <a:gd name="adj" fmla="val 2963"/>
            </a:avLst>
          </a:prstGeom>
          <a:solidFill>
            <a:srgbClr val="CADCFC"/>
          </a:solidFill>
          <a:ln w="12700">
            <a:solidFill>
              <a:srgbClr val="CADCFC"/>
            </a:solidFill>
            <a:prstDash val="solid"/>
          </a:ln>
        </p:spPr>
      </p:sp>
      <p:sp>
        <p:nvSpPr>
          <p:cNvPr id="9" name="Text 6"/>
          <p:cNvSpPr txBox="1"/>
          <p:nvPr/>
        </p:nvSpPr>
        <p:spPr>
          <a:xfrm>
            <a:off x="4846320" y="1207008"/>
            <a:ext cx="3657600" cy="365760"/>
          </a:xfrm>
          <a:prstGeom prst="rect">
            <a:avLst/>
          </a:prstGeom>
          <a:noFill/>
          <a:ln/>
        </p:spPr>
        <p:txBody>
          <a:bodyPr wrap="square" lIns="0" tIns="0" rIns="0" bIns="0" rtlCol="0" anchor="ctr"/>
          <a:lstStyle/>
          <a:p>
            <a:pPr indent="0" marL="0">
              <a:buNone/>
            </a:pPr>
            <a:r>
              <a:rPr lang="en-US" sz="1800" b="1" dirty="0">
                <a:solidFill>
                  <a:srgbClr val="0B3D59"/>
                </a:solidFill>
                <a:latin typeface="Cambria" pitchFamily="34" charset="0"/>
                <a:ea typeface="Cambria" pitchFamily="34" charset="-122"/>
                <a:cs typeface="Cambria" pitchFamily="34" charset="-120"/>
              </a:rPr>
              <a:t>Programmatic</a:t>
            </a:r>
            <a:endParaRPr lang="en-US" sz="1800" dirty="0"/>
          </a:p>
        </p:txBody>
      </p:sp>
      <p:sp>
        <p:nvSpPr>
          <p:cNvPr id="10" name="Text 7"/>
          <p:cNvSpPr txBox="1"/>
          <p:nvPr/>
        </p:nvSpPr>
        <p:spPr>
          <a:xfrm>
            <a:off x="4846320" y="1600200"/>
            <a:ext cx="3657600" cy="1874520"/>
          </a:xfrm>
          <a:prstGeom prst="rect">
            <a:avLst/>
          </a:prstGeom>
          <a:noFill/>
          <a:ln/>
        </p:spPr>
        <p:txBody>
          <a:bodyPr wrap="square" lIns="0" tIns="0" rIns="0" bIns="0" rtlCol="0" anchor="t"/>
          <a:lstStyle/>
          <a:p>
            <a:pPr indent="0" marL="0">
              <a:buNone/>
            </a:pPr>
            <a:r>
              <a:rPr lang="en-US" sz="1500" dirty="0">
                <a:solidFill>
                  <a:srgbClr val="1A1A1A"/>
                </a:solidFill>
                <a:latin typeface="Calibri" pitchFamily="34" charset="0"/>
                <a:ea typeface="Calibri" pitchFamily="34" charset="-122"/>
                <a:cs typeface="Calibri" pitchFamily="34" charset="-120"/>
              </a:rPr>
              <a:t>REST API (curl, requests), E-utilities, datasets CLI, public MySQL.</a:t>
            </a:r>
            <a:endParaRPr lang="en-US" sz="1500" dirty="0"/>
          </a:p>
          <a:p>
            <a:pPr indent="0" marL="0">
              <a:buNone/>
            </a:pPr>
            <a:endParaRPr lang="en-US" sz="1500" dirty="0"/>
          </a:p>
          <a:p>
            <a:pPr indent="0" marL="0">
              <a:buNone/>
            </a:pPr>
            <a:r>
              <a:rPr lang="en-US" sz="1500" dirty="0">
                <a:solidFill>
                  <a:srgbClr val="1A1A1A"/>
                </a:solidFill>
                <a:latin typeface="Calibri" pitchFamily="34" charset="0"/>
                <a:ea typeface="Calibri" pitchFamily="34" charset="-122"/>
                <a:cs typeface="Calibri" pitchFamily="34" charset="-120"/>
              </a:rPr>
              <a:t>✓ Re-runnable, in your repo</a:t>
            </a:r>
            <a:endParaRPr lang="en-US" sz="1500" dirty="0"/>
          </a:p>
          <a:p>
            <a:pPr indent="0" marL="0">
              <a:buNone/>
            </a:pPr>
            <a:r>
              <a:rPr lang="en-US" sz="1500" dirty="0">
                <a:solidFill>
                  <a:srgbClr val="1A1A1A"/>
                </a:solidFill>
                <a:latin typeface="Calibri" pitchFamily="34" charset="0"/>
                <a:ea typeface="Calibri" pitchFamily="34" charset="-122"/>
                <a:cs typeface="Calibri" pitchFamily="34" charset="-120"/>
              </a:rPr>
              <a:t>✓ Feeds straight into Python / R</a:t>
            </a:r>
            <a:endParaRPr lang="en-US" sz="1500" dirty="0"/>
          </a:p>
          <a:p>
            <a:pPr indent="0" marL="0">
              <a:buNone/>
            </a:pPr>
            <a:r>
              <a:rPr lang="en-US" sz="1500" dirty="0">
                <a:solidFill>
                  <a:srgbClr val="1A1A1A"/>
                </a:solidFill>
                <a:latin typeface="Calibri" pitchFamily="34" charset="0"/>
                <a:ea typeface="Calibri" pitchFamily="34" charset="-122"/>
                <a:cs typeface="Calibri" pitchFamily="34" charset="-120"/>
              </a:rPr>
              <a:t>✗ Need to learn the schema</a:t>
            </a:r>
            <a:endParaRPr lang="en-US" sz="1500" dirty="0"/>
          </a:p>
        </p:txBody>
      </p:sp>
      <p:sp>
        <p:nvSpPr>
          <p:cNvPr id="11" name="Text 8"/>
          <p:cNvSpPr txBox="1"/>
          <p:nvPr/>
        </p:nvSpPr>
        <p:spPr>
          <a:xfrm>
            <a:off x="457200" y="3840480"/>
            <a:ext cx="8229600" cy="640080"/>
          </a:xfrm>
          <a:prstGeom prst="rect">
            <a:avLst/>
          </a:prstGeom>
          <a:noFill/>
          <a:ln/>
        </p:spPr>
        <p:txBody>
          <a:bodyPr wrap="square" lIns="0" tIns="0" rIns="0" bIns="0" rtlCol="0" anchor="ctr"/>
          <a:lstStyle/>
          <a:p>
            <a:pPr indent="0" marL="0">
              <a:buNone/>
            </a:pPr>
            <a:r>
              <a:rPr lang="en-US" sz="2000" b="1" dirty="0">
                <a:solidFill>
                  <a:srgbClr val="0B3D59"/>
                </a:solidFill>
                <a:latin typeface="Cambria" pitchFamily="34" charset="0"/>
                <a:ea typeface="Cambria" pitchFamily="34" charset="-122"/>
                <a:cs typeface="Cambria" pitchFamily="34" charset="-120"/>
              </a:rPr>
              <a:t>Explore in the browser. The moment you need it twice, script it and commit it.</a:t>
            </a: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7F9"/>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0B3D59"/>
                </a:solidFill>
                <a:latin typeface="Cambria" pitchFamily="34" charset="0"/>
                <a:ea typeface="Cambria" pitchFamily="34" charset="-122"/>
                <a:cs typeface="Cambria" pitchFamily="34" charset="-120"/>
              </a:rPr>
              <a:t>Ask an AI for SQL. Then audit it.</a:t>
            </a:r>
            <a:endParaRPr lang="en-US" sz="3000" dirty="0"/>
          </a:p>
        </p:txBody>
      </p:sp>
      <p:sp>
        <p:nvSpPr>
          <p:cNvPr id="3" name="Text 1"/>
          <p:cNvSpPr txBox="1"/>
          <p:nvPr/>
        </p:nvSpPr>
        <p:spPr>
          <a:xfrm>
            <a:off x="8412480" y="4754880"/>
            <a:ext cx="365760" cy="228600"/>
          </a:xfrm>
          <a:prstGeom prst="rect">
            <a:avLst/>
          </a:prstGeom>
          <a:noFill/>
          <a:ln/>
        </p:spPr>
        <p:txBody>
          <a:bodyPr wrap="square" lIns="0" tIns="0" rIns="0" bIns="0" rtlCol="0" anchor="ctr"/>
          <a:lstStyle/>
          <a:p>
            <a:pPr algn="r" indent="0" marL="0">
              <a:buNone/>
            </a:pPr>
            <a:r>
              <a:rPr lang="en-US" sz="1000" dirty="0">
                <a:solidFill>
                  <a:srgbClr val="5A6B75"/>
                </a:solidFill>
              </a:rPr>
              <a:t>14</a:t>
            </a:r>
            <a:endParaRPr lang="en-US" sz="1000" dirty="0"/>
          </a:p>
        </p:txBody>
      </p:sp>
      <p:sp>
        <p:nvSpPr>
          <p:cNvPr id="5" name="Shape 2"/>
          <p:cNvSpPr/>
          <p:nvPr/>
        </p:nvSpPr>
        <p:spPr>
          <a:xfrm>
            <a:off x="457200" y="1051560"/>
            <a:ext cx="5120640" cy="3017520"/>
          </a:xfrm>
          <a:prstGeom prst="roundRect">
            <a:avLst>
              <a:gd name="adj" fmla="val 2424"/>
            </a:avLst>
          </a:prstGeom>
          <a:solidFill>
            <a:srgbClr val="082C40"/>
          </a:solidFill>
          <a:ln w="12700">
            <a:solidFill>
              <a:srgbClr val="082C40"/>
            </a:solidFill>
            <a:prstDash val="solid"/>
          </a:ln>
        </p:spPr>
      </p:sp>
      <p:sp>
        <p:nvSpPr>
          <p:cNvPr id="6" name="Text 3"/>
          <p:cNvSpPr txBox="1"/>
          <p:nvPr/>
        </p:nvSpPr>
        <p:spPr>
          <a:xfrm>
            <a:off x="594360" y="1124712"/>
            <a:ext cx="4846320" cy="2871216"/>
          </a:xfrm>
          <a:prstGeom prst="rect">
            <a:avLst/>
          </a:prstGeom>
          <a:noFill/>
          <a:ln/>
        </p:spPr>
        <p:txBody>
          <a:bodyPr wrap="square" lIns="0" tIns="0" rIns="0" bIns="0" rtlCol="0" anchor="t"/>
          <a:lstStyle/>
          <a:p>
            <a:pPr indent="0" marL="0">
              <a:buNone/>
            </a:pPr>
            <a:r>
              <a:rPr lang="en-US" sz="1200" dirty="0">
                <a:solidFill>
                  <a:srgbClr val="E8EEF2"/>
                </a:solidFill>
                <a:latin typeface="Courier New" pitchFamily="34" charset="0"/>
                <a:ea typeface="Courier New" pitchFamily="34" charset="-122"/>
                <a:cs typeface="Courier New" pitchFamily="34" charset="-120"/>
              </a:rPr>
              <a:t>SELECT s.subject_id,</a:t>
            </a:r>
            <a:endParaRPr lang="en-US" sz="1200" dirty="0"/>
          </a:p>
          <a:p>
            <a:pPr indent="0" marL="0">
              <a:buNone/>
            </a:pPr>
            <a:r>
              <a:rPr lang="en-US" sz="1200" dirty="0">
                <a:solidFill>
                  <a:srgbClr val="E8EEF2"/>
                </a:solidFill>
                <a:latin typeface="Courier New" pitchFamily="34" charset="0"/>
                <a:ea typeface="Courier New" pitchFamily="34" charset="-122"/>
                <a:cs typeface="Courier New" pitchFamily="34" charset="-120"/>
              </a:rPr>
              <a:t>  COUNT(DISTINCT sa.sample_id)</a:t>
            </a:r>
            <a:endParaRPr lang="en-US" sz="1200" dirty="0"/>
          </a:p>
          <a:p>
            <a:pPr indent="0" marL="0">
              <a:buNone/>
            </a:pPr>
            <a:r>
              <a:rPr lang="en-US" sz="1200" dirty="0">
                <a:solidFill>
                  <a:srgbClr val="E8EEF2"/>
                </a:solidFill>
                <a:latin typeface="Courier New" pitchFamily="34" charset="0"/>
                <a:ea typeface="Courier New" pitchFamily="34" charset="-122"/>
                <a:cs typeface="Courier New" pitchFamily="34" charset="-120"/>
              </a:rPr>
              <a:t>    AS kras_tumor_samples</a:t>
            </a:r>
            <a:endParaRPr lang="en-US" sz="1200" dirty="0"/>
          </a:p>
          <a:p>
            <a:pPr indent="0" marL="0">
              <a:buNone/>
            </a:pPr>
            <a:r>
              <a:rPr lang="en-US" sz="1200" dirty="0">
                <a:solidFill>
                  <a:srgbClr val="E8EEF2"/>
                </a:solidFill>
                <a:latin typeface="Courier New" pitchFamily="34" charset="0"/>
                <a:ea typeface="Courier New" pitchFamily="34" charset="-122"/>
                <a:cs typeface="Courier New" pitchFamily="34" charset="-120"/>
              </a:rPr>
              <a:t>FROM subjects s</a:t>
            </a:r>
            <a:endParaRPr lang="en-US" sz="1200" dirty="0"/>
          </a:p>
          <a:p>
            <a:pPr indent="0" marL="0">
              <a:buNone/>
            </a:pPr>
            <a:r>
              <a:rPr lang="en-US" sz="1200" dirty="0">
                <a:solidFill>
                  <a:srgbClr val="E8EEF2"/>
                </a:solidFill>
                <a:latin typeface="Courier New" pitchFamily="34" charset="0"/>
                <a:ea typeface="Courier New" pitchFamily="34" charset="-122"/>
                <a:cs typeface="Courier New" pitchFamily="34" charset="-120"/>
              </a:rPr>
              <a:t>LEFT JOIN samples sa</a:t>
            </a:r>
            <a:endParaRPr lang="en-US" sz="1200" dirty="0"/>
          </a:p>
          <a:p>
            <a:pPr indent="0" marL="0">
              <a:buNone/>
            </a:pPr>
            <a:r>
              <a:rPr lang="en-US" sz="1200" dirty="0">
                <a:solidFill>
                  <a:srgbClr val="E8EEF2"/>
                </a:solidFill>
                <a:latin typeface="Courier New" pitchFamily="34" charset="0"/>
                <a:ea typeface="Courier New" pitchFamily="34" charset="-122"/>
                <a:cs typeface="Courier New" pitchFamily="34" charset="-120"/>
              </a:rPr>
              <a:t>  ON sa.subject_id = s.subject_id</a:t>
            </a:r>
            <a:endParaRPr lang="en-US" sz="1200" dirty="0"/>
          </a:p>
          <a:p>
            <a:pPr indent="0" marL="0">
              <a:buNone/>
            </a:pPr>
            <a:r>
              <a:rPr lang="en-US" sz="1200" dirty="0">
                <a:solidFill>
                  <a:srgbClr val="E8EEF2"/>
                </a:solidFill>
                <a:latin typeface="Courier New" pitchFamily="34" charset="0"/>
                <a:ea typeface="Courier New" pitchFamily="34" charset="-122"/>
                <a:cs typeface="Courier New" pitchFamily="34" charset="-120"/>
              </a:rPr>
              <a:t>LEFT JOIN mutations m</a:t>
            </a:r>
            <a:endParaRPr lang="en-US" sz="1200" dirty="0"/>
          </a:p>
          <a:p>
            <a:pPr indent="0" marL="0">
              <a:buNone/>
            </a:pPr>
            <a:r>
              <a:rPr lang="en-US" sz="1200" dirty="0">
                <a:solidFill>
                  <a:srgbClr val="E8EEF2"/>
                </a:solidFill>
                <a:latin typeface="Courier New" pitchFamily="34" charset="0"/>
                <a:ea typeface="Courier New" pitchFamily="34" charset="-122"/>
                <a:cs typeface="Courier New" pitchFamily="34" charset="-120"/>
              </a:rPr>
              <a:t>  ON m.sample_id = sa.sample_id</a:t>
            </a:r>
            <a:endParaRPr lang="en-US" sz="1200" dirty="0"/>
          </a:p>
          <a:p>
            <a:pPr indent="0" marL="0">
              <a:buNone/>
            </a:pPr>
            <a:r>
              <a:rPr lang="en-US" sz="1200" dirty="0">
                <a:solidFill>
                  <a:srgbClr val="E8EEF2"/>
                </a:solidFill>
                <a:latin typeface="Courier New" pitchFamily="34" charset="0"/>
                <a:ea typeface="Courier New" pitchFamily="34" charset="-122"/>
                <a:cs typeface="Courier New" pitchFamily="34" charset="-120"/>
              </a:rPr>
              <a:t>WHERE sa.tissue = 'tumor'</a:t>
            </a:r>
            <a:endParaRPr lang="en-US" sz="1200" dirty="0"/>
          </a:p>
          <a:p>
            <a:pPr indent="0" marL="0">
              <a:buNone/>
            </a:pPr>
            <a:r>
              <a:rPr lang="en-US" sz="1200" dirty="0">
                <a:solidFill>
                  <a:srgbClr val="E8EEF2"/>
                </a:solidFill>
                <a:latin typeface="Courier New" pitchFamily="34" charset="0"/>
                <a:ea typeface="Courier New" pitchFamily="34" charset="-122"/>
                <a:cs typeface="Courier New" pitchFamily="34" charset="-120"/>
              </a:rPr>
              <a:t>  AND m.gene_symbol = 'KRAS'</a:t>
            </a:r>
            <a:endParaRPr lang="en-US" sz="1200" dirty="0"/>
          </a:p>
          <a:p>
            <a:pPr indent="0" marL="0">
              <a:buNone/>
            </a:pPr>
            <a:r>
              <a:rPr lang="en-US" sz="1200" dirty="0">
                <a:solidFill>
                  <a:srgbClr val="E8EEF2"/>
                </a:solidFill>
                <a:latin typeface="Courier New" pitchFamily="34" charset="0"/>
                <a:ea typeface="Courier New" pitchFamily="34" charset="-122"/>
                <a:cs typeface="Courier New" pitchFamily="34" charset="-120"/>
              </a:rPr>
              <a:t>GROUP BY s.subject_id;</a:t>
            </a:r>
            <a:endParaRPr lang="en-US" sz="1200" dirty="0"/>
          </a:p>
        </p:txBody>
      </p:sp>
      <p:sp>
        <p:nvSpPr>
          <p:cNvPr id="7" name="Shape 4"/>
          <p:cNvSpPr/>
          <p:nvPr/>
        </p:nvSpPr>
        <p:spPr>
          <a:xfrm>
            <a:off x="5760720" y="1051560"/>
            <a:ext cx="2926080" cy="3017520"/>
          </a:xfrm>
          <a:prstGeom prst="roundRect">
            <a:avLst>
              <a:gd name="adj" fmla="val 2500"/>
            </a:avLst>
          </a:prstGeom>
          <a:solidFill>
            <a:srgbClr val="CADCFC"/>
          </a:solidFill>
          <a:ln w="12700">
            <a:solidFill>
              <a:srgbClr val="CADCFC"/>
            </a:solidFill>
            <a:prstDash val="solid"/>
          </a:ln>
        </p:spPr>
      </p:sp>
      <p:sp>
        <p:nvSpPr>
          <p:cNvPr id="8" name="Text 5"/>
          <p:cNvSpPr txBox="1"/>
          <p:nvPr/>
        </p:nvSpPr>
        <p:spPr>
          <a:xfrm>
            <a:off x="5943600" y="1161288"/>
            <a:ext cx="2560320" cy="365760"/>
          </a:xfrm>
          <a:prstGeom prst="rect">
            <a:avLst/>
          </a:prstGeom>
          <a:noFill/>
          <a:ln/>
        </p:spPr>
        <p:txBody>
          <a:bodyPr wrap="square" lIns="0" tIns="0" rIns="0" bIns="0" rtlCol="0" anchor="ctr"/>
          <a:lstStyle/>
          <a:p>
            <a:pPr indent="0" marL="0">
              <a:buNone/>
            </a:pPr>
            <a:r>
              <a:rPr lang="en-US" sz="1800" b="1" dirty="0">
                <a:solidFill>
                  <a:srgbClr val="0B3D59"/>
                </a:solidFill>
                <a:latin typeface="Cambria" pitchFamily="34" charset="0"/>
                <a:ea typeface="Cambria" pitchFamily="34" charset="-122"/>
                <a:cs typeface="Cambria" pitchFamily="34" charset="-120"/>
              </a:rPr>
              <a:t>What is wrong?</a:t>
            </a:r>
            <a:endParaRPr lang="en-US" sz="1800" dirty="0"/>
          </a:p>
        </p:txBody>
      </p:sp>
      <p:sp>
        <p:nvSpPr>
          <p:cNvPr id="9" name="Text 6"/>
          <p:cNvSpPr txBox="1"/>
          <p:nvPr/>
        </p:nvSpPr>
        <p:spPr>
          <a:xfrm>
            <a:off x="5943600" y="1554480"/>
            <a:ext cx="2560320" cy="2423160"/>
          </a:xfrm>
          <a:prstGeom prst="rect">
            <a:avLst/>
          </a:prstGeom>
          <a:noFill/>
          <a:ln/>
        </p:spPr>
        <p:txBody>
          <a:bodyPr wrap="square" lIns="0" tIns="0" rIns="0" bIns="0" rtlCol="0" anchor="t"/>
          <a:lstStyle/>
          <a:p>
            <a:pPr indent="0" marL="0">
              <a:buNone/>
            </a:pPr>
            <a:r>
              <a:rPr lang="en-US" sz="1400" dirty="0">
                <a:solidFill>
                  <a:srgbClr val="1A1A1A"/>
                </a:solidFill>
                <a:latin typeface="Calibri" pitchFamily="34" charset="0"/>
                <a:ea typeface="Calibri" pitchFamily="34" charset="-122"/>
                <a:cs typeface="Calibri" pitchFamily="34" charset="-120"/>
              </a:rPr>
              <a:t>Pairs, 90 seconds.</a:t>
            </a:r>
            <a:endParaRPr lang="en-US" sz="1400" dirty="0"/>
          </a:p>
          <a:p>
            <a:pPr indent="0" marL="0">
              <a:buNone/>
            </a:pPr>
            <a:endParaRPr lang="en-US" sz="1400" dirty="0"/>
          </a:p>
          <a:p>
            <a:pPr indent="0" marL="0">
              <a:buNone/>
            </a:pPr>
            <a:r>
              <a:rPr lang="en-US" sz="1400" dirty="0">
                <a:solidFill>
                  <a:srgbClr val="1A1A1A"/>
                </a:solidFill>
                <a:latin typeface="Calibri" pitchFamily="34" charset="0"/>
                <a:ea typeface="Calibri" pitchFamily="34" charset="-122"/>
                <a:cs typeface="Calibri" pitchFamily="34" charset="-120"/>
              </a:rPr>
              <a:t>Hint 1: what happens to NULL rows in WHERE?</a:t>
            </a:r>
            <a:endParaRPr lang="en-US" sz="1400" dirty="0"/>
          </a:p>
          <a:p>
            <a:pPr indent="0" marL="0">
              <a:buNone/>
            </a:pPr>
            <a:r>
              <a:rPr lang="en-US" sz="1400" dirty="0">
                <a:solidFill>
                  <a:srgbClr val="1A1A1A"/>
                </a:solidFill>
                <a:latin typeface="Calibri" pitchFamily="34" charset="0"/>
                <a:ea typeface="Calibri" pitchFamily="34" charset="-122"/>
                <a:cs typeface="Calibri" pitchFamily="34" charset="-120"/>
              </a:rPr>
              <a:t>Hint 2: look at the gene spelling data.</a:t>
            </a:r>
            <a:endParaRPr lang="en-US" sz="1400" dirty="0"/>
          </a:p>
        </p:txBody>
      </p:sp>
      <p:sp>
        <p:nvSpPr>
          <p:cNvPr id="10" name="Text 7"/>
          <p:cNvSpPr txBox="1"/>
          <p:nvPr/>
        </p:nvSpPr>
        <p:spPr>
          <a:xfrm>
            <a:off x="457200" y="4206240"/>
            <a:ext cx="8229600" cy="457200"/>
          </a:xfrm>
          <a:prstGeom prst="rect">
            <a:avLst/>
          </a:prstGeom>
          <a:noFill/>
          <a:ln/>
        </p:spPr>
        <p:txBody>
          <a:bodyPr wrap="square" lIns="0" tIns="0" rIns="0" bIns="0" rtlCol="0" anchor="ctr"/>
          <a:lstStyle/>
          <a:p>
            <a:pPr indent="0" marL="0">
              <a:buNone/>
            </a:pPr>
            <a:r>
              <a:rPr lang="en-US" sz="1600" b="1" dirty="0">
                <a:solidFill>
                  <a:srgbClr val="B23A48"/>
                </a:solidFill>
              </a:rPr>
              <a:t>Returns 2 rows (subjects 1 and 6). Correct answer: all 8 subjects.</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7F9"/>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0B3D59"/>
                </a:solidFill>
                <a:latin typeface="Cambria" pitchFamily="34" charset="0"/>
                <a:ea typeface="Cambria" pitchFamily="34" charset="-122"/>
                <a:cs typeface="Cambria" pitchFamily="34" charset="-120"/>
              </a:rPr>
              <a:t>The audit habit</a:t>
            </a:r>
            <a:endParaRPr lang="en-US" sz="3000" dirty="0"/>
          </a:p>
        </p:txBody>
      </p:sp>
      <p:sp>
        <p:nvSpPr>
          <p:cNvPr id="3" name="Text 1"/>
          <p:cNvSpPr txBox="1"/>
          <p:nvPr/>
        </p:nvSpPr>
        <p:spPr>
          <a:xfrm>
            <a:off x="8412480" y="4754880"/>
            <a:ext cx="365760" cy="228600"/>
          </a:xfrm>
          <a:prstGeom prst="rect">
            <a:avLst/>
          </a:prstGeom>
          <a:noFill/>
          <a:ln/>
        </p:spPr>
        <p:txBody>
          <a:bodyPr wrap="square" lIns="0" tIns="0" rIns="0" bIns="0" rtlCol="0" anchor="ctr"/>
          <a:lstStyle/>
          <a:p>
            <a:pPr algn="r" indent="0" marL="0">
              <a:buNone/>
            </a:pPr>
            <a:r>
              <a:rPr lang="en-US" sz="1000" dirty="0">
                <a:solidFill>
                  <a:srgbClr val="5A6B75"/>
                </a:solidFill>
              </a:rPr>
              <a:t>15</a:t>
            </a:r>
            <a:endParaRPr lang="en-US" sz="1000" dirty="0"/>
          </a:p>
        </p:txBody>
      </p:sp>
      <p:sp>
        <p:nvSpPr>
          <p:cNvPr id="5" name="Shape 2"/>
          <p:cNvSpPr/>
          <p:nvPr/>
        </p:nvSpPr>
        <p:spPr>
          <a:xfrm>
            <a:off x="457200" y="1051560"/>
            <a:ext cx="4754880" cy="3108960"/>
          </a:xfrm>
          <a:prstGeom prst="roundRect">
            <a:avLst>
              <a:gd name="adj" fmla="val 2353"/>
            </a:avLst>
          </a:prstGeom>
          <a:solidFill>
            <a:srgbClr val="082C40"/>
          </a:solidFill>
          <a:ln w="12700">
            <a:solidFill>
              <a:srgbClr val="082C40"/>
            </a:solidFill>
            <a:prstDash val="solid"/>
          </a:ln>
        </p:spPr>
      </p:sp>
      <p:sp>
        <p:nvSpPr>
          <p:cNvPr id="6" name="Text 3"/>
          <p:cNvSpPr txBox="1"/>
          <p:nvPr/>
        </p:nvSpPr>
        <p:spPr>
          <a:xfrm>
            <a:off x="594360" y="1124712"/>
            <a:ext cx="4480560" cy="2962656"/>
          </a:xfrm>
          <a:prstGeom prst="rect">
            <a:avLst/>
          </a:prstGeom>
          <a:noFill/>
          <a:ln/>
        </p:spPr>
        <p:txBody>
          <a:bodyPr wrap="square" lIns="0" tIns="0" rIns="0" bIns="0" rtlCol="0" anchor="t"/>
          <a:lstStyle/>
          <a:p>
            <a:pPr indent="0" marL="0">
              <a:buNone/>
            </a:pPr>
            <a:r>
              <a:rPr lang="en-US" sz="1200" dirty="0">
                <a:solidFill>
                  <a:srgbClr val="E8EEF2"/>
                </a:solidFill>
                <a:latin typeface="Courier New" pitchFamily="34" charset="0"/>
                <a:ea typeface="Courier New" pitchFamily="34" charset="-122"/>
                <a:cs typeface="Courier New" pitchFamily="34" charset="-120"/>
              </a:rPr>
              <a:t>SELECT s.subject_id,</a:t>
            </a:r>
            <a:endParaRPr lang="en-US" sz="1200" dirty="0"/>
          </a:p>
          <a:p>
            <a:pPr indent="0" marL="0">
              <a:buNone/>
            </a:pPr>
            <a:r>
              <a:rPr lang="en-US" sz="1200" dirty="0">
                <a:solidFill>
                  <a:srgbClr val="E8EEF2"/>
                </a:solidFill>
                <a:latin typeface="Courier New" pitchFamily="34" charset="0"/>
                <a:ea typeface="Courier New" pitchFamily="34" charset="-122"/>
                <a:cs typeface="Courier New" pitchFamily="34" charset="-120"/>
              </a:rPr>
              <a:t>  COUNT(DISTINCT m.sample_id)</a:t>
            </a:r>
            <a:endParaRPr lang="en-US" sz="1200" dirty="0"/>
          </a:p>
          <a:p>
            <a:pPr indent="0" marL="0">
              <a:buNone/>
            </a:pPr>
            <a:r>
              <a:rPr lang="en-US" sz="1200" dirty="0">
                <a:solidFill>
                  <a:srgbClr val="E8EEF2"/>
                </a:solidFill>
                <a:latin typeface="Courier New" pitchFamily="34" charset="0"/>
                <a:ea typeface="Courier New" pitchFamily="34" charset="-122"/>
                <a:cs typeface="Courier New" pitchFamily="34" charset="-120"/>
              </a:rPr>
              <a:t>    AS kras_tumor_samples</a:t>
            </a:r>
            <a:endParaRPr lang="en-US" sz="1200" dirty="0"/>
          </a:p>
          <a:p>
            <a:pPr indent="0" marL="0">
              <a:buNone/>
            </a:pPr>
            <a:r>
              <a:rPr lang="en-US" sz="1200" dirty="0">
                <a:solidFill>
                  <a:srgbClr val="E8EEF2"/>
                </a:solidFill>
                <a:latin typeface="Courier New" pitchFamily="34" charset="0"/>
                <a:ea typeface="Courier New" pitchFamily="34" charset="-122"/>
                <a:cs typeface="Courier New" pitchFamily="34" charset="-120"/>
              </a:rPr>
              <a:t>FROM subjects s</a:t>
            </a:r>
            <a:endParaRPr lang="en-US" sz="1200" dirty="0"/>
          </a:p>
          <a:p>
            <a:pPr indent="0" marL="0">
              <a:buNone/>
            </a:pPr>
            <a:r>
              <a:rPr lang="en-US" sz="1200" dirty="0">
                <a:solidFill>
                  <a:srgbClr val="E8EEF2"/>
                </a:solidFill>
                <a:latin typeface="Courier New" pitchFamily="34" charset="0"/>
                <a:ea typeface="Courier New" pitchFamily="34" charset="-122"/>
                <a:cs typeface="Courier New" pitchFamily="34" charset="-120"/>
              </a:rPr>
              <a:t>LEFT JOIN samples sa</a:t>
            </a:r>
            <a:endParaRPr lang="en-US" sz="1200" dirty="0"/>
          </a:p>
          <a:p>
            <a:pPr indent="0" marL="0">
              <a:buNone/>
            </a:pPr>
            <a:r>
              <a:rPr lang="en-US" sz="1200" dirty="0">
                <a:solidFill>
                  <a:srgbClr val="E8EEF2"/>
                </a:solidFill>
                <a:latin typeface="Courier New" pitchFamily="34" charset="0"/>
                <a:ea typeface="Courier New" pitchFamily="34" charset="-122"/>
                <a:cs typeface="Courier New" pitchFamily="34" charset="-120"/>
              </a:rPr>
              <a:t>  ON sa.subject_id = s.subject_id</a:t>
            </a:r>
            <a:endParaRPr lang="en-US" sz="1200" dirty="0"/>
          </a:p>
          <a:p>
            <a:pPr indent="0" marL="0">
              <a:buNone/>
            </a:pPr>
            <a:r>
              <a:rPr lang="en-US" sz="1200" dirty="0">
                <a:solidFill>
                  <a:srgbClr val="E8EEF2"/>
                </a:solidFill>
                <a:latin typeface="Courier New" pitchFamily="34" charset="0"/>
                <a:ea typeface="Courier New" pitchFamily="34" charset="-122"/>
                <a:cs typeface="Courier New" pitchFamily="34" charset="-120"/>
              </a:rPr>
              <a:t> AND sa.tissue = 'tumor'</a:t>
            </a:r>
            <a:endParaRPr lang="en-US" sz="1200" dirty="0"/>
          </a:p>
          <a:p>
            <a:pPr indent="0" marL="0">
              <a:buNone/>
            </a:pPr>
            <a:r>
              <a:rPr lang="en-US" sz="1200" dirty="0">
                <a:solidFill>
                  <a:srgbClr val="E8EEF2"/>
                </a:solidFill>
                <a:latin typeface="Courier New" pitchFamily="34" charset="0"/>
                <a:ea typeface="Courier New" pitchFamily="34" charset="-122"/>
                <a:cs typeface="Courier New" pitchFamily="34" charset="-120"/>
              </a:rPr>
              <a:t>LEFT JOIN mutations m</a:t>
            </a:r>
            <a:endParaRPr lang="en-US" sz="1200" dirty="0"/>
          </a:p>
          <a:p>
            <a:pPr indent="0" marL="0">
              <a:buNone/>
            </a:pPr>
            <a:r>
              <a:rPr lang="en-US" sz="1200" dirty="0">
                <a:solidFill>
                  <a:srgbClr val="E8EEF2"/>
                </a:solidFill>
                <a:latin typeface="Courier New" pitchFamily="34" charset="0"/>
                <a:ea typeface="Courier New" pitchFamily="34" charset="-122"/>
                <a:cs typeface="Courier New" pitchFamily="34" charset="-120"/>
              </a:rPr>
              <a:t>  ON m.sample_id = sa.sample_id</a:t>
            </a:r>
            <a:endParaRPr lang="en-US" sz="1200" dirty="0"/>
          </a:p>
          <a:p>
            <a:pPr indent="0" marL="0">
              <a:buNone/>
            </a:pPr>
            <a:r>
              <a:rPr lang="en-US" sz="1200" dirty="0">
                <a:solidFill>
                  <a:srgbClr val="E8EEF2"/>
                </a:solidFill>
                <a:latin typeface="Courier New" pitchFamily="34" charset="0"/>
                <a:ea typeface="Courier New" pitchFamily="34" charset="-122"/>
                <a:cs typeface="Courier New" pitchFamily="34" charset="-120"/>
              </a:rPr>
              <a:t> AND UPPER(TRIM(m.gene_symbol))</a:t>
            </a:r>
            <a:endParaRPr lang="en-US" sz="1200" dirty="0"/>
          </a:p>
          <a:p>
            <a:pPr indent="0" marL="0">
              <a:buNone/>
            </a:pPr>
            <a:r>
              <a:rPr lang="en-US" sz="1200" dirty="0">
                <a:solidFill>
                  <a:srgbClr val="E8EEF2"/>
                </a:solidFill>
                <a:latin typeface="Courier New" pitchFamily="34" charset="0"/>
                <a:ea typeface="Courier New" pitchFamily="34" charset="-122"/>
                <a:cs typeface="Courier New" pitchFamily="34" charset="-120"/>
              </a:rPr>
              <a:t>     = 'KRAS'</a:t>
            </a:r>
            <a:endParaRPr lang="en-US" sz="1200" dirty="0"/>
          </a:p>
          <a:p>
            <a:pPr indent="0" marL="0">
              <a:buNone/>
            </a:pPr>
            <a:r>
              <a:rPr lang="en-US" sz="1200" dirty="0">
                <a:solidFill>
                  <a:srgbClr val="E8EEF2"/>
                </a:solidFill>
                <a:latin typeface="Courier New" pitchFamily="34" charset="0"/>
                <a:ea typeface="Courier New" pitchFamily="34" charset="-122"/>
                <a:cs typeface="Courier New" pitchFamily="34" charset="-120"/>
              </a:rPr>
              <a:t>GROUP BY s.subject_id;</a:t>
            </a:r>
            <a:endParaRPr lang="en-US" sz="1200" dirty="0"/>
          </a:p>
        </p:txBody>
      </p:sp>
      <p:sp>
        <p:nvSpPr>
          <p:cNvPr id="7" name="Shape 4"/>
          <p:cNvSpPr/>
          <p:nvPr/>
        </p:nvSpPr>
        <p:spPr>
          <a:xfrm>
            <a:off x="5394960" y="1051560"/>
            <a:ext cx="3291840" cy="3108960"/>
          </a:xfrm>
          <a:prstGeom prst="roundRect">
            <a:avLst>
              <a:gd name="adj" fmla="val 2353"/>
            </a:avLst>
          </a:prstGeom>
          <a:solidFill>
            <a:srgbClr val="CADCFC"/>
          </a:solidFill>
          <a:ln w="12700">
            <a:solidFill>
              <a:srgbClr val="CADCFC"/>
            </a:solidFill>
            <a:prstDash val="solid"/>
          </a:ln>
        </p:spPr>
      </p:sp>
      <p:sp>
        <p:nvSpPr>
          <p:cNvPr id="8" name="Text 5"/>
          <p:cNvSpPr txBox="1"/>
          <p:nvPr/>
        </p:nvSpPr>
        <p:spPr>
          <a:xfrm>
            <a:off x="5577840" y="1161288"/>
            <a:ext cx="2926080" cy="365760"/>
          </a:xfrm>
          <a:prstGeom prst="rect">
            <a:avLst/>
          </a:prstGeom>
          <a:noFill/>
          <a:ln/>
        </p:spPr>
        <p:txBody>
          <a:bodyPr wrap="square" lIns="0" tIns="0" rIns="0" bIns="0" rtlCol="0" anchor="ctr"/>
          <a:lstStyle/>
          <a:p>
            <a:pPr indent="0" marL="0">
              <a:buNone/>
            </a:pPr>
            <a:r>
              <a:rPr lang="en-US" sz="1600" b="1" dirty="0">
                <a:solidFill>
                  <a:srgbClr val="0B3D59"/>
                </a:solidFill>
                <a:latin typeface="Cambria" pitchFamily="34" charset="0"/>
                <a:ea typeface="Cambria" pitchFamily="34" charset="-122"/>
                <a:cs typeface="Cambria" pitchFamily="34" charset="-120"/>
              </a:rPr>
              <a:t>Before you trust a query</a:t>
            </a:r>
            <a:endParaRPr lang="en-US" sz="1600" dirty="0"/>
          </a:p>
        </p:txBody>
      </p:sp>
      <p:sp>
        <p:nvSpPr>
          <p:cNvPr id="9" name="Text 6"/>
          <p:cNvSpPr txBox="1"/>
          <p:nvPr/>
        </p:nvSpPr>
        <p:spPr>
          <a:xfrm>
            <a:off x="5577840" y="1554480"/>
            <a:ext cx="2926080" cy="2514600"/>
          </a:xfrm>
          <a:prstGeom prst="rect">
            <a:avLst/>
          </a:prstGeom>
          <a:noFill/>
          <a:ln/>
        </p:spPr>
        <p:txBody>
          <a:bodyPr wrap="square" lIns="0" tIns="0" rIns="0" bIns="0" rtlCol="0" anchor="t"/>
          <a:lstStyle/>
          <a:p>
            <a:pPr indent="0" marL="0">
              <a:buNone/>
            </a:pPr>
            <a:r>
              <a:rPr lang="en-US" sz="1400" dirty="0">
                <a:solidFill>
                  <a:srgbClr val="1A1A1A"/>
                </a:solidFill>
                <a:latin typeface="Calibri" pitchFamily="34" charset="0"/>
                <a:ea typeface="Calibri" pitchFamily="34" charset="-122"/>
                <a:cs typeface="Calibri" pitchFamily="34" charset="-120"/>
              </a:rPr>
              <a:t>1. What is one row?</a:t>
            </a:r>
            <a:endParaRPr lang="en-US" sz="1400" dirty="0"/>
          </a:p>
          <a:p>
            <a:pPr indent="0" marL="0">
              <a:buNone/>
            </a:pPr>
            <a:r>
              <a:rPr lang="en-US" sz="1400" dirty="0">
                <a:solidFill>
                  <a:srgbClr val="1A1A1A"/>
                </a:solidFill>
                <a:latin typeface="Calibri" pitchFamily="34" charset="0"/>
                <a:ea typeface="Calibri" pitchFamily="34" charset="-122"/>
                <a:cs typeface="Calibri" pitchFamily="34" charset="-120"/>
              </a:rPr>
              <a:t>2. Row count before / after each join?</a:t>
            </a:r>
            <a:endParaRPr lang="en-US" sz="1400" dirty="0"/>
          </a:p>
          <a:p>
            <a:pPr indent="0" marL="0">
              <a:buNone/>
            </a:pPr>
            <a:r>
              <a:rPr lang="en-US" sz="1400" dirty="0">
                <a:solidFill>
                  <a:srgbClr val="1A1A1A"/>
                </a:solidFill>
                <a:latin typeface="Calibri" pitchFamily="34" charset="0"/>
                <a:ea typeface="Calibri" pitchFamily="34" charset="-122"/>
                <a:cs typeface="Calibri" pitchFamily="34" charset="-120"/>
              </a:rPr>
              <a:t>3. Filters on the optional side: in ON, not WHERE?</a:t>
            </a:r>
            <a:endParaRPr lang="en-US" sz="1400" dirty="0"/>
          </a:p>
          <a:p>
            <a:pPr indent="0" marL="0">
              <a:buNone/>
            </a:pPr>
            <a:r>
              <a:rPr lang="en-US" sz="1400" dirty="0">
                <a:solidFill>
                  <a:srgbClr val="1A1A1A"/>
                </a:solidFill>
                <a:latin typeface="Calibri" pitchFamily="34" charset="0"/>
                <a:ea typeface="Calibri" pitchFamily="34" charset="-122"/>
                <a:cs typeface="Calibri" pitchFamily="34" charset="-120"/>
              </a:rPr>
              <a:t>4. Do the keys really match?</a:t>
            </a:r>
            <a:endParaRPr lang="en-US" sz="1400" dirty="0"/>
          </a:p>
          <a:p>
            <a:pPr indent="0" marL="0">
              <a:buNone/>
            </a:pPr>
            <a:r>
              <a:rPr lang="en-US" sz="1400" dirty="0">
                <a:solidFill>
                  <a:srgbClr val="1A1A1A"/>
                </a:solidFill>
                <a:latin typeface="Calibri" pitchFamily="34" charset="0"/>
                <a:ea typeface="Calibri" pitchFamily="34" charset="-122"/>
                <a:cs typeface="Calibri" pitchFamily="34" charset="-120"/>
              </a:rPr>
              <a:t>5. Hand-check two rows against the source.</a:t>
            </a:r>
            <a:endParaRPr lang="en-US" sz="1400" dirty="0"/>
          </a:p>
        </p:txBody>
      </p:sp>
      <p:sp>
        <p:nvSpPr>
          <p:cNvPr id="10" name="Text 7"/>
          <p:cNvSpPr txBox="1"/>
          <p:nvPr/>
        </p:nvSpPr>
        <p:spPr>
          <a:xfrm>
            <a:off x="457200" y="4297680"/>
            <a:ext cx="8229600" cy="411480"/>
          </a:xfrm>
          <a:prstGeom prst="rect">
            <a:avLst/>
          </a:prstGeom>
          <a:noFill/>
          <a:ln/>
        </p:spPr>
        <p:txBody>
          <a:bodyPr wrap="square" lIns="0" tIns="0" rIns="0" bIns="0" rtlCol="0" anchor="ctr"/>
          <a:lstStyle/>
          <a:p>
            <a:pPr indent="0" marL="0">
              <a:buNone/>
            </a:pPr>
            <a:r>
              <a:rPr lang="en-US" sz="1400" dirty="0">
                <a:solidFill>
                  <a:srgbClr val="5A6B75"/>
                </a:solidFill>
              </a:rPr>
              <a:t>Result: 8 rows. Subjects 1, 2, 4, 6 have one KRAS tumor sample each; the rest are 0.</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82C40"/>
        </a:solidFill>
      </p:bgPr>
    </p:bg>
    <p:spTree>
      <p:nvGrpSpPr>
        <p:cNvPr id="1" name=""/>
        <p:cNvGrpSpPr/>
        <p:nvPr/>
      </p:nvGrpSpPr>
      <p:grpSpPr>
        <a:xfrm>
          <a:off x="0" y="0"/>
          <a:ext cx="0" cy="0"/>
          <a:chOff x="0" y="0"/>
          <a:chExt cx="0" cy="0"/>
        </a:xfrm>
      </p:grpSpPr>
      <p:sp>
        <p:nvSpPr>
          <p:cNvPr id="3" name="Text 0"/>
          <p:cNvSpPr txBox="1"/>
          <p:nvPr/>
        </p:nvSpPr>
        <p:spPr>
          <a:xfrm>
            <a:off x="640080" y="457200"/>
            <a:ext cx="7315200" cy="5486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Take away</a:t>
            </a:r>
            <a:endParaRPr lang="en-US" sz="3600" dirty="0"/>
          </a:p>
        </p:txBody>
      </p:sp>
      <p:sp>
        <p:nvSpPr>
          <p:cNvPr id="4" name="Shape 1"/>
          <p:cNvSpPr/>
          <p:nvPr/>
        </p:nvSpPr>
        <p:spPr>
          <a:xfrm>
            <a:off x="640080" y="1280160"/>
            <a:ext cx="548640" cy="548640"/>
          </a:xfrm>
          <a:prstGeom prst="ellipse">
            <a:avLst/>
          </a:prstGeom>
          <a:solidFill>
            <a:srgbClr val="F2A541"/>
          </a:solidFill>
          <a:ln w="12700">
            <a:solidFill>
              <a:srgbClr val="F2A541"/>
            </a:solidFill>
            <a:prstDash val="solid"/>
          </a:ln>
        </p:spPr>
      </p:sp>
      <p:sp>
        <p:nvSpPr>
          <p:cNvPr id="5" name="Text 2"/>
          <p:cNvSpPr txBox="1"/>
          <p:nvPr/>
        </p:nvSpPr>
        <p:spPr>
          <a:xfrm>
            <a:off x="640080" y="1280160"/>
            <a:ext cx="548640" cy="548640"/>
          </a:xfrm>
          <a:prstGeom prst="rect">
            <a:avLst/>
          </a:prstGeom>
          <a:noFill/>
          <a:ln/>
        </p:spPr>
        <p:txBody>
          <a:bodyPr wrap="square" lIns="0" tIns="0" rIns="0" bIns="0" rtlCol="0" anchor="ctr"/>
          <a:lstStyle/>
          <a:p>
            <a:pPr algn="ctr" indent="0" marL="0">
              <a:buNone/>
            </a:pPr>
            <a:r>
              <a:rPr lang="en-US" sz="2200" b="1" dirty="0">
                <a:solidFill>
                  <a:srgbClr val="082C40"/>
                </a:solidFill>
              </a:rPr>
              <a:t>1</a:t>
            </a:r>
            <a:endParaRPr lang="en-US" sz="2200" dirty="0"/>
          </a:p>
        </p:txBody>
      </p:sp>
      <p:sp>
        <p:nvSpPr>
          <p:cNvPr id="6" name="Text 3"/>
          <p:cNvSpPr txBox="1"/>
          <p:nvPr/>
        </p:nvSpPr>
        <p:spPr>
          <a:xfrm>
            <a:off x="1463040" y="1234440"/>
            <a:ext cx="7040880" cy="640080"/>
          </a:xfrm>
          <a:prstGeom prst="rect">
            <a:avLst/>
          </a:prstGeom>
          <a:noFill/>
          <a:ln/>
        </p:spPr>
        <p:txBody>
          <a:bodyPr wrap="square" lIns="0" tIns="0" rIns="0" bIns="0" rtlCol="0" anchor="ctr"/>
          <a:lstStyle/>
          <a:p>
            <a:pPr indent="0" marL="0">
              <a:buNone/>
            </a:pPr>
            <a:r>
              <a:rPr lang="en-US" sz="2000" dirty="0">
                <a:solidFill>
                  <a:srgbClr val="FFFFFF"/>
                </a:solidFill>
              </a:rPr>
              <a:t>Split data into linked tables; keys are how you put it back together.</a:t>
            </a:r>
            <a:endParaRPr lang="en-US" sz="2000" dirty="0"/>
          </a:p>
        </p:txBody>
      </p:sp>
      <p:sp>
        <p:nvSpPr>
          <p:cNvPr id="7" name="Shape 4"/>
          <p:cNvSpPr/>
          <p:nvPr/>
        </p:nvSpPr>
        <p:spPr>
          <a:xfrm>
            <a:off x="640080" y="2148840"/>
            <a:ext cx="548640" cy="548640"/>
          </a:xfrm>
          <a:prstGeom prst="ellipse">
            <a:avLst/>
          </a:prstGeom>
          <a:solidFill>
            <a:srgbClr val="F2A541"/>
          </a:solidFill>
          <a:ln w="12700">
            <a:solidFill>
              <a:srgbClr val="F2A541"/>
            </a:solidFill>
            <a:prstDash val="solid"/>
          </a:ln>
        </p:spPr>
      </p:sp>
      <p:sp>
        <p:nvSpPr>
          <p:cNvPr id="8" name="Text 5"/>
          <p:cNvSpPr txBox="1"/>
          <p:nvPr/>
        </p:nvSpPr>
        <p:spPr>
          <a:xfrm>
            <a:off x="640080" y="2148840"/>
            <a:ext cx="548640" cy="548640"/>
          </a:xfrm>
          <a:prstGeom prst="rect">
            <a:avLst/>
          </a:prstGeom>
          <a:noFill/>
          <a:ln/>
        </p:spPr>
        <p:txBody>
          <a:bodyPr wrap="square" lIns="0" tIns="0" rIns="0" bIns="0" rtlCol="0" anchor="ctr"/>
          <a:lstStyle/>
          <a:p>
            <a:pPr algn="ctr" indent="0" marL="0">
              <a:buNone/>
            </a:pPr>
            <a:r>
              <a:rPr lang="en-US" sz="2200" b="1" dirty="0">
                <a:solidFill>
                  <a:srgbClr val="082C40"/>
                </a:solidFill>
              </a:rPr>
              <a:t>2</a:t>
            </a:r>
            <a:endParaRPr lang="en-US" sz="2200" dirty="0"/>
          </a:p>
        </p:txBody>
      </p:sp>
      <p:sp>
        <p:nvSpPr>
          <p:cNvPr id="9" name="Text 6"/>
          <p:cNvSpPr txBox="1"/>
          <p:nvPr/>
        </p:nvSpPr>
        <p:spPr>
          <a:xfrm>
            <a:off x="1463040" y="2103120"/>
            <a:ext cx="7040880" cy="640080"/>
          </a:xfrm>
          <a:prstGeom prst="rect">
            <a:avLst/>
          </a:prstGeom>
          <a:noFill/>
          <a:ln/>
        </p:spPr>
        <p:txBody>
          <a:bodyPr wrap="square" lIns="0" tIns="0" rIns="0" bIns="0" rtlCol="0" anchor="ctr"/>
          <a:lstStyle/>
          <a:p>
            <a:pPr indent="0" marL="0">
              <a:buNone/>
            </a:pPr>
            <a:r>
              <a:rPr lang="en-US" sz="2000" dirty="0">
                <a:solidFill>
                  <a:srgbClr val="FFFFFF"/>
                </a:solidFill>
              </a:rPr>
              <a:t>Every JOIN changes your rows. Know the grain; count before and after.</a:t>
            </a:r>
            <a:endParaRPr lang="en-US" sz="2000" dirty="0"/>
          </a:p>
        </p:txBody>
      </p:sp>
      <p:sp>
        <p:nvSpPr>
          <p:cNvPr id="10" name="Shape 7"/>
          <p:cNvSpPr/>
          <p:nvPr/>
        </p:nvSpPr>
        <p:spPr>
          <a:xfrm>
            <a:off x="640080" y="3017520"/>
            <a:ext cx="548640" cy="548640"/>
          </a:xfrm>
          <a:prstGeom prst="ellipse">
            <a:avLst/>
          </a:prstGeom>
          <a:solidFill>
            <a:srgbClr val="F2A541"/>
          </a:solidFill>
          <a:ln w="12700">
            <a:solidFill>
              <a:srgbClr val="F2A541"/>
            </a:solidFill>
            <a:prstDash val="solid"/>
          </a:ln>
        </p:spPr>
      </p:sp>
      <p:sp>
        <p:nvSpPr>
          <p:cNvPr id="11" name="Text 8"/>
          <p:cNvSpPr txBox="1"/>
          <p:nvPr/>
        </p:nvSpPr>
        <p:spPr>
          <a:xfrm>
            <a:off x="640080" y="3017520"/>
            <a:ext cx="548640" cy="548640"/>
          </a:xfrm>
          <a:prstGeom prst="rect">
            <a:avLst/>
          </a:prstGeom>
          <a:noFill/>
          <a:ln/>
        </p:spPr>
        <p:txBody>
          <a:bodyPr wrap="square" lIns="0" tIns="0" rIns="0" bIns="0" rtlCol="0" anchor="ctr"/>
          <a:lstStyle/>
          <a:p>
            <a:pPr algn="ctr" indent="0" marL="0">
              <a:buNone/>
            </a:pPr>
            <a:r>
              <a:rPr lang="en-US" sz="2200" b="1" dirty="0">
                <a:solidFill>
                  <a:srgbClr val="082C40"/>
                </a:solidFill>
              </a:rPr>
              <a:t>3</a:t>
            </a:r>
            <a:endParaRPr lang="en-US" sz="2200" dirty="0"/>
          </a:p>
        </p:txBody>
      </p:sp>
      <p:sp>
        <p:nvSpPr>
          <p:cNvPr id="12" name="Text 9"/>
          <p:cNvSpPr txBox="1"/>
          <p:nvPr/>
        </p:nvSpPr>
        <p:spPr>
          <a:xfrm>
            <a:off x="1463040" y="2971800"/>
            <a:ext cx="7040880" cy="640080"/>
          </a:xfrm>
          <a:prstGeom prst="rect">
            <a:avLst/>
          </a:prstGeom>
          <a:noFill/>
          <a:ln/>
        </p:spPr>
        <p:txBody>
          <a:bodyPr wrap="square" lIns="0" tIns="0" rIns="0" bIns="0" rtlCol="0" anchor="ctr"/>
          <a:lstStyle/>
          <a:p>
            <a:pPr indent="0" marL="0">
              <a:buNone/>
            </a:pPr>
            <a:r>
              <a:rPr lang="en-US" sz="2000" dirty="0">
                <a:solidFill>
                  <a:srgbClr val="FFFFFF"/>
                </a:solidFill>
              </a:rPr>
              <a:t>Trust AI-written SQL exactly as far as you have audited it.</a:t>
            </a:r>
            <a:endParaRPr lang="en-US" sz="2000" dirty="0"/>
          </a:p>
        </p:txBody>
      </p:sp>
      <p:sp>
        <p:nvSpPr>
          <p:cNvPr id="13" name="Text 10"/>
          <p:cNvSpPr txBox="1"/>
          <p:nvPr/>
        </p:nvSpPr>
        <p:spPr>
          <a:xfrm>
            <a:off x="640080" y="4206240"/>
            <a:ext cx="7863840" cy="457200"/>
          </a:xfrm>
          <a:prstGeom prst="rect">
            <a:avLst/>
          </a:prstGeom>
          <a:noFill/>
          <a:ln/>
        </p:spPr>
        <p:txBody>
          <a:bodyPr wrap="square" lIns="0" tIns="0" rIns="0" bIns="0" rtlCol="0" anchor="ctr"/>
          <a:lstStyle/>
          <a:p>
            <a:pPr indent="0" marL="0">
              <a:buNone/>
            </a:pPr>
            <a:r>
              <a:rPr lang="en-US" sz="1500" dirty="0">
                <a:solidFill>
                  <a:srgbClr val="CADCFC"/>
                </a:solidFill>
              </a:rPr>
              <a:t>Lab 4 (assigned next week) due Oct 28  ·  Readings: PCB Ch. 14–15  ·  Next: Mon Oct 19, data formats and APIs</a:t>
            </a:r>
            <a:endParaRPr lang="en-US" sz="1500" dirty="0"/>
          </a:p>
        </p:txBody>
      </p:sp>
    </p:spTree>
  </p:cSld>
  <p:clrMapOvr>
    <a:masterClrMapping/>
  </p:clrMapOvr>
</p:sld>
</file>

<file path=ppt/theme/theme1.xml><?xml version="1.0" encoding="utf-8"?>
<a:theme xmlns:a="http://schemas.openxmlformats.org/drawingml/2006/main" name="HDS Course">
  <a:themeElements>
    <a:clrScheme name="HDS Course">
      <a:dk1>
        <a:srgbClr val="1A1A1A"/>
      </a:dk1>
      <a:lt1>
        <a:srgbClr val="FFFFFF"/>
      </a:lt1>
      <a:dk2>
        <a:srgbClr val="0B3D59"/>
      </a:dk2>
      <a:lt2>
        <a:srgbClr val="F4F7F9"/>
      </a:lt2>
      <a:accent1>
        <a:srgbClr val="1C7293"/>
      </a:accent1>
      <a:accent2>
        <a:srgbClr val="F2A541"/>
      </a:accent2>
      <a:accent3>
        <a:srgbClr val="CADCFC"/>
      </a:accent3>
      <a:accent4>
        <a:srgbClr val="9FB8C8"/>
      </a:accent4>
      <a:accent5>
        <a:srgbClr val="082C40"/>
      </a:accent5>
      <a:accent6>
        <a:srgbClr val="B23A48"/>
      </a:accent6>
      <a:hlink>
        <a:srgbClr val="1C7293"/>
      </a:hlink>
      <a:folHlink>
        <a:srgbClr val="5A6B75"/>
      </a:folHlink>
    </a:clrScheme>
    <a:fontScheme name="HDS Cours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HDS Course">
  <a:themeElements>
    <a:clrScheme name="HDS Course">
      <a:dk1>
        <a:srgbClr val="1A1A1A"/>
      </a:dk1>
      <a:lt1>
        <a:srgbClr val="FFFFFF"/>
      </a:lt1>
      <a:dk2>
        <a:srgbClr val="0B3D59"/>
      </a:dk2>
      <a:lt2>
        <a:srgbClr val="F4F7F9"/>
      </a:lt2>
      <a:accent1>
        <a:srgbClr val="1C7293"/>
      </a:accent1>
      <a:accent2>
        <a:srgbClr val="F2A541"/>
      </a:accent2>
      <a:accent3>
        <a:srgbClr val="CADCFC"/>
      </a:accent3>
      <a:accent4>
        <a:srgbClr val="9FB8C8"/>
      </a:accent4>
      <a:accent5>
        <a:srgbClr val="082C40"/>
      </a:accent5>
      <a:accent6>
        <a:srgbClr val="B23A48"/>
      </a:accent6>
      <a:hlink>
        <a:srgbClr val="1C7293"/>
      </a:hlink>
      <a:folHlink>
        <a:srgbClr val="5A6B75"/>
      </a:folHlink>
    </a:clrScheme>
    <a:fontScheme name="HDS Cours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8 Lecture - Relational Databases</dc:title>
  <dc:subject>PptxGenJS Presentation</dc:subject>
  <dc:creator>PptxGenJS</dc:creator>
  <cp:lastModifiedBy>PptxGenJS</cp:lastModifiedBy>
  <cp:revision>1</cp:revision>
  <dcterms:created xsi:type="dcterms:W3CDTF">2026-10-14T15:22:17Z</dcterms:created>
  <dcterms:modified xsi:type="dcterms:W3CDTF">2026-10-14T15:22:17Z</dcterms:modified>
</cp:coreProperties>
</file>