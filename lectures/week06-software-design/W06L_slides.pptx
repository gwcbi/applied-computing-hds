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75-min lecture slot. Module 2 begins today. No new lab is due at this lecture -- Lab 3 (Parsing Messy Health or Genomic Data, assigned Week 5) is due Wed Sep 30, 11:59pm, the SAME night as this week's practical -- remind students it's due the night of practical, not before it, same pattern as Week 4's Lab 2/practical overlap. Wednesday's practical is fully separate and hands-on (see practical.md) -- today is lecture only, don't try to build the merge-conflict demo live here, save it for Wednesday so it isn't a rerun.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3-4 min. Quick recap framing. Emphasize item 4 explicitly on the right card -- this is new: previous weeks didn't have an explicit grading tie-in to a lecture topic the way version control does this week (final project code rubric + Lab 5).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Fast slide -- the point is the visual contrast, not new content.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R leans functional/vectorized by default; Python supports all three -- flag this now, slide 8 covers R specifically.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Live in demo/paradigms.py -- run it, show the output list. Ask: what happens if two people edit this loop at once, or you need the classification logic somewhere else too?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Live in demo/paradigms.py, class Patient. Contrast with slide 5's dict-based approach -- same data, now with methods attached.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Live in demo/paradigms.py. Point out the commented-out map(lambda ...) equivalent in the file for students who prefer that spelling.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Live in demo/paradigms.R -- run both, same output. Light mention only: R does support OOP (S3/S4/R6) -- demo/paradigms.R has a one-line S3 example -- but it's rarely the idiomatic choice for this kind of task, so don't dwell on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1-2 min. Same table as README.md's Quick reference -- students have this in writing already, so this slide is a fast recap, not new info.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Open demo/monolith_report.py live. Ask: what does adding a 4th site cost here? (Another copy-pasted block, and a 4th chance to introduce a typo one of the other three doesn't have.)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 min. This is patient_stats.average_age_by_site from demo/refactored/. Show that adding a 4th site now costs one line, not one new block.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Required reading (docs.python.org/3/tutorial/modules.html) covers this mechanically in more depth than we have time for here -- point students at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Run both live: `python3 monolith_report.py` then `cd refactored &amp;&amp; python3 generate_report.py` -- both were verified during the Sep 18 build session to print identical output. Ask the room what a 4th site costs in each version.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 min. Fast slide -- just orients students to what's actually in the reading before they open it tonight.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Transition slide -- say out loud that this is the biggest block today (30 min) and ties directly into Wednesday's fully hands-on practical.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min, genuinely fast -- this is pure review of Week 1's practical, not new content. Don't over-linger here; the new material starts next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Draw this by hand on the whiteboard too if you have one -- the diagram is the whole mental model students need for the rest of today.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Keep this abstract/clean-case only -- the conflict is the next three slides, don't spoil it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min, said plainly and slowly. This is the reassurance slide -- per the survey, a lot of students find their first conflict alarming. Let this slide sit for a beat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This is the literal output from the Sep 18 dry-run of practical.md's scenario -- not invented text. Point out both sides added a real, reasonable change; neither is 'wrong.'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 min. Wednesday's practical Part 4 walks through exactly this, with the real roster_summary.py file -- this slide previews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Say this explicitly and directly -- resolves this week's open item (code_rubric.md assumed git use without stating it to students anywhere; this is that statement, made out loud).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3-5 min. Let a few students answer before giving the short answer yourself: it happens whenever two branches edit the same lines differently since they diverged -- git refusing to guess, not git detecting a mistake.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 min. Point at practical.md directly if projecting the repo.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Both readings checked for currency/fit via WebFetch on Sep 18, 2026 -- both current and appropriate, no swap needed. See notes.md for the full check.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685800"/>
            <a:ext cx="100584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PUBH 6854 / PUBH 4201 · APPLIED COMPUTING IN HEALTH DATA SCIENCE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286000"/>
            <a:ext cx="105156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800" b="1" i="0">
                <a:solidFill>
                  <a:srgbClr val="FFFFFF"/>
                </a:solidFill>
                <a:latin typeface="Cambria"/>
              </a:rPr>
              <a:t>Week 6: Software Design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429000"/>
            <a:ext cx="960120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9FB8C8"/>
                </a:solidFill>
                <a:latin typeface="Calibri"/>
              </a:rPr>
              <a:t>Paradigms, modular programming, and your first merge conflict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806440"/>
            <a:ext cx="7315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0">
                <a:solidFill>
                  <a:srgbClr val="CADCFC"/>
                </a:solidFill>
                <a:latin typeface="Calibri"/>
              </a:rPr>
              <a:t>Lecture · Monday, September 28, 2026</a:t>
            </a:r>
          </a:p>
        </p:txBody>
      </p:sp>
      <p:sp>
        <p:nvSpPr>
          <p:cNvPr id="7" name="Oval 6"/>
          <p:cNvSpPr/>
          <p:nvPr/>
        </p:nvSpPr>
        <p:spPr>
          <a:xfrm>
            <a:off x="11018520" y="411480"/>
            <a:ext cx="914400" cy="914400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1457432" y="484632"/>
            <a:ext cx="402336" cy="402336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RECAP &amp; AGENDA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Where We've Been / Where We're Going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C7293"/>
                </a:solidFill>
                <a:latin typeface="Calibri"/>
              </a:rPr>
              <a:t>MODULE 1 (WEEKS 1–5)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2057400"/>
            <a:ext cx="51206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Week 1 — shell, git basics, choosing an IDE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Week 2 — reproducible environments (conda/mamba, uv, renv, Docker)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Week 3 — reproducible notebooks (Jupyter, R Markdown)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Week 4 — text processing, regex, AI-assisted extraction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Week 5 — data wrangling, feature tables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989320" y="1508760"/>
            <a:ext cx="5715000" cy="3977639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3D59"/>
                </a:solidFill>
                <a:latin typeface="Calibri"/>
              </a:rPr>
              <a:t>TODAY — MODULE 2 BEGINS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263640" y="2148840"/>
            <a:ext cx="516636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0B3D59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1. Software design paradigms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0B3D59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2. Modular programming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0B3D59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3. Version control: branches &amp; merging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0B3D59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4. Why this affects your project grade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5806440"/>
            <a:ext cx="105156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5A6B75"/>
                </a:solidFill>
                <a:latin typeface="Calibri"/>
              </a:rPr>
              <a:t>Every week so far has been about shaping data. From here, it's about shaping the code that shapes the data.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Recap &amp; Agenda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MODULE 2 FRAMING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From “Shape the Data” to “Write Code That Lasts”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03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5A6B75"/>
                </a:solidFill>
                <a:latin typeface="Calibri"/>
              </a:rPr>
              <a:t>MODULE 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606040"/>
            <a:ext cx="475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Environments, notebooks, text parsing, wrangling — getting clean, structured data out of messy real-world sources.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82880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03120"/>
            <a:ext cx="47548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CADCFC"/>
                </a:solidFill>
                <a:latin typeface="Calibri"/>
              </a:rPr>
              <a:t>MODULE 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606040"/>
            <a:ext cx="4754880" cy="2560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700" b="0" i="0">
                <a:solidFill>
                  <a:srgbClr val="FFFFFF"/>
                </a:solidFill>
                <a:latin typeface="Calibri"/>
              </a:rPr>
              <a:t>Paradigms, modularity, version control, packaging, databases, visualization — code and infrastructure other people (including future you) can actually run.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623560"/>
            <a:ext cx="108813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B75"/>
                </a:solidFill>
                <a:latin typeface="Calibri"/>
              </a:rPr>
              <a:t>Same rigor as Module 1, new target: the code itself, not just the data it produces.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Module 2 Framing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SOFTWARE DESIGN PARADIGMS · 1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Three Ways to Organize the Same Logic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194560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3D59"/>
                </a:solidFill>
                <a:latin typeface="Cambria"/>
              </a:rPr>
              <a:t>PROCEDURAL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58952" y="2834640"/>
            <a:ext cx="30998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A sequence of steps, top to bottom, usually mutating shared state as it runs.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297680" y="192024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53712" y="2194560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ambria"/>
              </a:rPr>
              <a:t>OBJECT-ORIENTED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53712" y="2834640"/>
            <a:ext cx="30998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FFFFFF"/>
                </a:solidFill>
                <a:latin typeface="Calibri"/>
              </a:rPr>
              <a:t>Data and the behavior that acts on it, bundled together into a class.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8092440" y="1920240"/>
            <a:ext cx="3611880" cy="320040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348472" y="2194560"/>
            <a:ext cx="3099816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3D59"/>
                </a:solidFill>
                <a:latin typeface="Cambria"/>
              </a:rPr>
              <a:t>FUNCTIONAL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348472" y="2834640"/>
            <a:ext cx="3099816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Small pure functions — same input, same output, no mutation — composed together.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5440680"/>
            <a:ext cx="111556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B75"/>
                </a:solidFill>
                <a:latin typeface="Calibri"/>
              </a:rPr>
              <a:t>None of these is “correct.” Real Python code mixes all three. Today: recognize each one when you're reading someone else's code.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Paradigms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SOFTWARE DESIGN PARADIGMS · 2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Procedural: A Sequence of Steps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858000" cy="4297680"/>
          </a:xfrm>
          <a:prstGeom prst="roundRect">
            <a:avLst>
              <a:gd name="adj" fmla="val 6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11680"/>
            <a:ext cx="6345936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def bmi_category_procedural(patients):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results = []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for p in patients: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bmi = p["bmi"]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if bmi &lt; 18.5: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    category = "underweight"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elif bmi &lt; 25: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    category = "normal"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elif bmi &lt; 30: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    category = "overweight"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else: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    category = "obese"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results.append((p["patient_id"], category))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return results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103120"/>
            <a:ext cx="40233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Simple to write once, top to bottom.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`results` is shared state, mutated as the loop runs.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The style you've probably written by default so far this semester.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Paradigms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SOFTWARE DESIGN PARADIGMS · 3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Object-Oriented: Data + Behavior Together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858000" cy="4114800"/>
          </a:xfrm>
          <a:prstGeom prst="roundRect">
            <a:avLst>
              <a:gd name="adj" fmla="val 6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11680"/>
            <a:ext cx="6345936" cy="37490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class Patient: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def __init__(self, patient_id, bmi):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self.patient_id = patient_id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self.bmi = bmi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def bmi_category(self):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if self.bmi &lt; 18.5: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    return "underweight"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elif self.bmi &lt; 25: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    return "normal"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elif self.bmi &lt; 30: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    return "overweight"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else: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    return "obese"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103120"/>
            <a:ext cx="40233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The patient's data (bmi) and behavior (bmi_category) live in one place.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Good when “a patient” is a concept you'll keep attaching more behavior to over time.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Calling: p = Patient("P004", 33.6); p.bmi_category()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Paradigms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SOFTWARE DESIGN PARADIGMS · 4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Functional: Small Pure Functions, Composed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858000" cy="4297680"/>
          </a:xfrm>
          <a:prstGeom prst="roundRect">
            <a:avLst>
              <a:gd name="adj" fmla="val 6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11680"/>
            <a:ext cx="6345936" cy="39319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def classify_bmi(bmi):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# pure: same bmi in -&gt; same category out, always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if bmi &lt; 18.5: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return "underweight"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elif bmi &lt; 25: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return "normal"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elif bmi &lt; 30: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return "overweight"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else: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return "obese"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def bmi_category_functional(patients):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return [(p["patient_id"], classify_bmi(p["bmi"]))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        for p in patients]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635240" y="2103120"/>
            <a:ext cx="4023360" cy="3474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classify_bmi has no side effects — nothing mutated, nothing read from outside its arguments.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Easy to test in isolation: classify_bmi(33.6) == "obese".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Composed via a list comprehension (Python's lightweight map/filter).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Paradigms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SOFTWARE DESIGN PARADIGMS · 5 OF 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R Leans Functional — By Default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00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A6B75"/>
                </a:solidFill>
                <a:latin typeface="Calibri"/>
              </a:rPr>
              <a:t>PROCEDURAL (works, not idiomatic R)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196596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48840"/>
            <a:ext cx="4882896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categories &lt;- character(length(bmi))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for (i in seq_along(bmi)) {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if (bmi[i] &lt; 18.5) {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categories[i] &lt;- "underweight"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} else if (bmi[i] &lt; 25) {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  categories[i] &lt;- "normal"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  } ...</a:t>
            </a:r>
          </a:p>
          <a:p>
            <a:pPr>
              <a:lnSpc>
                <a:spcPct val="115000"/>
              </a:lnSpc>
            </a:pPr>
            <a:r>
              <a:rPr sz="1400">
                <a:solidFill>
                  <a:srgbClr val="E8F1F5"/>
                </a:solidFill>
                <a:latin typeface="Courier New"/>
              </a:rPr>
              <a:t>}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0020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VECTORIZED / FUNCTIONAL (idiomatic R)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1965960"/>
            <a:ext cx="5394960" cy="3566160"/>
          </a:xfrm>
          <a:prstGeom prst="roundRect">
            <a:avLst>
              <a:gd name="adj" fmla="val 6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148840"/>
            <a:ext cx="4882896" cy="32004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cut(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bmi,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breaks = c(-Inf, 18.5, 25, 30, Inf),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labels = c("underweight", "normal",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           "overweight", "obese")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806440"/>
            <a:ext cx="1115568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B75"/>
                </a:solidFill>
                <a:latin typeface="Calibri"/>
              </a:rPr>
              <a:t>No explicit loop — cut() classifies the whole vector at once. Most R code you'll read this semester already looks like the right side.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Paradigms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QUICK REFERENCE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Paradigms, Side by Side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115568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377440"/>
                <a:gridCol w="4389120"/>
                <a:gridCol w="4389120"/>
              </a:tblGrid>
              <a:tr h="59436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Paradigm</a:t>
                      </a:r>
                    </a:p>
                  </a:txBody>
                  <a:tcPr marL="109728" marR="109728" marT="54864" marB="54864" anchor="ctr">
                    <a:solidFill>
                      <a:srgbClr val="0B3D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Python</a:t>
                      </a:r>
                    </a:p>
                  </a:txBody>
                  <a:tcPr marL="109728" marR="109728" marT="54864" marB="54864" anchor="ctr">
                    <a:solidFill>
                      <a:srgbClr val="0B3D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R</a:t>
                      </a:r>
                    </a:p>
                  </a:txBody>
                  <a:tcPr marL="109728" marR="109728" marT="54864" marB="54864" anchor="ctr">
                    <a:solidFill>
                      <a:srgbClr val="0B3D59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Procedural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loop + shared state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explicit for loop over a vector (works, not idiomatic)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Object-oriented</a:t>
                      </a:r>
                    </a:p>
                  </a:txBody>
                  <a:tcPr marL="109728" marR="109728" marT="54864" marB="54864" anchor="ctr">
                    <a:solidFill>
                      <a:srgbClr val="E3E9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class, methods</a:t>
                      </a:r>
                    </a:p>
                  </a:txBody>
                  <a:tcPr marL="109728" marR="109728" marT="54864" marB="54864" anchor="ctr">
                    <a:solidFill>
                      <a:srgbClr val="E3E9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S3 / S4 / R6 classes (less common for everyday analysis code)</a:t>
                      </a:r>
                    </a:p>
                  </a:txBody>
                  <a:tcPr marL="109728" marR="109728" marT="54864" marB="54864" anchor="ctr">
                    <a:solidFill>
                      <a:srgbClr val="E3E9EC"/>
                    </a:solidFill>
                  </a:tcPr>
                </a:tc>
              </a:tr>
              <a:tr h="59436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Functional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map / filter / comprehensions, pure functions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vectorized ops (ifelse, cut, etc.) — R's default style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4572000"/>
            <a:ext cx="111556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 i="1">
                <a:solidFill>
                  <a:srgbClr val="5A6B75"/>
                </a:solidFill>
                <a:latin typeface="Calibri"/>
              </a:rPr>
              <a:t>Recognizing the paradigm matters more than picking one — you'll read far more code than you write from scratch, in this course and after it.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Paradigms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MODULAR PROGRAMMING · 1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Why a 500-Line Script Is a Liability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566928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14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Change one thing, and everything downstream might quietly break.</a:t>
            </a:r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No way to reuse or test one piece on its own.</a:t>
            </a:r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Copy-pasted logic means every future fix has to happen correctly, everywhere it was pasted — or it silently doesn't.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492240" y="1874519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766560" y="2011679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DC block  —  same loop, pasted again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0" y="2926079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0" y="3063239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MD block  —  same loop, pasted again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92240" y="3977639"/>
            <a:ext cx="5120640" cy="868680"/>
          </a:xfrm>
          <a:prstGeom prst="roundRect">
            <a:avLst>
              <a:gd name="adj" fmla="val 6000"/>
            </a:avLst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766560" y="4114799"/>
            <a:ext cx="457200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ourier New"/>
              </a:rPr>
              <a:t>VA block  —  same loop, pasted again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92240" y="5166360"/>
            <a:ext cx="512064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5A6B75"/>
                </a:solidFill>
                <a:latin typeface="Calibri"/>
              </a:rPr>
              <a:t>monolith_report.py: three near-identical blocks, one per site.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Modular Programming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MODULAR PROGRAMMING · 2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Functions: Name It Once, Call It Anywhere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5A6B75"/>
                </a:solidFill>
                <a:latin typeface="Calibri"/>
              </a:rPr>
              <a:t>BEFORE — duplicated per site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1168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194560"/>
            <a:ext cx="4882896" cy="2834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dc_ages = [p["age"] for p in patients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          if p["site"] == "DC"]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dc_avg = sum(dc_ages) / len(dc_ages)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md_ages = [p["age"] for p in patients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          if p["site"] == "MD"]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md_avg = sum(md_ages) / len(md_ages)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# ...repeated again for 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4592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AFTER — one function, called per site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11680"/>
            <a:ext cx="5394960" cy="3200400"/>
          </a:xfrm>
          <a:prstGeom prst="roundRect">
            <a:avLst>
              <a:gd name="adj" fmla="val 6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194560"/>
            <a:ext cx="4882896" cy="2834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def average_age_by_site(patients, site):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   ages = [p["age"] for p in patients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           if p["site"] == site]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   return sum(ages) / len(ages)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average_age_by_site(patients, "DC")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average_age_by_site(patients, "MD")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average_age_by_site(patients, "VA")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548640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B75"/>
                </a:solidFill>
                <a:latin typeface="Calibri"/>
              </a:rPr>
              <a:t>A function is testable and reusable on its own — a script's inline logic isn't, until it's broken out like this.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Modular Programming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MODULAR PROGRAMMING · 3 OF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Modules: Reuse Across Files, Not Just Within One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23774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6060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3D59"/>
                </a:solidFill>
                <a:latin typeface="Courier New"/>
              </a:rPr>
              <a:t>patient_stats.py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97280" y="310896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A6B75"/>
                </a:solidFill>
                <a:latin typeface="Calibri"/>
              </a:rPr>
              <a:t>a module: functions only,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A6B75"/>
                </a:solidFill>
                <a:latin typeface="Calibri"/>
              </a:rPr>
              <a:t>nothing prints, nothing runs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5A6B75"/>
                </a:solidFill>
                <a:latin typeface="Calibri"/>
              </a:rPr>
              <a:t>on its own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166360" y="3291840"/>
            <a:ext cx="2148840" cy="0"/>
          </a:xfrm>
          <a:prstGeom prst="line">
            <a:avLst/>
          </a:prstGeom>
          <a:ln w="317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257800" y="2880360"/>
            <a:ext cx="19659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200" b="1" i="0">
                <a:solidFill>
                  <a:srgbClr val="1C7293"/>
                </a:solidFill>
                <a:latin typeface="Courier New"/>
              </a:rPr>
              <a:t>import patient_stats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2377440"/>
            <a:ext cx="4206240" cy="1828800"/>
          </a:xfrm>
          <a:prstGeom prst="roundRect">
            <a:avLst>
              <a:gd name="adj" fmla="val 6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589520" y="2606040"/>
            <a:ext cx="36576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FFFFFF"/>
                </a:solidFill>
                <a:latin typeface="Courier New"/>
              </a:rPr>
              <a:t>generate_report.py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589520" y="3108960"/>
            <a:ext cx="365760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a script: calls the module's</a:t>
            </a:r>
          </a:p>
          <a:p>
            <a:pPr algn="l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CADCFC"/>
                </a:solidFill>
                <a:latin typeface="Calibri"/>
              </a:rPr>
              <a:t>functions, prints the report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572000"/>
            <a:ext cx="1060704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A module is just a .py file with functions in it — nothing special.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import makes those functions available anywhere, not just copy-pasted into every script that needs them.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Modular Programming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MODULAR PROGRAMMING · 4 OF 4 — LIVE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Same Report, Two Ways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691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5A6B75"/>
                </a:solidFill>
                <a:latin typeface="Courier New"/>
              </a:rPr>
              <a:t>monolith_report.py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02920" y="20574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58952" y="2240280"/>
            <a:ext cx="4882896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dc_ages = []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for p in patients: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   if p["site"] == "DC":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       dc_ages.append(p["age"])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dc_avg = sum(dc_ages) / len(dc_ages)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print(f"DC average age: {dc_avg:.1f}")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# ...repeated for MD, then VA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691640"/>
            <a:ext cx="539496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C7293"/>
                </a:solidFill>
                <a:latin typeface="Courier New"/>
              </a:rPr>
              <a:t>patient_stats.py + generate_report.py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63640" y="2057400"/>
            <a:ext cx="5394960" cy="3017520"/>
          </a:xfrm>
          <a:prstGeom prst="roundRect">
            <a:avLst>
              <a:gd name="adj" fmla="val 6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519672" y="2240280"/>
            <a:ext cx="4882896" cy="26517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for site in sites_present(patients):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   avg = average_age_by_site(patients, site)</a:t>
            </a:r>
          </a:p>
          <a:p>
            <a:pPr>
              <a:lnSpc>
                <a:spcPct val="115000"/>
              </a:lnSpc>
            </a:pPr>
            <a:r>
              <a:rPr sz="1300">
                <a:solidFill>
                  <a:srgbClr val="E8F1F5"/>
                </a:solidFill>
                <a:latin typeface="Courier New"/>
              </a:rPr>
              <a:t>    print(f"{site} average age: {avg:.1f}")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383280" y="5349240"/>
            <a:ext cx="5486400" cy="868680"/>
          </a:xfrm>
          <a:prstGeom prst="roundRect">
            <a:avLst>
              <a:gd name="adj" fmla="val 6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383280" y="5532120"/>
            <a:ext cx="54864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700" b="1" i="0">
                <a:solidFill>
                  <a:srgbClr val="0B3D59"/>
                </a:solidFill>
                <a:latin typeface="Cambria"/>
              </a:rPr>
              <a:t>Byte-identical output, verified.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Modular Programming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REQUIRED READING CALLBACK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Python's Own Modules Documentation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920240"/>
            <a:ext cx="658368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All the import variants: import x, from x import y, aliasing with as.</a:t>
            </a: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How Python finds a module (sys.path, the module search path).</a:t>
            </a: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Packages: __init__.py, subpackages, dotted naming.</a:t>
            </a: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Absolute vs. relative imports (relative imports are the one part that's more advanced than anything in today's demo).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452360" y="1920240"/>
            <a:ext cx="4206240" cy="329184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26679" y="2148840"/>
            <a:ext cx="3657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docs.python.org/3/tutorial/modules.html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26679" y="2651760"/>
            <a:ext cx="3657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0" i="0">
                <a:solidFill>
                  <a:srgbClr val="1A1A1A"/>
                </a:solidFill>
                <a:latin typeface="Calibri"/>
              </a:rPr>
              <a:t>Read at least through the packages section before Wednesday if today moved fast — it's novice-friendly, with runnable examples throughout.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Modular Programming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331720"/>
            <a:ext cx="1005840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1" i="0">
                <a:solidFill>
                  <a:srgbClr val="CADCFC"/>
                </a:solidFill>
                <a:latin typeface="Calibri"/>
              </a:rPr>
              <a:t>FROM CODE STRUCTURE TO CODE HISTORY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2788920"/>
            <a:ext cx="1051560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4600" b="1" i="0">
                <a:solidFill>
                  <a:srgbClr val="FFFFFF"/>
                </a:solidFill>
                <a:latin typeface="Cambria"/>
              </a:rPr>
              <a:t>Version Control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94760"/>
            <a:ext cx="96012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900" b="0" i="1">
                <a:solidFill>
                  <a:srgbClr val="9FB8C8"/>
                </a:solidFill>
                <a:latin typeface="Calibri"/>
              </a:rPr>
              <a:t>git fundamentals recap, then branches, merging, and your first real conflict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VERSION CONTROL · 1 OF 6 (RECAP)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Already in Your Toolkit, from Week 1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02920" y="1828800"/>
          <a:ext cx="11155680" cy="3200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840480"/>
                <a:gridCol w="7315200"/>
              </a:tblGrid>
              <a:tr h="640080"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Command</a:t>
                      </a:r>
                    </a:p>
                  </a:txBody>
                  <a:tcPr marL="109728" marR="109728" marT="54864" marB="54864" anchor="ctr">
                    <a:solidFill>
                      <a:srgbClr val="0B3D59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b="1" sz="1500">
                          <a:solidFill>
                            <a:srgbClr val="FFFFFF"/>
                          </a:solidFill>
                          <a:latin typeface="Calibri"/>
                        </a:rPr>
                        <a:t>Does</a:t>
                      </a:r>
                    </a:p>
                  </a:txBody>
                  <a:tcPr marL="109728" marR="109728" marT="54864" marB="54864" anchor="ctr">
                    <a:solidFill>
                      <a:srgbClr val="0B3D59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git init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Turns the current folder into a git repository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git add / git commit -m</a:t>
                      </a:r>
                    </a:p>
                  </a:txBody>
                  <a:tcPr marL="109728" marR="109728" marT="54864" marB="54864" anchor="ctr">
                    <a:solidFill>
                      <a:srgbClr val="E3E9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Stage, then save a snapshot with a message</a:t>
                      </a:r>
                    </a:p>
                  </a:txBody>
                  <a:tcPr marL="109728" marR="109728" marT="54864" marB="54864" anchor="ctr">
                    <a:solidFill>
                      <a:srgbClr val="E3E9EC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git status / git diff / git log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What's changed, what changed exactly, and the commit history</a:t>
                      </a:r>
                    </a:p>
                  </a:txBody>
                  <a:tcPr marL="109728" marR="109728" marT="54864" marB="54864" anchor="ctr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git remote / push / pull / clone</a:t>
                      </a:r>
                    </a:p>
                  </a:txBody>
                  <a:tcPr marL="109728" marR="109728" marT="54864" marB="54864" anchor="ctr">
                    <a:solidFill>
                      <a:srgbClr val="E3E9EC"/>
                    </a:solidFill>
                  </a:tcPr>
                </a:tc>
                <a:tc>
                  <a:txBody>
                    <a:bodyPr wrap="square"/>
                    <a:lstStyle/>
                    <a:p>
                      <a:r>
                        <a:rPr sz="1500">
                          <a:solidFill>
                            <a:srgbClr val="1A1A1A"/>
                          </a:solidFill>
                          <a:latin typeface="Calibri"/>
                        </a:rPr>
                        <a:t>Connect to and sync with GitHub</a:t>
                      </a:r>
                    </a:p>
                  </a:txBody>
                  <a:tcPr marL="109728" marR="109728" marT="54864" marB="54864" anchor="ctr">
                    <a:solidFill>
                      <a:srgbClr val="E3E9EC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02920" y="548640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5A6B75"/>
                </a:solidFill>
                <a:latin typeface="Calibri"/>
              </a:rPr>
              <a:t>If any of these feel shaky, resources/GIT.md has the deeper “why” behind each one.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Version Control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VERSION CONTROL · 2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New Today: Branches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017520"/>
            <a:ext cx="10058400" cy="0"/>
          </a:xfrm>
          <a:prstGeom prst="line">
            <a:avLst/>
          </a:prstGeom>
          <a:ln w="31750">
            <a:solidFill>
              <a:srgbClr val="5A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Oval 5"/>
          <p:cNvSpPr/>
          <p:nvPr/>
        </p:nvSpPr>
        <p:spPr>
          <a:xfrm>
            <a:off x="832104" y="2935224"/>
            <a:ext cx="164592" cy="164592"/>
          </a:xfrm>
          <a:prstGeom prst="ellipse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758184" y="2935224"/>
            <a:ext cx="164592" cy="164592"/>
          </a:xfrm>
          <a:prstGeom prst="ellipse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890504" y="2935224"/>
            <a:ext cx="164592" cy="164592"/>
          </a:xfrm>
          <a:prstGeom prst="ellipse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320040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0B3D59"/>
                </a:solidFill>
                <a:latin typeface="Courier New"/>
              </a:rPr>
              <a:t>main</a:t>
            </a:r>
          </a:p>
        </p:txBody>
      </p:sp>
      <p:cxnSp>
        <p:nvCxnSpPr>
          <p:cNvPr id="10" name="Connector 9"/>
          <p:cNvCxnSpPr/>
          <p:nvPr/>
        </p:nvCxnSpPr>
        <p:spPr>
          <a:xfrm flipV="1">
            <a:off x="3840480" y="1828800"/>
            <a:ext cx="3017520" cy="1188720"/>
          </a:xfrm>
          <a:prstGeom prst="line">
            <a:avLst/>
          </a:prstGeom>
          <a:ln w="317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858000" y="1828800"/>
            <a:ext cx="3383280" cy="0"/>
          </a:xfrm>
          <a:prstGeom prst="line">
            <a:avLst/>
          </a:prstGeom>
          <a:ln w="317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Oval 11"/>
          <p:cNvSpPr/>
          <p:nvPr/>
        </p:nvSpPr>
        <p:spPr>
          <a:xfrm>
            <a:off x="6775704" y="1746504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158984" y="1746504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75120" y="132588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1" i="0">
                <a:solidFill>
                  <a:srgbClr val="1C7293"/>
                </a:solidFill>
                <a:latin typeface="Courier New"/>
              </a:rPr>
              <a:t>add-ny-site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160520"/>
            <a:ext cx="1115568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700" b="0" i="0">
                <a:solidFill>
                  <a:srgbClr val="1A1A1A"/>
                </a:solidFill>
                <a:latin typeface="Calibri"/>
              </a:rPr>
              <a:t>A branch is a movable pointer to a commit — creating one doesn't copy your files anywhere. It just gives you a second line of history you can develop on without touching main until you're ready.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Version Control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VERSION CONTROL · 3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git switch -c, git branch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675120" cy="2194560"/>
          </a:xfrm>
          <a:prstGeom prst="roundRect">
            <a:avLst>
              <a:gd name="adj" fmla="val 6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11680"/>
            <a:ext cx="6163056" cy="182880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$ git switch -c add-ny-site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Switched to a new branch 'add-ny-site'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$ git branch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* add-ny-site</a:t>
            </a:r>
          </a:p>
          <a:p>
            <a:pPr>
              <a:lnSpc>
                <a:spcPct val="115000"/>
              </a:lnSpc>
            </a:pPr>
            <a:r>
              <a:rPr sz="1500">
                <a:solidFill>
                  <a:srgbClr val="E8F1F5"/>
                </a:solidFill>
                <a:latin typeface="Courier New"/>
              </a:rPr>
              <a:t>  main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920240"/>
            <a:ext cx="4206240" cy="3200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git switch -c &lt;name&gt; creates AND switches to a new branch in one step.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git branch lists every branch; the * marks the one you're on.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git switch &lt;name&gt; (no -c) moves between branches that already exist.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114800"/>
            <a:ext cx="1088136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5A6B75"/>
                </a:solidFill>
                <a:latin typeface="Calibri"/>
              </a:rPr>
              <a:t>Wednesday, you'll run these exact commands yourself — this is a preview, not the only time you'll see them.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Version Control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VERSION CONTROL · 4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Merging: Bringing Two Lines Back Together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914400" y="3017520"/>
            <a:ext cx="2926080" cy="0"/>
          </a:xfrm>
          <a:prstGeom prst="line">
            <a:avLst/>
          </a:prstGeom>
          <a:ln w="31750">
            <a:solidFill>
              <a:srgbClr val="5A6B75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3840480" y="3017520"/>
            <a:ext cx="7132320" cy="0"/>
          </a:xfrm>
          <a:prstGeom prst="line">
            <a:avLst/>
          </a:prstGeom>
          <a:ln w="31750">
            <a:solidFill>
              <a:srgbClr val="0B3D59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V="1">
            <a:off x="3840480" y="1828800"/>
            <a:ext cx="3017520" cy="1188720"/>
          </a:xfrm>
          <a:prstGeom prst="line">
            <a:avLst/>
          </a:prstGeom>
          <a:ln w="317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858000" y="1828800"/>
            <a:ext cx="1920240" cy="0"/>
          </a:xfrm>
          <a:prstGeom prst="line">
            <a:avLst/>
          </a:prstGeom>
          <a:ln w="317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778240" y="1828800"/>
            <a:ext cx="2194560" cy="1188720"/>
          </a:xfrm>
          <a:prstGeom prst="line">
            <a:avLst/>
          </a:prstGeom>
          <a:ln w="31750">
            <a:solidFill>
              <a:srgbClr val="1C7293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Oval 9"/>
          <p:cNvSpPr/>
          <p:nvPr/>
        </p:nvSpPr>
        <p:spPr>
          <a:xfrm>
            <a:off x="832104" y="2935224"/>
            <a:ext cx="164592" cy="164592"/>
          </a:xfrm>
          <a:prstGeom prst="ellipse">
            <a:avLst/>
          </a:prstGeom>
          <a:solidFill>
            <a:srgbClr val="5A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758184" y="2935224"/>
            <a:ext cx="164592" cy="164592"/>
          </a:xfrm>
          <a:prstGeom prst="ellipse">
            <a:avLst/>
          </a:prstGeom>
          <a:solidFill>
            <a:srgbClr val="5A6B7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8695944" y="1746504"/>
            <a:ext cx="164592" cy="164592"/>
          </a:xfrm>
          <a:prstGeom prst="ellipse">
            <a:avLst/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10853928" y="2898648"/>
            <a:ext cx="237744" cy="237744"/>
          </a:xfrm>
          <a:prstGeom prst="ellipse">
            <a:avLst/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378440" y="3200400"/>
            <a:ext cx="15544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F2A541"/>
                </a:solidFill>
                <a:latin typeface="Courier New"/>
              </a:rPr>
              <a:t>merge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02920" y="4114800"/>
            <a:ext cx="6766560" cy="1554480"/>
          </a:xfrm>
          <a:prstGeom prst="roundRect">
            <a:avLst>
              <a:gd name="adj" fmla="val 6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58952" y="4297680"/>
            <a:ext cx="6254496" cy="118872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E8F1F5"/>
                </a:solidFill>
                <a:latin typeface="Courier New"/>
              </a:rPr>
              <a:t>$ git switch main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E8F1F5"/>
                </a:solidFill>
                <a:latin typeface="Courier New"/>
              </a:rPr>
              <a:t>$ git merge add-ny-site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543800" y="4114800"/>
            <a:ext cx="4114800" cy="1737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Combines the other branch's commits into the one you're on.</a:t>
            </a:r>
          </a:p>
          <a:p>
            <a:pPr marL="228600" indent="-228600">
              <a:lnSpc>
                <a:spcPct val="105000"/>
              </a:lnSpc>
              <a:spcAft>
                <a:spcPts val="8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Usually silent and clean — today we're about to see the exception.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Version Control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VERSION CONTROL · 5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11680"/>
            <a:ext cx="111556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800" b="1" i="0">
                <a:solidFill>
                  <a:srgbClr val="FFFFFF"/>
                </a:solidFill>
                <a:latin typeface="Cambria"/>
              </a:rPr>
              <a:t>Not a Mistake — Git Refusing to Guess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280160" y="3291840"/>
            <a:ext cx="9601200" cy="2103120"/>
          </a:xfrm>
          <a:prstGeom prst="roundRect">
            <a:avLst>
              <a:gd name="adj" fmla="val 6000"/>
            </a:avLst>
          </a:prstGeom>
          <a:solidFill>
            <a:srgbClr val="1C729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737360" y="3566160"/>
            <a:ext cx="8686800" cy="15544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2400" b="1" i="0">
                <a:solidFill>
                  <a:srgbClr val="FFFFFF"/>
                </a:solidFill>
                <a:latin typeface="Cambria"/>
              </a:rPr>
              <a:t>A conflict happens when two branches edit the SAME lines differently since they diverged.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280160" y="562356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0" i="1">
                <a:solidFill>
                  <a:srgbClr val="CADCFC"/>
                </a:solidFill>
                <a:latin typeface="Calibri"/>
              </a:rPr>
              <a:t>It is never a sign you did something wrong.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VERSION CONTROL · 6 OF 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Reading Conflict Markers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6675120" cy="2743200"/>
          </a:xfrm>
          <a:prstGeom prst="roundRect">
            <a:avLst>
              <a:gd name="adj" fmla="val 6000"/>
            </a:avLst>
          </a:prstGeom>
          <a:solidFill>
            <a:srgbClr val="0F2B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58952" y="2011680"/>
            <a:ext cx="6163056" cy="23774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>
              <a:lnSpc>
                <a:spcPct val="115000"/>
              </a:lnSpc>
            </a:pPr>
            <a:r>
              <a:rPr sz="1600">
                <a:solidFill>
                  <a:srgbClr val="F2A541"/>
                </a:solidFill>
                <a:latin typeface="Courier New"/>
              </a:rPr>
              <a:t>&lt;&lt;&lt;&lt;&lt;&lt;&lt; HEAD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E8F1F5"/>
                </a:solidFill>
                <a:latin typeface="Courier New"/>
              </a:rPr>
              <a:t>SITES = ["DC", "MD", "PA", "VA"]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F2A541"/>
                </a:solidFill>
                <a:latin typeface="Courier New"/>
              </a:rPr>
              <a:t>=======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E8F1F5"/>
                </a:solidFill>
                <a:latin typeface="Courier New"/>
              </a:rPr>
              <a:t>SITES = ["DC", "MD", "NY", "VA"]</a:t>
            </a:r>
          </a:p>
          <a:p>
            <a:pPr>
              <a:lnSpc>
                <a:spcPct val="115000"/>
              </a:lnSpc>
            </a:pPr>
            <a:r>
              <a:rPr sz="1600">
                <a:solidFill>
                  <a:srgbClr val="F2A541"/>
                </a:solidFill>
                <a:latin typeface="Courier New"/>
              </a:rPr>
              <a:t>&gt;&gt;&gt;&gt;&gt;&gt;&gt; add-ny-site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52360" y="1828800"/>
            <a:ext cx="4206240" cy="3657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&lt;&lt;&lt;&lt;&lt;&lt;&lt; HEAD through ======= — what's on your current branch.</a:t>
            </a: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======= through &gt;&gt;&gt;&gt;&gt;&gt;&gt; — what's coming in from the other branch.</a:t>
            </a: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500">
                <a:solidFill>
                  <a:srgbClr val="1A1A1A"/>
                </a:solidFill>
                <a:latin typeface="Calibri"/>
              </a:rPr>
              <a:t>Nothing else in the file is touched — the conflict is scoped to exactly the lines that disagree.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4892040"/>
            <a:ext cx="1088136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0" i="1">
                <a:solidFill>
                  <a:srgbClr val="5A6B75"/>
                </a:solidFill>
                <a:latin typeface="Calibri"/>
              </a:rPr>
              <a:t>This is git status's exact output, and the exact file content, from a real dry run of Wednesday's scenario.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Version Control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RESOLVING A CONFLICT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Edit → Verify → Add → Commit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2651760" cy="310896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713232" y="2084832"/>
            <a:ext cx="585216" cy="585216"/>
          </a:xfrm>
          <a:prstGeom prst="ellipse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2104" y="21945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8803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3D59"/>
                </a:solidFill>
                <a:latin typeface="Courier New"/>
              </a:rPr>
              <a:t>EDIT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42900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Remove the markers, keep both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changes (or pick the right one).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291840" y="1920240"/>
            <a:ext cx="2651760" cy="3108960"/>
          </a:xfrm>
          <a:prstGeom prst="roundRect">
            <a:avLst>
              <a:gd name="adj" fmla="val 6000"/>
            </a:avLst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502152" y="2084832"/>
            <a:ext cx="585216" cy="585216"/>
          </a:xfrm>
          <a:prstGeom prst="ellipse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621024" y="21945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74720" y="28803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3D59"/>
                </a:solidFill>
                <a:latin typeface="Courier New"/>
              </a:rPr>
              <a:t>VERIFY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74720" y="342900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Rerun the code — confirm it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still works before moving on.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1920240"/>
            <a:ext cx="2651760" cy="310896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291072" y="2084832"/>
            <a:ext cx="585216" cy="585216"/>
          </a:xfrm>
          <a:prstGeom prst="ellipse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9944" y="21945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263640" y="28803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3D59"/>
                </a:solidFill>
                <a:latin typeface="Courier New"/>
              </a:rPr>
              <a:t>git add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263640" y="342900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Stage the resolved file, same as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any other change.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869680" y="1920240"/>
            <a:ext cx="2651760" cy="3108960"/>
          </a:xfrm>
          <a:prstGeom prst="roundRect">
            <a:avLst>
              <a:gd name="adj" fmla="val 6000"/>
            </a:avLst>
          </a:prstGeom>
          <a:solidFill>
            <a:srgbClr val="D6DEE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079992" y="2084832"/>
            <a:ext cx="585216" cy="585216"/>
          </a:xfrm>
          <a:prstGeom prst="ellipse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198864" y="219456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4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52560" y="2880360"/>
            <a:ext cx="22860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1600" b="1" i="0">
                <a:solidFill>
                  <a:srgbClr val="0B3D59"/>
                </a:solidFill>
                <a:latin typeface="Courier New"/>
              </a:rPr>
              <a:t>git commit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52560" y="3429000"/>
            <a:ext cx="22860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Finishes the merge — git already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300" b="0" i="0">
                <a:solidFill>
                  <a:srgbClr val="1A1A1A"/>
                </a:solidFill>
                <a:latin typeface="Calibri"/>
              </a:rPr>
              <a:t>wrote a default message.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534924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B75"/>
                </a:solidFill>
                <a:latin typeface="Calibri"/>
              </a:rPr>
              <a:t>Stuck mid-resolution? git merge --abort cleanly cancels the merge and puts you back to right before you ran it — nothing is lost.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Version Control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WHY THIS MATTERS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Project Work Is Graded Partly on Commit History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828800"/>
            <a:ext cx="3291840" cy="3291840"/>
          </a:xfrm>
          <a:prstGeom prst="roundRect">
            <a:avLst>
              <a:gd name="adj" fmla="val 6000"/>
            </a:avLst>
          </a:prstGeom>
          <a:solidFill>
            <a:srgbClr val="F2A5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2331720"/>
            <a:ext cx="3291840" cy="11887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6400" b="1" i="0">
                <a:solidFill>
                  <a:srgbClr val="0B3D59"/>
                </a:solidFill>
                <a:latin typeface="Cambria"/>
              </a:rPr>
              <a:t>15%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3566160"/>
            <a:ext cx="2743200" cy="13716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B3D59"/>
                </a:solidFill>
                <a:latin typeface="Calibri"/>
              </a:rPr>
              <a:t>of the code rubric —</a:t>
            </a:r>
          </a:p>
          <a:p>
            <a:pPr algn="ctr">
              <a:lnSpc>
                <a:spcPct val="120000"/>
              </a:lnSpc>
              <a:spcAft>
                <a:spcPts val="0"/>
              </a:spcAft>
            </a:pPr>
            <a:r>
              <a:rPr sz="1400" b="1" i="0">
                <a:solidFill>
                  <a:srgbClr val="0B3D59"/>
                </a:solidFill>
                <a:latin typeface="Calibri"/>
              </a:rPr>
              <a:t>“version control hygiene”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06240" y="1965960"/>
            <a:ext cx="7223760" cy="3108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14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“Meaningful commit history showing iterative work — not one commit dump at the deadline.” (final project code rubric)</a:t>
            </a:r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Lab 5 grades a matching “meaningful commit history” criterion the same way.</a:t>
            </a:r>
          </a:p>
          <a:p>
            <a:pPr marL="228600" indent="-228600">
              <a:lnSpc>
                <a:spcPct val="105000"/>
              </a:lnSpc>
              <a:spcAft>
                <a:spcPts val="14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It's a light signal against last-minute, ungraded-process submissions — not a trick, just visible evidence of real iterative work.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440680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500" b="0" i="1">
                <a:solidFill>
                  <a:srgbClr val="5A6B75"/>
                </a:solidFill>
                <a:latin typeface="Calibri"/>
              </a:rPr>
              <a:t>Start the habit now — Wednesday's practical is exactly this habit, in miniature, on a repo with nothing at stake.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Grading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CADCFC"/>
                </a:solidFill>
                <a:latin typeface="Calibri"/>
              </a:rPr>
              <a:t>DISCUSSION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286000"/>
            <a:ext cx="10515600" cy="2377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3200" b="1" i="0">
                <a:solidFill>
                  <a:srgbClr val="FFFFFF"/>
                </a:solidFill>
                <a:latin typeface="Cambria"/>
              </a:rPr>
              <a:t>“Why does a merge conflict happen, and why isn't it a sign you did something wrong?”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120640"/>
            <a:ext cx="96012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700" b="0" i="1">
                <a:solidFill>
                  <a:srgbClr val="9FB8C8"/>
                </a:solidFill>
                <a:latin typeface="Calibri"/>
              </a:rPr>
              <a:t>You'll get one again — with a partner, or your own past self.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LOOKING AHEAD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Wednesday: Entirely Hands-On Git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1828800"/>
            <a:ext cx="6217920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Initialize a fresh repo, make several real commits.</a:t>
            </a: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Create a branch, diverge from main.</a:t>
            </a: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Plant and resolve a real merge conflict — on purpose, from scratch.</a:t>
            </a:r>
          </a:p>
          <a:p>
            <a:pPr marL="228600" indent="-228600">
              <a:lnSpc>
                <a:spcPct val="105000"/>
              </a:lnSpc>
              <a:spcAft>
                <a:spcPts val="1200"/>
              </a:spcAft>
              <a:buClr>
                <a:srgbClr val="1C7293"/>
              </a:buClr>
              <a:buSzPct val="90000"/>
              <a:buFont typeface="Arial"/>
              <a:buChar char="•"/>
            </a:pPr>
            <a:r>
              <a:rPr sz="1600">
                <a:solidFill>
                  <a:srgbClr val="1A1A1A"/>
                </a:solidFill>
                <a:latin typeface="Calibri"/>
              </a:rPr>
              <a:t>Confirm the merged history with git log --oneline --all --graph.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040880" y="1828800"/>
            <a:ext cx="4663440" cy="329184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315200" y="2103120"/>
            <a:ext cx="411480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0B3D59"/>
                </a:solidFill>
                <a:latin typeface="Calibri"/>
              </a:rPr>
              <a:t>Most-repeated “I've never actually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0B3D59"/>
                </a:solidFill>
                <a:latin typeface="Calibri"/>
              </a:rPr>
              <a:t>done this” gap in this class's own</a:t>
            </a:r>
          </a:p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500" b="1" i="0">
                <a:solidFill>
                  <a:srgbClr val="0B3D59"/>
                </a:solidFill>
                <a:latin typeface="Calibri"/>
              </a:rPr>
              <a:t>self-report survey.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0" y="3291840"/>
            <a:ext cx="4114800" cy="1554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Real time is budgeted for it — not a quick demo. Come with your Week 1 git config already set 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5577840"/>
            <a:ext cx="1115568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400" b="0" i="1">
                <a:solidFill>
                  <a:srgbClr val="5A6B75"/>
                </a:solidFill>
                <a:latin typeface="Calibri"/>
              </a:rPr>
              <a:t>Lab 3 (Parsing Messy Health or Genomic Data) is due Wed Sep 30, 11:59pm — the same night as this week's practical, not before it.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Wrap-Up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02920" y="45720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300" b="1" i="0">
                <a:solidFill>
                  <a:srgbClr val="1C7293"/>
                </a:solidFill>
                <a:latin typeface="Calibri"/>
              </a:rPr>
              <a:t>REQUIRED READINGS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777240"/>
            <a:ext cx="11155680" cy="9144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3200" b="1" i="0">
                <a:solidFill>
                  <a:srgbClr val="0B3D59"/>
                </a:solidFill>
                <a:latin typeface="Cambria"/>
              </a:rPr>
              <a:t>Before Wednesday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02920" y="19202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E3E9E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22960" y="219456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Aft>
                <a:spcPts val="0"/>
              </a:spcAft>
            </a:pPr>
            <a:r>
              <a:rPr sz="1800" b="1" i="0">
                <a:solidFill>
                  <a:srgbClr val="0B3D59"/>
                </a:solidFill>
                <a:latin typeface="Cambria"/>
              </a:rPr>
              <a:t>Python Modules Documentation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97180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docs.python.org/3/tutorial/modules.html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1A1A1A"/>
                </a:solidFill>
                <a:latin typeface="Calibri"/>
              </a:rPr>
              <a:t>Official docs, current, novice-friendly. Read at least through the packages section.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63640" y="1920240"/>
            <a:ext cx="5394960" cy="3291840"/>
          </a:xfrm>
          <a:prstGeom prst="roundRect">
            <a:avLst>
              <a:gd name="adj" fmla="val 6000"/>
            </a:avLst>
          </a:prstGeom>
          <a:solidFill>
            <a:srgbClr val="0B3D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0" y="2194560"/>
            <a:ext cx="47548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800" b="1" i="0">
                <a:solidFill>
                  <a:srgbClr val="FFFFFF"/>
                </a:solidFill>
                <a:latin typeface="Cambria"/>
              </a:rPr>
              <a:t>Git Tutorial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0" y="297180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git-scm.com/docs/gittutorial</a:t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/>
            </a:r>
          </a:p>
          <a:p>
            <a:pPr algn="l">
              <a:lnSpc>
                <a:spcPct val="130000"/>
              </a:lnSpc>
              <a:spcAft>
                <a:spcPts val="0"/>
              </a:spcAft>
            </a:pPr>
            <a:r>
              <a:rPr sz="1400" b="0" i="0">
                <a:solidFill>
                  <a:srgbClr val="FFFFFF"/>
                </a:solidFill>
                <a:latin typeface="Calibri"/>
              </a:rPr>
              <a:t>The official beginner tutorial (not a man page). If you only read one section closely, make it branching &amp; merging.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6510528"/>
            <a:ext cx="7315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Week 6 · Software 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686800" y="6510528"/>
            <a:ext cx="3017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Aft>
                <a:spcPts val="0"/>
              </a:spcAft>
            </a:pPr>
            <a:r>
              <a:rPr sz="1000" b="0" i="0">
                <a:solidFill>
                  <a:srgbClr val="5A6B75"/>
                </a:solidFill>
                <a:latin typeface="Calibri"/>
              </a:rPr>
              <a:t>Required Readings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