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Motivation. Friday evening launch, crash at step 9 overnight, Monday morning: which outputs are good?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The problem. Then Cmd-Tab to iTerm2: cat run_all.sh, run it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Four pains. Hands up for any you've hit.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sbatch = submit a script to the cluster scheduler (Slurm). Your story: since ~2018, no sbatch. The tool also checks that jobs succeeded.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Make, Stuart Feldman, Bell Labs, early version April 1976 (Wikipedia). A colleague lost a morning debugging a program whose fix was never recompiled. Snakemake: Koster and Rahmann 2012.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Core ideas. Write down dependencies, not steps. Pull, not push. Make: 1970s.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Read it like a sentence. {input} and {output} get filled in, so you never type a path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{sample} is a pattern. Sixty samples, same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expand fills in the wildcard for every value in a list. rule all is the shopping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Directed, acyclic. You never draw this. Six filter jobs can run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Real pipeline from Singh et al. 2025 iScience: 50 DLBCL samples through GDC download, BAM to FASTQ, STAR, Telescope. 9 rules + all. Each box is a rule, not a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50 samples x 5 steps = 250 per-sample jobs, plus 7 shared reference jobs (by my count from the PDF). You wrote 9 rules. One graph, cut in two to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Filegraph shows each rule box with its input and output files. Zoom: star_alignment. Wildcard {s} is the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after the demo. Measured on Snakemake 9.27.1.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of the typo demo. Read the last lines first, then ask what they mean.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Demo D6. The plot step fails; Snakemake keeps the 13 good jobs, removes the half-written file, and the rerun only does plot + all (2 jobs).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Mostly ecosystem and preference. Nextflow: Apache 2.0, developed by Seqera (company). Cromwell: at the Broad, use Cromwell; hard to self-host outside Terra. Snakemake: you write your own analysis in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We are not using a cluster in this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Slide only, not run in class. Sketch of the conda: directive.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If a validated pipeline exists, use it. If you're writing your own, Snakemake. Otherwise use what your lab uses. Lab 5: Snakemake or Nextflow, your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Wrap-up.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Wrap-up. The AI-drafted Snakefile check moves to Wednesday's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82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Management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· Applied Computing in Health Data Science · PUBH 6854 / 4201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what depends on what. Let the engine do the rest.</a:t>
            </a:r>
            <a:endParaRPr lang="en-US" sz="2000" dirty="0"/>
          </a:p>
        </p:txBody>
      </p:sp>
      <p:sp>
        <p:nvSpPr>
          <p:cNvPr id="5" name="dag-node"/>
          <p:cNvSpPr/>
          <p:nvPr/>
        </p:nvSpPr>
        <p:spPr>
          <a:xfrm>
            <a:off x="6720840" y="50292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dag-node"/>
          <p:cNvSpPr/>
          <p:nvPr/>
        </p:nvSpPr>
        <p:spPr>
          <a:xfrm>
            <a:off x="7452360" y="50292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dag-node"/>
          <p:cNvSpPr/>
          <p:nvPr/>
        </p:nvSpPr>
        <p:spPr>
          <a:xfrm>
            <a:off x="8183880" y="50292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dag-node"/>
          <p:cNvSpPr/>
          <p:nvPr/>
        </p:nvSpPr>
        <p:spPr>
          <a:xfrm>
            <a:off x="7452360" y="96012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9" name="dag-edge"/>
          <p:cNvSpPr/>
          <p:nvPr/>
        </p:nvSpPr>
        <p:spPr>
          <a:xfrm>
            <a:off x="6949440" y="777240"/>
            <a:ext cx="731520" cy="18288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10" name="dag-edge"/>
          <p:cNvSpPr/>
          <p:nvPr/>
        </p:nvSpPr>
        <p:spPr>
          <a:xfrm>
            <a:off x="7680960" y="777240"/>
            <a:ext cx="0" cy="18288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11" name="dag-edge"/>
          <p:cNvSpPr/>
          <p:nvPr/>
        </p:nvSpPr>
        <p:spPr>
          <a:xfrm flipH="1">
            <a:off x="7680960" y="777240"/>
            <a:ext cx="731520" cy="18288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dies at 2 a.m.</a:t>
            </a:r>
            <a:endParaRPr lang="en-US" sz="3200" dirty="0"/>
          </a:p>
        </p:txBody>
      </p:sp>
      <p:sp>
        <p:nvSpPr>
          <p:cNvPr id="4" name="step-chip"/>
          <p:cNvSpPr/>
          <p:nvPr/>
        </p:nvSpPr>
        <p:spPr>
          <a:xfrm>
            <a:off x="457200" y="1463040"/>
            <a:ext cx="502920" cy="64008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4630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tep-chip"/>
          <p:cNvSpPr/>
          <p:nvPr/>
        </p:nvSpPr>
        <p:spPr>
          <a:xfrm>
            <a:off x="1051560" y="1463040"/>
            <a:ext cx="502920" cy="64008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1560" y="14630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step-chip"/>
          <p:cNvSpPr/>
          <p:nvPr/>
        </p:nvSpPr>
        <p:spPr>
          <a:xfrm>
            <a:off x="1645920" y="1463040"/>
            <a:ext cx="502920" cy="64008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645920" y="14630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step-chip"/>
          <p:cNvSpPr/>
          <p:nvPr/>
        </p:nvSpPr>
        <p:spPr>
          <a:xfrm>
            <a:off x="2240280" y="1463040"/>
            <a:ext cx="502920" cy="64008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40280" y="14630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step-chip"/>
          <p:cNvSpPr/>
          <p:nvPr/>
        </p:nvSpPr>
        <p:spPr>
          <a:xfrm>
            <a:off x="2834640" y="1463040"/>
            <a:ext cx="502920" cy="64008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834640" y="14630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4" name="step-chip"/>
          <p:cNvSpPr/>
          <p:nvPr/>
        </p:nvSpPr>
        <p:spPr>
          <a:xfrm>
            <a:off x="3429000" y="1463040"/>
            <a:ext cx="502920" cy="64008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429000" y="14630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16" name="step-chip"/>
          <p:cNvSpPr/>
          <p:nvPr/>
        </p:nvSpPr>
        <p:spPr>
          <a:xfrm>
            <a:off x="4023360" y="1463040"/>
            <a:ext cx="502920" cy="64008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023360" y="14630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18" name="step-chip"/>
          <p:cNvSpPr/>
          <p:nvPr/>
        </p:nvSpPr>
        <p:spPr>
          <a:xfrm>
            <a:off x="4617720" y="1463040"/>
            <a:ext cx="502920" cy="64008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617720" y="14630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20" name="step-chip"/>
          <p:cNvSpPr/>
          <p:nvPr/>
        </p:nvSpPr>
        <p:spPr>
          <a:xfrm>
            <a:off x="5212080" y="1463040"/>
            <a:ext cx="502920" cy="640080"/>
          </a:xfrm>
          <a:prstGeom prst="roundRect">
            <a:avLst>
              <a:gd name="adj" fmla="val 1090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12080" y="14630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22" name="step-chip"/>
          <p:cNvSpPr/>
          <p:nvPr/>
        </p:nvSpPr>
        <p:spPr>
          <a:xfrm>
            <a:off x="5806440" y="1463040"/>
            <a:ext cx="502920" cy="640080"/>
          </a:xfrm>
          <a:prstGeom prst="roundRect">
            <a:avLst>
              <a:gd name="adj" fmla="val 10909"/>
            </a:avLst>
          </a:prstGeom>
          <a:solidFill>
            <a:srgbClr val="E3E9EC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806440" y="14630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24" name="step-chip"/>
          <p:cNvSpPr/>
          <p:nvPr/>
        </p:nvSpPr>
        <p:spPr>
          <a:xfrm>
            <a:off x="6400800" y="1463040"/>
            <a:ext cx="502920" cy="640080"/>
          </a:xfrm>
          <a:prstGeom prst="roundRect">
            <a:avLst>
              <a:gd name="adj" fmla="val 10909"/>
            </a:avLst>
          </a:prstGeom>
          <a:solidFill>
            <a:srgbClr val="E3E9EC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0" y="14630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600" dirty="0"/>
          </a:p>
        </p:txBody>
      </p:sp>
      <p:sp>
        <p:nvSpPr>
          <p:cNvPr id="26" name="step-chip"/>
          <p:cNvSpPr/>
          <p:nvPr/>
        </p:nvSpPr>
        <p:spPr>
          <a:xfrm>
            <a:off x="6995160" y="1463040"/>
            <a:ext cx="502920" cy="640080"/>
          </a:xfrm>
          <a:prstGeom prst="roundRect">
            <a:avLst>
              <a:gd name="adj" fmla="val 10909"/>
            </a:avLst>
          </a:prstGeom>
          <a:solidFill>
            <a:srgbClr val="E3E9EC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995160" y="14630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600" dirty="0"/>
          </a:p>
        </p:txBody>
      </p:sp>
      <p:sp>
        <p:nvSpPr>
          <p:cNvPr id="28" name="step-chip"/>
          <p:cNvSpPr/>
          <p:nvPr/>
        </p:nvSpPr>
        <p:spPr>
          <a:xfrm>
            <a:off x="7589520" y="1463040"/>
            <a:ext cx="502920" cy="640080"/>
          </a:xfrm>
          <a:prstGeom prst="roundRect">
            <a:avLst>
              <a:gd name="adj" fmla="val 10909"/>
            </a:avLst>
          </a:prstGeom>
          <a:solidFill>
            <a:srgbClr val="E3E9EC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589520" y="14630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600" dirty="0"/>
          </a:p>
        </p:txBody>
      </p:sp>
      <p:sp>
        <p:nvSpPr>
          <p:cNvPr id="30" name="step-chip"/>
          <p:cNvSpPr/>
          <p:nvPr/>
        </p:nvSpPr>
        <p:spPr>
          <a:xfrm>
            <a:off x="8183880" y="1463040"/>
            <a:ext cx="502920" cy="640080"/>
          </a:xfrm>
          <a:prstGeom prst="roundRect">
            <a:avLst>
              <a:gd name="adj" fmla="val 10909"/>
            </a:avLst>
          </a:prstGeom>
          <a:solidFill>
            <a:srgbClr val="E3E9EC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183880" y="14630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6 p.m.: launch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448056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2 a.m.: crash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94944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Mon: now what?</a:t>
            </a:r>
            <a:endParaRPr lang="en-US" sz="1400" dirty="0"/>
          </a:p>
        </p:txBody>
      </p:sp>
      <p:sp>
        <p:nvSpPr>
          <p:cNvPr id="35" name="q-card"/>
          <p:cNvSpPr/>
          <p:nvPr/>
        </p:nvSpPr>
        <p:spPr>
          <a:xfrm>
            <a:off x="457200" y="29260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36" name="badge1"/>
          <p:cNvSpPr/>
          <p:nvPr/>
        </p:nvSpPr>
        <p:spPr>
          <a:xfrm>
            <a:off x="640080" y="310896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008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C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outputs are good?</a:t>
            </a:r>
            <a:endParaRPr lang="en-US" sz="1400" dirty="0"/>
          </a:p>
        </p:txBody>
      </p:sp>
      <p:sp>
        <p:nvSpPr>
          <p:cNvPr id="39" name="q-card"/>
          <p:cNvSpPr/>
          <p:nvPr/>
        </p:nvSpPr>
        <p:spPr>
          <a:xfrm>
            <a:off x="3246120" y="29260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40" name="badge2"/>
          <p:cNvSpPr/>
          <p:nvPr/>
        </p:nvSpPr>
        <p:spPr>
          <a:xfrm>
            <a:off x="3429000" y="310896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42900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C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342900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step 8's file complete, or cut off?</a:t>
            </a:r>
            <a:endParaRPr lang="en-US" sz="1400" dirty="0"/>
          </a:p>
        </p:txBody>
      </p:sp>
      <p:sp>
        <p:nvSpPr>
          <p:cNvPr id="43" name="q-card"/>
          <p:cNvSpPr/>
          <p:nvPr/>
        </p:nvSpPr>
        <p:spPr>
          <a:xfrm>
            <a:off x="6035040" y="29260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44" name="badge3"/>
          <p:cNvSpPr/>
          <p:nvPr/>
        </p:nvSpPr>
        <p:spPr>
          <a:xfrm>
            <a:off x="6217920" y="310896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21792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C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6" name="Text 43"/>
          <p:cNvSpPr txBox="1"/>
          <p:nvPr/>
        </p:nvSpPr>
        <p:spPr>
          <a:xfrm>
            <a:off x="621792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from step 1?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have four scripts</a:t>
            </a:r>
            <a:endParaRPr lang="en-US" sz="3200" dirty="0"/>
          </a:p>
        </p:txBody>
      </p:sp>
      <p:sp>
        <p:nvSpPr>
          <p:cNvPr id="4" name="script-card"/>
          <p:cNvSpPr/>
          <p:nvPr/>
        </p:nvSpPr>
        <p:spPr>
          <a:xfrm>
            <a:off x="457200" y="146304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463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filter.py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2103120" y="146304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script-card"/>
          <p:cNvSpPr/>
          <p:nvPr/>
        </p:nvSpPr>
        <p:spPr>
          <a:xfrm>
            <a:off x="2560320" y="146304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560320" y="1463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count.py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146304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cript-card"/>
          <p:cNvSpPr/>
          <p:nvPr/>
        </p:nvSpPr>
        <p:spPr>
          <a:xfrm>
            <a:off x="4663440" y="146304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1463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merge.py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146304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cript-card"/>
          <p:cNvSpPr/>
          <p:nvPr/>
        </p:nvSpPr>
        <p:spPr>
          <a:xfrm>
            <a:off x="6766560" y="146304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66560" y="1463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plot.py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them by hand, in order. It works.</a:t>
            </a:r>
            <a:endParaRPr lang="en-US" sz="1800" dirty="0"/>
          </a:p>
        </p:txBody>
      </p:sp>
      <p:sp>
        <p:nvSpPr>
          <p:cNvPr id="16" name="tuesday"/>
          <p:cNvSpPr/>
          <p:nvPr/>
        </p:nvSpPr>
        <p:spPr>
          <a:xfrm>
            <a:off x="457200" y="329184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3429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it's Tuesday.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3794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082C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“Can you change the filter threshold from 0.10 to 0.30?”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pains of loose scripts</a:t>
            </a:r>
            <a:endParaRPr lang="en-US" sz="3200" dirty="0"/>
          </a:p>
        </p:txBody>
      </p:sp>
      <p:sp>
        <p:nvSpPr>
          <p:cNvPr id="4" name="pain-card"/>
          <p:cNvSpPr/>
          <p:nvPr/>
        </p:nvSpPr>
        <p:spPr>
          <a:xfrm>
            <a:off x="457200" y="13716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5" name="badge1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5727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memory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1488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Redoes everything, or you comment out lines by hand and hope.</a:t>
            </a:r>
            <a:endParaRPr lang="en-US" sz="1400" dirty="0"/>
          </a:p>
        </p:txBody>
      </p:sp>
      <p:sp>
        <p:nvSpPr>
          <p:cNvPr id="9" name="pain-card"/>
          <p:cNvSpPr/>
          <p:nvPr/>
        </p:nvSpPr>
        <p:spPr>
          <a:xfrm>
            <a:off x="4663440" y="13716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10" name="badge2"/>
          <p:cNvSpPr/>
          <p:nvPr/>
        </p:nvSpPr>
        <p:spPr>
          <a:xfrm>
            <a:off x="4892040" y="160020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532120" y="15727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Doesn't know dependencies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532120" y="21488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know. The script doesn't.</a:t>
            </a:r>
            <a:endParaRPr lang="en-US" sz="1400" dirty="0"/>
          </a:p>
        </p:txBody>
      </p:sp>
      <p:sp>
        <p:nvSpPr>
          <p:cNvPr id="14" name="pain-card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15" name="badge3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2186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 drift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37947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threshold made this figure? Six weeks later, nobody knows.</a:t>
            </a:r>
            <a:endParaRPr lang="en-US" sz="1400" dirty="0"/>
          </a:p>
        </p:txBody>
      </p:sp>
      <p:sp>
        <p:nvSpPr>
          <p:cNvPr id="19" name="pain-card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20" name="badge4"/>
          <p:cNvSpPr/>
          <p:nvPr/>
        </p:nvSpPr>
        <p:spPr>
          <a:xfrm>
            <a:off x="4892040" y="32461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920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532120" y="32186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Fails badly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5532120" y="37947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of 14 crashes. Which outputs are good? Restart from step 1?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failure is the hard part</a:t>
            </a:r>
            <a:endParaRPr lang="en-US" sz="3200" dirty="0"/>
          </a:p>
        </p:txBody>
      </p:sp>
      <p:sp>
        <p:nvSpPr>
          <p:cNvPr id="4" name="fail-card"/>
          <p:cNvSpPr/>
          <p:nvPr/>
        </p:nvSpPr>
        <p:spPr>
          <a:xfrm>
            <a:off x="457200" y="128016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417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hand: sbatch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920240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every job yourself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job IDs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jobs with dependencies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each log to check it worked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 failures by hand</a:t>
            </a:r>
            <a:endParaRPr lang="en-US" sz="1400" dirty="0"/>
          </a:p>
        </p:txBody>
      </p:sp>
      <p:sp>
        <p:nvSpPr>
          <p:cNvPr id="7" name="fail-card"/>
          <p:cNvSpPr/>
          <p:nvPr/>
        </p:nvSpPr>
        <p:spPr>
          <a:xfrm>
            <a:off x="4663440" y="128016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CADC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92040" y="1417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 workflow manager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1920240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every declared output exists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half-written files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cleanly at the failure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from the failure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flaky jobs, keeps logs</a:t>
            </a:r>
            <a:endParaRPr lang="en-US" sz="1400" dirty="0"/>
          </a:p>
        </p:txBody>
      </p:sp>
      <p:sp>
        <p:nvSpPr>
          <p:cNvPr id="10" name="sbatch-note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3E9EC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3931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sbatch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a script to the cluster's scheduler (Slurm). You then babysit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systems came first</a:t>
            </a:r>
            <a:endParaRPr lang="en-US" sz="3200" dirty="0"/>
          </a:p>
        </p:txBody>
      </p:sp>
      <p:sp>
        <p:nvSpPr>
          <p:cNvPr id="4" name="lineage-card"/>
          <p:cNvSpPr/>
          <p:nvPr/>
        </p:nvSpPr>
        <p:spPr>
          <a:xfrm>
            <a:off x="457200" y="12801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1976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14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Stuart Feldman, Bell Labs. Rebuild only what is out of date.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108960" y="1280160"/>
            <a:ext cx="137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lineage-card"/>
          <p:cNvSpPr/>
          <p:nvPr/>
        </p:nvSpPr>
        <p:spPr>
          <a:xfrm>
            <a:off x="3246120" y="12801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46120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idea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systems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2514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Ant, Rake, MSBuild, and Make-like tools in every ecosystem.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897880" y="1280160"/>
            <a:ext cx="137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lineage-card"/>
          <p:cNvSpPr/>
          <p:nvPr/>
        </p:nvSpPr>
        <p:spPr>
          <a:xfrm>
            <a:off x="6035040" y="12801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35040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Snakemake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2514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Make-style rules for science (Köster &amp; Rahmann).</a:t>
            </a:r>
            <a:endParaRPr lang="en-US" sz="1400" dirty="0"/>
          </a:p>
        </p:txBody>
      </p:sp>
      <p:sp>
        <p:nvSpPr>
          <p:cNvPr id="18" name="origin-story"/>
          <p:cNvSpPr/>
          <p:nvPr/>
        </p:nvSpPr>
        <p:spPr>
          <a:xfrm>
            <a:off x="457200" y="35204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35204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82C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Make exists: a colleague lost a morning debugging a program whose fix had never been recompiled.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4805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Wikipedia, “Make (software)”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big idea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82C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every file: what it's made from, and how to make it.</a:t>
            </a:r>
            <a:endParaRPr lang="en-US" sz="2200" dirty="0"/>
          </a:p>
        </p:txBody>
      </p:sp>
      <p:sp>
        <p:nvSpPr>
          <p:cNvPr id="5" name="chain-card"/>
          <p:cNvSpPr/>
          <p:nvPr/>
        </p:nvSpPr>
        <p:spPr>
          <a:xfrm>
            <a:off x="457200" y="2103120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F2A541"/>
          </a:solidFill>
          <a:ln w="9525">
            <a:solidFill>
              <a:srgbClr val="F2A54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21031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2C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matrix.png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103120"/>
            <a:ext cx="338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200" dirty="0"/>
          </a:p>
        </p:txBody>
      </p:sp>
      <p:sp>
        <p:nvSpPr>
          <p:cNvPr id="8" name="chain-card"/>
          <p:cNvSpPr/>
          <p:nvPr/>
        </p:nvSpPr>
        <p:spPr>
          <a:xfrm>
            <a:off x="2121408" y="2103120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121408" y="21031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matrix.tsv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447288" y="2103120"/>
            <a:ext cx="338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200" dirty="0"/>
          </a:p>
        </p:txBody>
      </p:sp>
      <p:sp>
        <p:nvSpPr>
          <p:cNvPr id="11" name="chain-card"/>
          <p:cNvSpPr/>
          <p:nvPr/>
        </p:nvSpPr>
        <p:spPr>
          <a:xfrm>
            <a:off x="3785616" y="2103120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785616" y="21031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counts/*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111496" y="2103120"/>
            <a:ext cx="338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200" dirty="0"/>
          </a:p>
        </p:txBody>
      </p:sp>
      <p:sp>
        <p:nvSpPr>
          <p:cNvPr id="14" name="chain-card"/>
          <p:cNvSpPr/>
          <p:nvPr/>
        </p:nvSpPr>
        <p:spPr>
          <a:xfrm>
            <a:off x="5449824" y="2103120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49824" y="21031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filtered/*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775704" y="2103120"/>
            <a:ext cx="338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200" dirty="0"/>
          </a:p>
        </p:txBody>
      </p:sp>
      <p:sp>
        <p:nvSpPr>
          <p:cNvPr id="17" name="chain-card"/>
          <p:cNvSpPr/>
          <p:nvPr/>
        </p:nvSpPr>
        <p:spPr>
          <a:xfrm>
            <a:off x="7114032" y="2103120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14032" y="21031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raw/*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2926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 for this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works backwards: “What do I need? Does it exist? Is it up to date?”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only runs what it has to.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rule</a:t>
            </a:r>
            <a:endParaRPr lang="en-US" sz="3200" dirty="0"/>
          </a:p>
        </p:txBody>
      </p:sp>
      <p:sp>
        <p:nvSpPr>
          <p:cNvPr id="4" name="rule-code-bg"/>
          <p:cNvSpPr/>
          <p:nvPr/>
        </p:nvSpPr>
        <p:spPr>
          <a:xfrm>
            <a:off x="457200" y="1280160"/>
            <a:ext cx="5120640" cy="2834640"/>
          </a:xfrm>
          <a:prstGeom prst="roundRect">
            <a:avLst>
              <a:gd name="adj" fmla="val 2581"/>
            </a:avLst>
          </a:prstGeom>
          <a:solidFill>
            <a:srgbClr val="082C40"/>
          </a:solidFill>
          <a:ln w="12700">
            <a:solidFill>
              <a:srgbClr val="082C40"/>
            </a:solidFill>
            <a:prstDash val="solid"/>
          </a:ln>
        </p:spPr>
      </p:sp>
      <p:sp>
        <p:nvSpPr>
          <p:cNvPr id="5" name="rule-code"/>
          <p:cNvSpPr txBox="1"/>
          <p:nvPr/>
        </p:nvSpPr>
        <p:spPr>
          <a:xfrm>
            <a:off x="640080" y="1389888"/>
            <a:ext cx="475488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filter_variants: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"data/raw/{sample}.tsv",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"results/filtered/{sample}.tsv",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params: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min_vaf=config["min_vaf"],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shell: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"python scripts/filter_variants.py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--input {input} --output {output}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--min-vaf {params.min_vaf}"</a:t>
            </a:r>
            <a:endParaRPr lang="en-US" sz="1300" dirty="0"/>
          </a:p>
        </p:txBody>
      </p:sp>
      <p:sp>
        <p:nvSpPr>
          <p:cNvPr id="6" name="badge1"/>
          <p:cNvSpPr/>
          <p:nvPr/>
        </p:nvSpPr>
        <p:spPr>
          <a:xfrm>
            <a:off x="5852160" y="137160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</a:t>
            </a:r>
            <a:endParaRPr lang="en-US" sz="1400" dirty="0"/>
          </a:p>
        </p:txBody>
      </p:sp>
      <p:sp>
        <p:nvSpPr>
          <p:cNvPr id="10" name="badge2"/>
          <p:cNvSpPr/>
          <p:nvPr/>
        </p:nvSpPr>
        <p:spPr>
          <a:xfrm>
            <a:off x="5852160" y="219456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make</a:t>
            </a:r>
            <a:endParaRPr lang="en-US" sz="1400" dirty="0"/>
          </a:p>
        </p:txBody>
      </p:sp>
      <p:sp>
        <p:nvSpPr>
          <p:cNvPr id="14" name="badge3"/>
          <p:cNvSpPr/>
          <p:nvPr/>
        </p:nvSpPr>
        <p:spPr>
          <a:xfrm>
            <a:off x="5852160" y="30175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9224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knobs that aren't files</a:t>
            </a:r>
            <a:endParaRPr lang="en-US" sz="1400" dirty="0"/>
          </a:p>
        </p:txBody>
      </p:sp>
      <p:sp>
        <p:nvSpPr>
          <p:cNvPr id="18" name="badge4"/>
          <p:cNvSpPr/>
          <p:nvPr/>
        </p:nvSpPr>
        <p:spPr>
          <a:xfrm>
            <a:off x="5852160" y="384048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521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49224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Wildcards: one rule, every sample</a:t>
            </a:r>
            <a:endParaRPr lang="en-US" sz="3200" dirty="0"/>
          </a:p>
        </p:txBody>
      </p:sp>
      <p:sp>
        <p:nvSpPr>
          <p:cNvPr id="4" name="pattern"/>
          <p:cNvSpPr/>
          <p:nvPr/>
        </p:nvSpPr>
        <p:spPr>
          <a:xfrm>
            <a:off x="457200" y="137160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082C40"/>
          </a:solidFill>
          <a:ln w="9525">
            <a:solidFill>
              <a:srgbClr val="082C4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371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results/filtered/{sample}.tsv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160520" y="13716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400" dirty="0"/>
          </a:p>
        </p:txBody>
      </p:sp>
      <p:sp>
        <p:nvSpPr>
          <p:cNvPr id="7" name="sample-chip"/>
          <p:cNvSpPr/>
          <p:nvPr/>
        </p:nvSpPr>
        <p:spPr>
          <a:xfrm>
            <a:off x="5212080" y="118872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212080" y="1188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= S01</a:t>
            </a:r>
            <a:endParaRPr lang="en-US" sz="1300" dirty="0"/>
          </a:p>
        </p:txBody>
      </p:sp>
      <p:sp>
        <p:nvSpPr>
          <p:cNvPr id="9" name="sample-chip"/>
          <p:cNvSpPr/>
          <p:nvPr/>
        </p:nvSpPr>
        <p:spPr>
          <a:xfrm>
            <a:off x="7040880" y="118872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40880" y="1188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= S02</a:t>
            </a:r>
            <a:endParaRPr lang="en-US" sz="1300" dirty="0"/>
          </a:p>
        </p:txBody>
      </p:sp>
      <p:sp>
        <p:nvSpPr>
          <p:cNvPr id="11" name="sample-chip"/>
          <p:cNvSpPr/>
          <p:nvPr/>
        </p:nvSpPr>
        <p:spPr>
          <a:xfrm>
            <a:off x="5212080" y="187452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12080" y="1874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= S03</a:t>
            </a:r>
            <a:endParaRPr lang="en-US" sz="1300" dirty="0"/>
          </a:p>
        </p:txBody>
      </p:sp>
      <p:sp>
        <p:nvSpPr>
          <p:cNvPr id="13" name="sample-chip"/>
          <p:cNvSpPr/>
          <p:nvPr/>
        </p:nvSpPr>
        <p:spPr>
          <a:xfrm>
            <a:off x="7040880" y="187452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040880" y="1874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= S04</a:t>
            </a:r>
            <a:endParaRPr lang="en-US" sz="1300" dirty="0"/>
          </a:p>
        </p:txBody>
      </p:sp>
      <p:sp>
        <p:nvSpPr>
          <p:cNvPr id="15" name="sample-chip"/>
          <p:cNvSpPr/>
          <p:nvPr/>
        </p:nvSpPr>
        <p:spPr>
          <a:xfrm>
            <a:off x="5212080" y="256032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12080" y="2560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= S05</a:t>
            </a:r>
            <a:endParaRPr lang="en-US" sz="1300" dirty="0"/>
          </a:p>
        </p:txBody>
      </p:sp>
      <p:sp>
        <p:nvSpPr>
          <p:cNvPr id="17" name="sample-chip"/>
          <p:cNvSpPr/>
          <p:nvPr/>
        </p:nvSpPr>
        <p:spPr>
          <a:xfrm>
            <a:off x="7040880" y="256032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040880" y="2560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= S06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results/filtered/S03.tsv → Snakemake sets sample = S03 → looks for data/raw/S03.tsv.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Sixty samples? Same rule.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expand() and rule all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expand: fill in a pattern for every sample</a:t>
            </a:r>
            <a:endParaRPr lang="en-US" sz="1800" dirty="0"/>
          </a:p>
        </p:txBody>
      </p:sp>
      <p:sp>
        <p:nvSpPr>
          <p:cNvPr id="5" name="expand-code-bg"/>
          <p:cNvSpPr/>
          <p:nvPr/>
        </p:nvSpPr>
        <p:spPr>
          <a:xfrm>
            <a:off x="457200" y="16002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082C40"/>
          </a:solidFill>
          <a:ln w="12700">
            <a:solidFill>
              <a:srgbClr val="082C40"/>
            </a:solidFill>
            <a:prstDash val="solid"/>
          </a:ln>
        </p:spPr>
      </p:sp>
      <p:sp>
        <p:nvSpPr>
          <p:cNvPr id="6" name="expand-code"/>
          <p:cNvSpPr txBox="1"/>
          <p:nvPr/>
        </p:nvSpPr>
        <p:spPr>
          <a:xfrm>
            <a:off x="640080" y="170992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expand("results/counts/{sample}.tsv", sample=SAMPLES)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all: the shopping list. Only an input.</a:t>
            </a:r>
            <a:endParaRPr lang="en-US" sz="1800" dirty="0"/>
          </a:p>
        </p:txBody>
      </p:sp>
      <p:sp>
        <p:nvSpPr>
          <p:cNvPr id="8" name="all-code-bg"/>
          <p:cNvSpPr/>
          <p:nvPr/>
        </p:nvSpPr>
        <p:spPr>
          <a:xfrm>
            <a:off x="457200" y="292608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082C40"/>
          </a:solidFill>
          <a:ln w="12700">
            <a:solidFill>
              <a:srgbClr val="082C40"/>
            </a:solidFill>
            <a:prstDash val="solid"/>
          </a:ln>
        </p:spPr>
      </p:sp>
      <p:sp>
        <p:nvSpPr>
          <p:cNvPr id="9" name="all-code"/>
          <p:cNvSpPr txBox="1"/>
          <p:nvPr/>
        </p:nvSpPr>
        <p:spPr>
          <a:xfrm>
            <a:off x="640080" y="3035808"/>
            <a:ext cx="3657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all: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F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"results/matrix.png",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30175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nothing itself. Snakemake starts here and works backwards.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DAG: built from your inputs and outputs</a:t>
            </a:r>
            <a:endParaRPr lang="en-US" sz="3200" dirty="0"/>
          </a:p>
        </p:txBody>
      </p:sp>
      <p:pic>
        <p:nvPicPr>
          <p:cNvPr id="4" name="Image 0" descr="DAG: six filter jobs feed six count jobs, then merge, plot, a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6400800" cy="339363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49440" y="1371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box is a job. Arrows mean “needs”.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6949440" y="23774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lanes with nothing between them run in parallel, for free.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idea, at scale</a:t>
            </a:r>
            <a:endParaRPr lang="en-US" sz="3200" dirty="0"/>
          </a:p>
        </p:txBody>
      </p:sp>
      <p:pic>
        <p:nvPicPr>
          <p:cNvPr id="4" name="Image 0" descr="Rulegraph: 9 rules from download and reference prep through STAR alignment and Telescope to a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2389695" cy="35661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023360" y="1280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pipeline: 9 rules + all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4023360" y="18288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Locus-specific HERV expression in lymphoma: GDC download, BAM to FASTQ, STAR alignment, Telescope.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4023360" y="28346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box is a rule, not a job. Same ingredients as our demo: wildcards, expand, rule all.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4023360" y="4206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 et al. (2025) iScience 28(6):112541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about 257 jobs</a:t>
            </a:r>
            <a:endParaRPr lang="en-US" sz="3200" dirty="0"/>
          </a:p>
        </p:txBody>
      </p:sp>
      <p:pic>
        <p:nvPicPr>
          <p:cNvPr id="4" name="Image 0" descr="Left half of the full job graph: many parallel per-sample la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8229600" cy="1286466"/>
          </a:xfrm>
          <a:prstGeom prst="rect">
            <a:avLst/>
          </a:prstGeom>
        </p:spPr>
      </p:pic>
      <p:pic>
        <p:nvPicPr>
          <p:cNvPr id="5" name="Image 1" descr="Right half of the full job grap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03786"/>
            <a:ext cx="8229600" cy="1286466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samples × 5 steps + shared reference jobs. You write 9 rules.</a:t>
            </a:r>
            <a:endParaRPr lang="en-US" sz="2000" dirty="0"/>
          </a:p>
        </p:txBody>
      </p:sp>
      <p:sp>
        <p:nvSpPr>
          <p:cNvPr id="7" name="Text 2"/>
          <p:cNvSpPr txBox="1"/>
          <p:nvPr/>
        </p:nvSpPr>
        <p:spPr>
          <a:xfrm>
            <a:off x="457200" y="45720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graph, cut in two to fit the slide.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filegraph: files in and out</a:t>
            </a:r>
            <a:endParaRPr lang="en-US" sz="3200" dirty="0"/>
          </a:p>
        </p:txBody>
      </p:sp>
      <p:pic>
        <p:nvPicPr>
          <p:cNvPr id="4" name="Image 0" descr="Filegraph of the upper part of the pipeline: rules with their input and output fi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034026" cy="3429000"/>
          </a:xfrm>
          <a:prstGeom prst="rect">
            <a:avLst/>
          </a:prstGeom>
        </p:spPr>
      </p:pic>
      <p:pic>
        <p:nvPicPr>
          <p:cNvPr id="5" name="Image 1" descr="Zoom on the star_alignment rule with inputs and outpu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371600"/>
            <a:ext cx="5029200" cy="1996126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657600" y="1097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Zoom: star_alignment</a:t>
            </a:r>
            <a:endParaRPr lang="en-US" sz="1400" dirty="0"/>
          </a:p>
        </p:txBody>
      </p:sp>
      <p:sp>
        <p:nvSpPr>
          <p:cNvPr id="7" name="Text 2"/>
          <p:cNvSpPr txBox="1"/>
          <p:nvPr/>
        </p:nvSpPr>
        <p:spPr>
          <a:xfrm>
            <a:off x="3657600" y="35661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box lists the files it needs and the files it makes. {s} is the sample wildcard.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terminal. Predict each job count before the dry run.</a:t>
            </a:r>
            <a:endParaRPr lang="en-US" sz="1800" dirty="0"/>
          </a:p>
        </p:txBody>
      </p:sp>
      <p:sp>
        <p:nvSpPr>
          <p:cNvPr id="4" name="badge1"/>
          <p:cNvSpPr/>
          <p:nvPr/>
        </p:nvSpPr>
        <p:spPr>
          <a:xfrm>
            <a:off x="640080" y="338328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C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862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 first</a:t>
            </a:r>
            <a:endParaRPr lang="en-US" sz="1400" dirty="0"/>
          </a:p>
        </p:txBody>
      </p:sp>
      <p:sp>
        <p:nvSpPr>
          <p:cNvPr id="7" name="badge2"/>
          <p:cNvSpPr/>
          <p:nvPr/>
        </p:nvSpPr>
        <p:spPr>
          <a:xfrm>
            <a:off x="2286000" y="338328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C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38862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 only what changed</a:t>
            </a:r>
            <a:endParaRPr lang="en-US" sz="1400" dirty="0"/>
          </a:p>
        </p:txBody>
      </p:sp>
      <p:sp>
        <p:nvSpPr>
          <p:cNvPr id="10" name="badge3"/>
          <p:cNvSpPr/>
          <p:nvPr/>
        </p:nvSpPr>
        <p:spPr>
          <a:xfrm>
            <a:off x="3931920" y="338328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3192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C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38862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are remembered</a:t>
            </a:r>
            <a:endParaRPr lang="en-US" sz="1400" dirty="0"/>
          </a:p>
        </p:txBody>
      </p:sp>
      <p:sp>
        <p:nvSpPr>
          <p:cNvPr id="13" name="badge4"/>
          <p:cNvSpPr/>
          <p:nvPr/>
        </p:nvSpPr>
        <p:spPr>
          <a:xfrm>
            <a:off x="5577840" y="338328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C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38862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 error</a:t>
            </a:r>
            <a:endParaRPr lang="en-US" sz="1400" dirty="0"/>
          </a:p>
        </p:txBody>
      </p:sp>
      <p:sp>
        <p:nvSpPr>
          <p:cNvPr id="16" name="badge5"/>
          <p:cNvSpPr/>
          <p:nvPr/>
        </p:nvSpPr>
        <p:spPr>
          <a:xfrm>
            <a:off x="7223760" y="338328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C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38862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a failure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reruns, and why</a:t>
            </a:r>
            <a:endParaRPr lang="en-US" sz="3200" dirty="0"/>
          </a:p>
        </p:txBody>
      </p:sp>
      <p:sp>
        <p:nvSpPr>
          <p:cNvPr id="4" name="stat-card"/>
          <p:cNvSpPr/>
          <p:nvPr/>
        </p:nvSpPr>
        <p:spPr>
          <a:xfrm>
            <a:off x="457200" y="137160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5544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560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changed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520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be done</a:t>
            </a:r>
            <a:endParaRPr lang="en-US" sz="1200" dirty="0"/>
          </a:p>
        </p:txBody>
      </p:sp>
      <p:sp>
        <p:nvSpPr>
          <p:cNvPr id="9" name="stat-card"/>
          <p:cNvSpPr/>
          <p:nvPr/>
        </p:nvSpPr>
        <p:spPr>
          <a:xfrm>
            <a:off x="2560320" y="137160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60320" y="15544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4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2560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69748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one input (S03)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697480" y="3520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that sample's chain</a:t>
            </a:r>
            <a:endParaRPr lang="en-US" sz="1200" dirty="0"/>
          </a:p>
        </p:txBody>
      </p:sp>
      <p:sp>
        <p:nvSpPr>
          <p:cNvPr id="14" name="stat-card"/>
          <p:cNvSpPr/>
          <p:nvPr/>
        </p:nvSpPr>
        <p:spPr>
          <a:xfrm>
            <a:off x="4663440" y="137160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63440" y="15544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400" dirty="0"/>
          </a:p>
        </p:txBody>
      </p:sp>
      <p:sp>
        <p:nvSpPr>
          <p:cNvPr id="16" name="Text 13"/>
          <p:cNvSpPr txBox="1"/>
          <p:nvPr/>
        </p:nvSpPr>
        <p:spPr>
          <a:xfrm>
            <a:off x="4663440" y="2560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80060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min_vaf 0.10 → 0.30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800600" y="3520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changed: everything</a:t>
            </a:r>
            <a:endParaRPr lang="en-US" sz="1200" dirty="0"/>
          </a:p>
        </p:txBody>
      </p:sp>
      <p:sp>
        <p:nvSpPr>
          <p:cNvPr id="19" name="stat-card"/>
          <p:cNvSpPr/>
          <p:nvPr/>
        </p:nvSpPr>
        <p:spPr>
          <a:xfrm>
            <a:off x="6766560" y="137160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766560" y="15544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400" dirty="0"/>
          </a:p>
        </p:txBody>
      </p:sp>
      <p:sp>
        <p:nvSpPr>
          <p:cNvPr id="21" name="Text 18"/>
          <p:cNvSpPr txBox="1"/>
          <p:nvPr/>
        </p:nvSpPr>
        <p:spPr>
          <a:xfrm>
            <a:off x="6766560" y="2560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90372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touch, same content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903720" y="3520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timestamp alone isn't enough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rerun comes with a reason: read the reason: lines.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an error</a:t>
            </a:r>
            <a:endParaRPr lang="en-US" sz="3200" dirty="0"/>
          </a:p>
        </p:txBody>
      </p:sp>
      <p:sp>
        <p:nvSpPr>
          <p:cNvPr id="4" name="error-code-bg"/>
          <p:cNvSpPr/>
          <p:nvPr/>
        </p:nvSpPr>
        <p:spPr>
          <a:xfrm>
            <a:off x="457200" y="137160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082C40"/>
          </a:solidFill>
          <a:ln w="12700">
            <a:solidFill>
              <a:srgbClr val="082C40"/>
            </a:solidFill>
            <a:prstDash val="solid"/>
          </a:ln>
        </p:spPr>
      </p:sp>
      <p:sp>
        <p:nvSpPr>
          <p:cNvPr id="5" name="error-code"/>
          <p:cNvSpPr txBox="1"/>
          <p:nvPr/>
        </p:nvSpPr>
        <p:spPr>
          <a:xfrm>
            <a:off x="640080" y="1481328"/>
            <a:ext cx="49377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0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MissingInputException in rule filter_variants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 input files for rule filter_variants: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output: results/filtered/S01.tsv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wildcards: sample=S01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affected files: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data/raw/S01.tsvv</a:t>
            </a:r>
            <a:endParaRPr lang="en-US" sz="1300" dirty="0"/>
          </a:p>
        </p:txBody>
      </p:sp>
      <p:sp>
        <p:nvSpPr>
          <p:cNvPr id="6" name="badge1"/>
          <p:cNvSpPr/>
          <p:nvPr/>
        </p:nvSpPr>
        <p:spPr>
          <a:xfrm>
            <a:off x="6035040" y="141732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350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C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629400" y="1399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rule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62940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filter_variants</a:t>
            </a:r>
            <a:endParaRPr lang="en-US" sz="1300" dirty="0"/>
          </a:p>
        </p:txBody>
      </p:sp>
      <p:sp>
        <p:nvSpPr>
          <p:cNvPr id="10" name="badge2"/>
          <p:cNvSpPr/>
          <p:nvPr/>
        </p:nvSpPr>
        <p:spPr>
          <a:xfrm>
            <a:off x="6035040" y="219456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3504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C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629400" y="2176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wildcard value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62940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sample=S01</a:t>
            </a:r>
            <a:endParaRPr lang="en-US" sz="1300" dirty="0"/>
          </a:p>
        </p:txBody>
      </p:sp>
      <p:sp>
        <p:nvSpPr>
          <p:cNvPr id="14" name="badge3"/>
          <p:cNvSpPr/>
          <p:nvPr/>
        </p:nvSpPr>
        <p:spPr>
          <a:xfrm>
            <a:off x="6035040" y="297180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3504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C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629400" y="2953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file is missing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62940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v's: a typo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last lines first. Then ask an AI what they mean, before asking how to fix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and resume</a:t>
            </a:r>
            <a:endParaRPr lang="en-US" sz="3200" dirty="0"/>
          </a:p>
        </p:txBody>
      </p:sp>
      <p:sp>
        <p:nvSpPr>
          <p:cNvPr id="4" name="stat-card"/>
          <p:cNvSpPr/>
          <p:nvPr/>
        </p:nvSpPr>
        <p:spPr>
          <a:xfrm>
            <a:off x="457200" y="12801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4173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finished and kept</a:t>
            </a:r>
            <a:endParaRPr lang="en-US" sz="1500" dirty="0"/>
          </a:p>
        </p:txBody>
      </p:sp>
      <p:sp>
        <p:nvSpPr>
          <p:cNvPr id="7" name="stat-card"/>
          <p:cNvSpPr/>
          <p:nvPr/>
        </p:nvSpPr>
        <p:spPr>
          <a:xfrm>
            <a:off x="3246120" y="12801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46120" y="14173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720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failed: partial output removed</a:t>
            </a:r>
            <a:endParaRPr lang="en-US" sz="1500" dirty="0"/>
          </a:p>
        </p:txBody>
      </p:sp>
      <p:sp>
        <p:nvSpPr>
          <p:cNvPr id="10" name="stat-card"/>
          <p:cNvSpPr/>
          <p:nvPr/>
        </p:nvSpPr>
        <p:spPr>
          <a:xfrm>
            <a:off x="6035040" y="12801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35040" y="14173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72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to resume: plot, all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upstream reruns.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node? </a:t>
            </a:r>
            <a:pPr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snakemake --retries 2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reruns a failed job before giving up.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engines, three ecosystems</a:t>
            </a:r>
            <a:endParaRPr lang="en-US" sz="3200" dirty="0"/>
          </a:p>
        </p:txBody>
      </p:sp>
      <p:sp>
        <p:nvSpPr>
          <p:cNvPr id="4" name="engine-card"/>
          <p:cNvSpPr/>
          <p:nvPr/>
        </p:nvSpPr>
        <p:spPr>
          <a:xfrm>
            <a:off x="457200" y="118872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CADC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Snakemake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37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659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Python in rules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Make-style file rules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Plugins: Slurm, K8s, cloud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063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2918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curated pipelines</a:t>
            </a:r>
            <a:endParaRPr lang="en-US" sz="1300" dirty="0"/>
          </a:p>
        </p:txBody>
      </p:sp>
      <p:sp>
        <p:nvSpPr>
          <p:cNvPr id="10" name="engine-card"/>
          <p:cNvSpPr/>
          <p:nvPr/>
        </p:nvSpPr>
        <p:spPr>
          <a:xfrm>
            <a:off x="3246120" y="118872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290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Nextflow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1737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19659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nf-core pipelines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executors built 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container support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429000" y="3063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429000" y="32918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Groovy on Java 17+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Steeper learning curve</a:t>
            </a:r>
            <a:endParaRPr lang="en-US" sz="1300" dirty="0"/>
          </a:p>
        </p:txBody>
      </p:sp>
      <p:sp>
        <p:nvSpPr>
          <p:cNvPr id="16" name="engine-card"/>
          <p:cNvSpPr/>
          <p:nvPr/>
        </p:nvSpPr>
        <p:spPr>
          <a:xfrm>
            <a:off x="6035040" y="118872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1792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Cromwell / WDL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1737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0" y="19659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WARP: Broad pipelines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 + AnVIL (NHGRI)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Dockstore sharing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0" y="3063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217920" y="32918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self-host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Backends: AWS, GCP Batch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ecosystem and preference. Snakemake: you write your own analysis. Nextflow and Cromwell: ready-made production pipelines.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workflow, different places</a:t>
            </a:r>
            <a:endParaRPr lang="en-US" sz="3200" dirty="0"/>
          </a:p>
        </p:txBody>
      </p:sp>
      <p:sp>
        <p:nvSpPr>
          <p:cNvPr id="4" name="snakefile"/>
          <p:cNvSpPr/>
          <p:nvPr/>
        </p:nvSpPr>
        <p:spPr>
          <a:xfrm>
            <a:off x="3200400" y="128016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0B3D59"/>
          </a:solidFill>
          <a:ln w="9525">
            <a:solidFill>
              <a:srgbClr val="0B3D5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200400" y="1280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Snakefile</a:t>
            </a:r>
            <a:endParaRPr lang="en-US" sz="2000" dirty="0"/>
          </a:p>
        </p:txBody>
      </p:sp>
      <p:sp>
        <p:nvSpPr>
          <p:cNvPr id="6" name="edge"/>
          <p:cNvSpPr/>
          <p:nvPr/>
        </p:nvSpPr>
        <p:spPr>
          <a:xfrm flipH="1">
            <a:off x="1737360" y="2011680"/>
            <a:ext cx="2834640" cy="7315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7" name="place-card"/>
          <p:cNvSpPr/>
          <p:nvPr/>
        </p:nvSpPr>
        <p:spPr>
          <a:xfrm>
            <a:off x="457200" y="27432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laptop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429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</a:t>
            </a:r>
            <a:endParaRPr lang="en-US" sz="1400" dirty="0"/>
          </a:p>
        </p:txBody>
      </p:sp>
      <p:sp>
        <p:nvSpPr>
          <p:cNvPr id="10" name="edge"/>
          <p:cNvSpPr/>
          <p:nvPr/>
        </p:nvSpPr>
        <p:spPr>
          <a:xfrm>
            <a:off x="4572000" y="2011680"/>
            <a:ext cx="914" cy="7315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1" name="place-card"/>
          <p:cNvSpPr/>
          <p:nvPr/>
        </p:nvSpPr>
        <p:spPr>
          <a:xfrm>
            <a:off x="3291840" y="27432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7472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cluster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3429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Snakemake submits the jobs: no sbatch</a:t>
            </a:r>
            <a:endParaRPr lang="en-US" sz="1400" dirty="0"/>
          </a:p>
        </p:txBody>
      </p:sp>
      <p:sp>
        <p:nvSpPr>
          <p:cNvPr id="14" name="edge"/>
          <p:cNvSpPr/>
          <p:nvPr/>
        </p:nvSpPr>
        <p:spPr>
          <a:xfrm>
            <a:off x="4572000" y="2011680"/>
            <a:ext cx="2834640" cy="7315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5" name="place-card"/>
          <p:cNvSpPr/>
          <p:nvPr/>
        </p:nvSpPr>
        <p:spPr>
          <a:xfrm>
            <a:off x="6126480" y="27432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0936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cloud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3429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Kubernetes, AWS, Google, Azure Batch via plugins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change how jobs are launched, not the pipeline.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per step: the Week 2 payoff</a:t>
            </a:r>
            <a:endParaRPr lang="en-US" sz="3200" dirty="0"/>
          </a:p>
        </p:txBody>
      </p:sp>
      <p:sp>
        <p:nvSpPr>
          <p:cNvPr id="4" name="conda-code-bg"/>
          <p:cNvSpPr/>
          <p:nvPr/>
        </p:nvSpPr>
        <p:spPr>
          <a:xfrm>
            <a:off x="457200" y="1280160"/>
            <a:ext cx="5212080" cy="2834640"/>
          </a:xfrm>
          <a:prstGeom prst="roundRect">
            <a:avLst>
              <a:gd name="adj" fmla="val 2581"/>
            </a:avLst>
          </a:prstGeom>
          <a:solidFill>
            <a:srgbClr val="082C40"/>
          </a:solidFill>
          <a:ln w="12700">
            <a:solidFill>
              <a:srgbClr val="082C40"/>
            </a:solidFill>
            <a:prstDash val="solid"/>
          </a:ln>
        </p:spPr>
      </p:sp>
      <p:sp>
        <p:nvSpPr>
          <p:cNvPr id="5" name="conda-code"/>
          <p:cNvSpPr txBox="1"/>
          <p:nvPr/>
        </p:nvSpPr>
        <p:spPr>
          <a:xfrm>
            <a:off x="640080" y="1389888"/>
            <a:ext cx="484632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plot_matrix: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"results/matrix.tsv",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"results/matrix.png",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conda: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"envs/plot.yaml"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shell: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"python scripts/plot_matrix.py ..."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records the order of steps and the exact software for each one.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27432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“Works on my machine”: hand someone the Snakefile, the environment files and the config.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only: not run in class.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choose</a:t>
            </a:r>
            <a:endParaRPr lang="en-US" sz="3200" dirty="0"/>
          </a:p>
        </p:txBody>
      </p:sp>
      <p:sp>
        <p:nvSpPr>
          <p:cNvPr id="4" name="choice-card"/>
          <p:cNvSpPr/>
          <p:nvPr/>
        </p:nvSpPr>
        <p:spPr>
          <a:xfrm>
            <a:off x="457200" y="13716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5" name="badge1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86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validated pipeline exists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971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(nf-core, WARP). Don't rewrite it.</a:t>
            </a:r>
            <a:endParaRPr lang="en-US" sz="1400" dirty="0"/>
          </a:p>
        </p:txBody>
      </p:sp>
      <p:sp>
        <p:nvSpPr>
          <p:cNvPr id="9" name="choice-card"/>
          <p:cNvSpPr/>
          <p:nvPr/>
        </p:nvSpPr>
        <p:spPr>
          <a:xfrm>
            <a:off x="3246120" y="13716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10" name="badge2"/>
          <p:cNvSpPr/>
          <p:nvPr/>
        </p:nvSpPr>
        <p:spPr>
          <a:xfrm>
            <a:off x="3474720" y="160020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747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2286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writing your own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2971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Snakemake: full Python, quick to iterate.</a:t>
            </a:r>
            <a:endParaRPr lang="en-US" sz="1400" dirty="0"/>
          </a:p>
        </p:txBody>
      </p:sp>
      <p:sp>
        <p:nvSpPr>
          <p:cNvPr id="14" name="choice-card"/>
          <p:cNvSpPr/>
          <p:nvPr/>
        </p:nvSpPr>
        <p:spPr>
          <a:xfrm>
            <a:off x="6035040" y="13716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15" name="badge3"/>
          <p:cNvSpPr/>
          <p:nvPr/>
        </p:nvSpPr>
        <p:spPr>
          <a:xfrm>
            <a:off x="6263640" y="160020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63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2286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 work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2971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what your lab and collaborators use. At the Broad: Cromwell.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5: Snakemake or Nextflow, your choice. A Snakefile is documentation.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takeaways</a:t>
            </a:r>
            <a:endParaRPr lang="en-US" sz="3200" dirty="0"/>
          </a:p>
        </p:txBody>
      </p:sp>
      <p:sp>
        <p:nvSpPr>
          <p:cNvPr id="4" name="takeaway"/>
          <p:cNvSpPr/>
          <p:nvPr/>
        </p:nvSpPr>
        <p:spPr>
          <a:xfrm>
            <a:off x="457200" y="12801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5" name="badge1"/>
          <p:cNvSpPr/>
          <p:nvPr/>
        </p:nvSpPr>
        <p:spPr>
          <a:xfrm>
            <a:off x="685800" y="1527048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38988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Declare dependencies, not steps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7830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Inputs, outputs, a command. The engine handles order, parallelism and what's up to date.</a:t>
            </a:r>
            <a:endParaRPr lang="en-US" sz="1400" dirty="0"/>
          </a:p>
        </p:txBody>
      </p:sp>
      <p:sp>
        <p:nvSpPr>
          <p:cNvPr id="9" name="takeaway"/>
          <p:cNvSpPr/>
          <p:nvPr/>
        </p:nvSpPr>
        <p:spPr>
          <a:xfrm>
            <a:off x="457200" y="23774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10" name="badge2"/>
          <p:cNvSpPr/>
          <p:nvPr/>
        </p:nvSpPr>
        <p:spPr>
          <a:xfrm>
            <a:off x="685800" y="2624328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48716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rerun does only what changed, and says why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2880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first, always. Read the reason: lines.</a:t>
            </a:r>
            <a:endParaRPr lang="en-US" sz="1400" dirty="0"/>
          </a:p>
        </p:txBody>
      </p:sp>
      <p:sp>
        <p:nvSpPr>
          <p:cNvPr id="14" name="takeaway"/>
          <p:cNvSpPr/>
          <p:nvPr/>
        </p:nvSpPr>
        <p:spPr>
          <a:xfrm>
            <a:off x="457200" y="34747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15" name="badge3"/>
          <p:cNvSpPr/>
          <p:nvPr/>
        </p:nvSpPr>
        <p:spPr>
          <a:xfrm>
            <a:off x="685800" y="3721608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358444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manager handles failure, so you don't babysit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1371600" y="39776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detects failed jobs, cleans up partial files, and resumes from the failure.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</a:t>
            </a:r>
            <a:endParaRPr lang="en-US" sz="3200" dirty="0"/>
          </a:p>
        </p:txBody>
      </p:sp>
      <p:sp>
        <p:nvSpPr>
          <p:cNvPr id="4" name="date-card"/>
          <p:cNvSpPr/>
          <p:nvPr/>
        </p:nvSpPr>
        <p:spPr>
          <a:xfrm>
            <a:off x="457200" y="12344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2344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Wed Oct 28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3200400" y="123444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in pairs: loose scripts to Snakefile, plus checking an AI-drafted Snakefile. Bring the week10 environment.</a:t>
            </a:r>
            <a:endParaRPr lang="en-US" sz="1400" dirty="0"/>
          </a:p>
        </p:txBody>
      </p:sp>
      <p:sp>
        <p:nvSpPr>
          <p:cNvPr id="7" name="date-card"/>
          <p:cNvSpPr/>
          <p:nvPr/>
        </p:nvSpPr>
        <p:spPr>
          <a:xfrm>
            <a:off x="457200" y="201168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01168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Wed Oct 28, 11:59pm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200400" y="201168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due</a:t>
            </a:r>
            <a:endParaRPr lang="en-US" sz="1400" dirty="0"/>
          </a:p>
        </p:txBody>
      </p:sp>
      <p:sp>
        <p:nvSpPr>
          <p:cNvPr id="10" name="date-card"/>
          <p:cNvSpPr/>
          <p:nvPr/>
        </p:nvSpPr>
        <p:spPr>
          <a:xfrm>
            <a:off x="457200" y="278892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7889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Wed Nov 4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200400" y="278892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 due: Snakemake or Nextflow, your choice</a:t>
            </a:r>
            <a:endParaRPr lang="en-US" sz="1400" dirty="0"/>
          </a:p>
        </p:txBody>
      </p:sp>
      <p:sp>
        <p:nvSpPr>
          <p:cNvPr id="13" name="date-card"/>
          <p:cNvSpPr/>
          <p:nvPr/>
        </p:nvSpPr>
        <p:spPr>
          <a:xfrm>
            <a:off x="457200" y="356616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56616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Wed Nov 11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200400" y="356616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final-project check-in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prompt engineering and generative AI.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DS Workflow">
  <a:themeElements>
    <a:clrScheme name="HDS Workflow">
      <a:dk1>
        <a:srgbClr val="1A1A1A"/>
      </a:dk1>
      <a:lt1>
        <a:srgbClr val="FFFFFF"/>
      </a:lt1>
      <a:dk2>
        <a:srgbClr val="0B3D59"/>
      </a:dk2>
      <a:lt2>
        <a:srgbClr val="F4F7F9"/>
      </a:lt2>
      <a:accent1>
        <a:srgbClr val="1C7293"/>
      </a:accent1>
      <a:accent2>
        <a:srgbClr val="F2A541"/>
      </a:accent2>
      <a:accent3>
        <a:srgbClr val="CADCFC"/>
      </a:accent3>
      <a:accent4>
        <a:srgbClr val="5A6B75"/>
      </a:accent4>
      <a:accent5>
        <a:srgbClr val="082C40"/>
      </a:accent5>
      <a:accent6>
        <a:srgbClr val="E3E9EC"/>
      </a:accent6>
      <a:hlink>
        <a:srgbClr val="1C7293"/>
      </a:hlink>
      <a:folHlink>
        <a:srgbClr val="5A6B75"/>
      </a:folHlink>
    </a:clrScheme>
    <a:fontScheme name="HDS Workflo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10 - Workflow Management</dc:title>
  <dc:subject>PptxGenJS Presentation</dc:subject>
  <dc:creator>Matthew L. Bendall</dc:creator>
  <cp:lastModifiedBy>Matthew L. Bendall</cp:lastModifiedBy>
  <cp:revision>1</cp:revision>
  <dcterms:created xsi:type="dcterms:W3CDTF">2026-10-26T14:48:20Z</dcterms:created>
  <dcterms:modified xsi:type="dcterms:W3CDTF">2026-10-26T14:48:20Z</dcterms:modified>
</cp:coreProperties>
</file>