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Grade breakdown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3D59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2A54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B9CDD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Lab Reports (45%)</c:v>
                </c:pt>
                <c:pt idx="1">
                  <c:v>Final Project (40%)</c:v>
                </c:pt>
                <c:pt idx="2">
                  <c:v>Quizzes (10%)</c:v>
                </c:pt>
                <c:pt idx="3">
                  <c:v>Participation (5%)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40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— arrive early, get this on screen as students 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(5 min): This isn't a programming-language class — it's about building trustworthy, reproducible computational workflows for biomedical/health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HDS is broad (5 min): name the six domains, be explicit that your own background is computational genomics and that's just one path in. Land on the unifying-theme banner — applied computing is the shared skillset across all of them, regardless of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Icebreaker (7 min): show-of-hands poll on domains, then 2-3 min pair share, then 2-3 volunteer share-outs. Keep energy up, don't let pairs run long. Flag explicitly that this seeds their final-project thinking.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Semester at a glance (3 min): quick pass — Module 1 (Wk1-5) environments/reproducibility/wrangling, Module 2 (Wk6-10) programming/databases/viz, Module 3 (Wk11-15) GenAI/prompt engineering/advanced workflows. We're in Module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Syllabus &amp; grading (4 min): walk the donut — Labs 45% (5 @ 9%), Final Project 40%, Quizzes 10% (Blackboard, on readings), Participation 5%. Point them to the full syllabus for exact policy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Policies (4 min): AI use is required AND must be documented (model, prompts, what changed) — this is graded, not optional. Collaboration boundary: discuss concepts, submit your own work. Late work -10%/day, advance notice for extensions.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project preview part 1 (5 min): 40% of grade, teams of 2-3, three project types (analysis workflow / software package / database app) with concrete examples pulled from the project examples doc. Frame as 'pick something in your own domain.'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project preview part 2 (4 min): walk the timeline (today -&gt; Oct 7 proposal -&gt; Wks 11-14 project time -&gt; Dec 9 presentations). Explicit ask: jot 2-3 problem ideas from their own field before Week 7. Restate grading criteria.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for the rest of today (2 min): set expectations that shell/remote-dev/coding-environments get lighter treatment today because Wednesday's practical is hands-on for all of it. If running behind, cut the coding-environments tour and shell review first (footer note on this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 — transition to shell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UNIX shell review (12 min, compressed from a full pass): assume prior exposure; quick poll on comfort, hit the highlights only — navigation, pipes/redirection, grep/sed/awk, permissions, ssh. Defer depth to Wednesday.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Remote dev (15 min total) part 1 — why compute happens on remote servers/HPC in health data science: scale, sensitivity/PHI, compute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Remote dev part 2 — Pegasus specifics. Login node pegasus.arc.gwu.edu, GW NetID, VPN or campus network required, SLURM scheduler. ACTION ITEM: tell students to request access today — approval isn't instant. Source: it.gwu.edu/hpc-pegasus.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Remote dev tools (brief, ~3 min) — ssh, remote Jupyter/RStudio Server basics, VS Code Remote-SSH. These get set up hands-on Wednesday — don't over-explain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and Python overview (10 min): not a tutorial — a map of what each ecosystem is strong at and why this course uses both. R: statistics/tidyverse conventions. Python: general-purpose, ML/bio tooling.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Coding environments (8 min, compressed): quick live tour of RStudio, VS Code, JetBrains — not 'which is best' but how to pick based on task. Trim first if short on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prompt (2 min): 'You've just inherited a collaborator's analysis folder with no README and inconsistent file naming. What's the first thing you'd want to know before touching it?' Sets up Week 2 — let it hang, don't resolve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ahead: preview Wednesday's practical and flag Lab 1 assigned next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Wrap-up: four concrete to-dos before Wednesday — request Pegasus access, install/update editor, confirm shell access works, and create a GitHub account (add username to the shared Google Doc; mention the free GitHub Student Developer Pack at education.github.com/pack). Note explicitly that local git setup itself happens Wednesday — today is just account creation. Leave time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082C4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754880"/>
            <a:ext cx="2926080" cy="2926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68580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week1_lecture/icon_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973" y="88125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148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PUBH 6854 / PUBH 4201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5603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Computing in Health Data Science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1520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Computing Environments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 Bendall, PhD  ·  Monday, August 24, 2026  ·  SPH 300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week1_lecture/icon_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566928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isn't a programming-language class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600200"/>
            <a:ext cx="10698480" cy="18288"/>
          </a:xfrm>
          <a:prstGeom prst="rect">
            <a:avLst/>
          </a:prstGeom>
          <a:solidFill>
            <a:srgbClr val="E3E9E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920240"/>
            <a:ext cx="6492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about building trustworthy, reproducible computational workflows for real biomedical and health questions — code you and your collaborators (and your future self) can actually trust.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15 weeks, you'll build fluency in: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4233672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413308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environments — conda, renv, containers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4645152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454456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and Python — used together, not as rivals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7240" y="5056632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495604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wrangling, databases, and workflow tools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77240" y="5468112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536752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— used with documented oversight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589520" y="1920240"/>
            <a:ext cx="3840480" cy="3566160"/>
          </a:xfrm>
          <a:prstGeom prst="roundRect">
            <a:avLst>
              <a:gd name="adj" fmla="val 3077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5400000">
              <a:srgbClr val="1A1A1A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589520" y="22860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112.5</a:t>
            </a:r>
            <a:endParaRPr lang="en-US" sz="5400" dirty="0"/>
          </a:p>
        </p:txBody>
      </p:sp>
      <p:sp>
        <p:nvSpPr>
          <p:cNvPr id="18" name="Text 15"/>
          <p:cNvSpPr/>
          <p:nvPr/>
        </p:nvSpPr>
        <p:spPr>
          <a:xfrm>
            <a:off x="7772400" y="3246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expected hours this semester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955280" y="3840480"/>
            <a:ext cx="3108960" cy="13716"/>
          </a:xfrm>
          <a:prstGeom prst="rect">
            <a:avLst/>
          </a:prstGeom>
          <a:solidFill>
            <a:srgbClr val="D6DEE2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0" y="41148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hrs/wk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direct instruction
</a:t>
            </a:r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hrs/wk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independent work &amp; labs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Computing Environments, Reproducibility, and Data Wrangling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Computing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Data Science is a broad field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own background is computational genomics — but this course serves many paths into HDS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3383280" cy="1572768"/>
          </a:xfrm>
          <a:prstGeom prst="roundRect">
            <a:avLst>
              <a:gd name="adj" fmla="val 5814"/>
            </a:avLst>
          </a:prstGeom>
          <a:solidFill>
            <a:srgbClr val="EAF2F5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97480" y="1453896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2697480" y="14538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BACKGROUND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60120" y="1819656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8" name="Image 0" descr="/home/claude/week1_lecture/icon_d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679" y="1947215"/>
            <a:ext cx="311810" cy="3118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17830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 &amp; Comp. Biology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60120" y="24688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data, variant calling, gene expression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34840" y="1600200"/>
            <a:ext cx="3383280" cy="1572768"/>
          </a:xfrm>
          <a:prstGeom prst="roundRect">
            <a:avLst>
              <a:gd name="adj" fmla="val 5814"/>
            </a:avLst>
          </a:prstGeom>
          <a:solidFill>
            <a:srgbClr val="F4F7F9"/>
          </a:solidFill>
          <a:ln/>
        </p:spPr>
      </p:sp>
      <p:sp>
        <p:nvSpPr>
          <p:cNvPr id="12" name="Shape 9"/>
          <p:cNvSpPr/>
          <p:nvPr/>
        </p:nvSpPr>
        <p:spPr>
          <a:xfrm>
            <a:off x="4663440" y="181965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week1_lecture/icon_hospi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99" y="1947215"/>
            <a:ext cx="311810" cy="3118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7830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&amp; EHR Informatics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663440" y="24688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&amp; unstructured records, phenotyping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38160" y="1600200"/>
            <a:ext cx="3383280" cy="1572768"/>
          </a:xfrm>
          <a:prstGeom prst="roundRect">
            <a:avLst>
              <a:gd name="adj" fmla="val 5814"/>
            </a:avLst>
          </a:prstGeom>
          <a:solidFill>
            <a:srgbClr val="F4F7F9"/>
          </a:solidFill>
          <a:ln/>
        </p:spPr>
      </p:sp>
      <p:sp>
        <p:nvSpPr>
          <p:cNvPr id="17" name="Shape 13"/>
          <p:cNvSpPr/>
          <p:nvPr/>
        </p:nvSpPr>
        <p:spPr>
          <a:xfrm>
            <a:off x="8366760" y="181965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/home/claude/week1_lecture/icon_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319" y="1947215"/>
            <a:ext cx="311810" cy="3118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52560" y="17830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 &amp; Pop. Health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366760" y="24688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data, outbreak &amp; exposure modeling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31520" y="3337560"/>
            <a:ext cx="3383280" cy="1572768"/>
          </a:xfrm>
          <a:prstGeom prst="roundRect">
            <a:avLst>
              <a:gd name="adj" fmla="val 5814"/>
            </a:avLst>
          </a:prstGeom>
          <a:solidFill>
            <a:srgbClr val="F4F7F9"/>
          </a:solidFill>
          <a:ln/>
        </p:spPr>
      </p:sp>
      <p:sp>
        <p:nvSpPr>
          <p:cNvPr id="22" name="Shape 17"/>
          <p:cNvSpPr/>
          <p:nvPr/>
        </p:nvSpPr>
        <p:spPr>
          <a:xfrm>
            <a:off x="960120" y="35570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3" descr="/home/claude/week1_lecture/icon_chart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679" y="3684575"/>
            <a:ext cx="311810" cy="31181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35204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Biostatistics &amp; Clinical Trials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60120" y="42062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design, statistical modeling pipelines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434840" y="3337560"/>
            <a:ext cx="3383280" cy="1572768"/>
          </a:xfrm>
          <a:prstGeom prst="roundRect">
            <a:avLst>
              <a:gd name="adj" fmla="val 5814"/>
            </a:avLst>
          </a:prstGeom>
          <a:solidFill>
            <a:srgbClr val="F4F7F9"/>
          </a:solidFill>
          <a:ln/>
        </p:spPr>
      </p:sp>
      <p:sp>
        <p:nvSpPr>
          <p:cNvPr id="27" name="Shape 21"/>
          <p:cNvSpPr/>
          <p:nvPr/>
        </p:nvSpPr>
        <p:spPr>
          <a:xfrm>
            <a:off x="4663440" y="35570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4" descr="/home/claude/week1_lecture/icon_x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0999" y="3684575"/>
            <a:ext cx="311810" cy="31181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49240" y="35204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 &amp; Signal Data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4663440" y="42062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Radiology, wearables, sensor streams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138160" y="3337560"/>
            <a:ext cx="3383280" cy="1572768"/>
          </a:xfrm>
          <a:prstGeom prst="roundRect">
            <a:avLst>
              <a:gd name="adj" fmla="val 5814"/>
            </a:avLst>
          </a:prstGeom>
          <a:solidFill>
            <a:srgbClr val="F4F7F9"/>
          </a:solidFill>
          <a:ln/>
        </p:spPr>
      </p:sp>
      <p:sp>
        <p:nvSpPr>
          <p:cNvPr id="32" name="Shape 25"/>
          <p:cNvSpPr/>
          <p:nvPr/>
        </p:nvSpPr>
        <p:spPr>
          <a:xfrm>
            <a:off x="8366760" y="35570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5" descr="/home/claude/week1_lecture/icon_balan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319" y="3684575"/>
            <a:ext cx="311810" cy="31181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052560" y="35204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Policy &amp; Outcomes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8366760" y="42062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data, health economics, equity analysis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731520" y="5074920"/>
            <a:ext cx="10698480" cy="1234440"/>
          </a:xfrm>
          <a:prstGeom prst="roundRect">
            <a:avLst>
              <a:gd name="adj" fmla="val 7407"/>
            </a:avLst>
          </a:prstGeom>
          <a:solidFill>
            <a:srgbClr val="0B3D59"/>
          </a:solidFill>
          <a:ln/>
        </p:spPr>
      </p:sp>
      <p:sp>
        <p:nvSpPr>
          <p:cNvPr id="37" name="Text 29"/>
          <p:cNvSpPr/>
          <p:nvPr/>
        </p:nvSpPr>
        <p:spPr>
          <a:xfrm>
            <a:off x="1005840" y="5074920"/>
            <a:ext cx="10149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thread: applied computing.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your domain, you'll spend real time getting messy data into shape, building environments others can reproduce, writing code that scales past one script, and using AI as a documented collaborator. That shared skillset is this course.</a:t>
            </a:r>
            <a:endParaRPr lang="en-US" sz="1350" dirty="0"/>
          </a:p>
        </p:txBody>
      </p:sp>
      <p:sp>
        <p:nvSpPr>
          <p:cNvPr id="38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Computing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777240" cy="7772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3" name="Image 0" descr="/home/claude/week1_lecture/icon_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399" y="677799"/>
            <a:ext cx="427482" cy="4274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54864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Icebreaker — before we dive in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737360" y="11704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minutes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E3E9EC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2057400"/>
            <a:ext cx="640080" cy="64008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600200" y="203911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poll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600200" y="2404872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for the domain from the last slide closest to your interest.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" y="3200400"/>
            <a:ext cx="640080" cy="64008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600200" y="318211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up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600200" y="3547872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to 1–2 people near you. Share your domain, plus one computational task in it that already intimidates you.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31520" y="4343400"/>
            <a:ext cx="640080" cy="64008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4343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1600200" y="432511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Popcorn share-out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600200" y="4690872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volunteers tell the room what they heard from their neighbor.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31520" y="562356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F4F7F9"/>
          </a:solidFill>
          <a:ln/>
        </p:spPr>
      </p:sp>
      <p:sp>
        <p:nvSpPr>
          <p:cNvPr id="20" name="Text 17"/>
          <p:cNvSpPr/>
          <p:nvPr/>
        </p:nvSpPr>
        <p:spPr>
          <a:xfrm>
            <a:off x="1005840" y="562356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in your pocket — it's a seed for your final-project idea (more on that shortly).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semester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modules, building on each other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383280" cy="3931920"/>
          </a:xfrm>
          <a:prstGeom prst="roundRect">
            <a:avLst>
              <a:gd name="adj" fmla="val 3243"/>
            </a:avLst>
          </a:prstGeom>
          <a:solidFill>
            <a:srgbClr val="0B3D59"/>
          </a:solidFill>
          <a:ln/>
          <a:effectLst>
            <a:outerShdw sx="100000" sy="100000" kx="0" ky="0" algn="bl" rotWithShape="0" blurRad="127000" dist="38100" dir="5400000">
              <a:srgbClr val="1A1A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194560"/>
            <a:ext cx="777240" cy="777240"/>
          </a:xfrm>
          <a:prstGeom prst="ellipse">
            <a:avLst/>
          </a:prstGeom>
          <a:solidFill>
            <a:srgbClr val="0B3D59"/>
          </a:solidFill>
          <a:ln/>
        </p:spPr>
      </p:sp>
      <p:pic>
        <p:nvPicPr>
          <p:cNvPr id="6" name="Image 0" descr="/home/claude/week1_lecture/icon_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6439" y="236943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21488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2E59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05156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3520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Environments,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&amp; Data Wrangling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51560" y="5394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WE ARE HERE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34840" y="1828800"/>
            <a:ext cx="3383280" cy="3931920"/>
          </a:xfrm>
          <a:prstGeom prst="roundRect">
            <a:avLst>
              <a:gd name="adj" fmla="val 3243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27000" dist="38100" dir="5400000">
              <a:srgbClr val="1A1A1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21945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week1_lecture/icon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759" y="2369439"/>
            <a:ext cx="427482" cy="4274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29400" y="21488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D6DE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475488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6–10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754880" y="3520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Programming, Databases &amp;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Visualization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138160" y="1828800"/>
            <a:ext cx="3383280" cy="3931920"/>
          </a:xfrm>
          <a:prstGeom prst="roundRect">
            <a:avLst>
              <a:gd name="adj" fmla="val 3243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27000" dist="38100" dir="5400000">
              <a:srgbClr val="1A1A1A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58200" y="2194560"/>
            <a:ext cx="777240" cy="777240"/>
          </a:xfrm>
          <a:prstGeom prst="ellipse">
            <a:avLst/>
          </a:prstGeom>
          <a:solidFill>
            <a:srgbClr val="3E6B8A"/>
          </a:solidFill>
          <a:ln/>
        </p:spPr>
      </p:sp>
      <p:pic>
        <p:nvPicPr>
          <p:cNvPr id="19" name="Image 2" descr="/home/claude/week1_lecture/icon_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079" y="2369439"/>
            <a:ext cx="427482" cy="42748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332720" y="21488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D6DE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21" name="Text 16"/>
          <p:cNvSpPr/>
          <p:nvPr/>
        </p:nvSpPr>
        <p:spPr>
          <a:xfrm>
            <a:off x="845820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11–15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458200" y="3520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AI, Prompt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Advanced Workflows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1–3 land in Module 1 · Project proposal due end of Module 2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Computing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you'll be evaluated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policies live in the syllabus on Blackboard — this is the shape of it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55778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78308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eek1_lecture/icon_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569" y="1902409"/>
            <a:ext cx="291694" cy="2916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23760" y="17647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Labs, 9% each = 45%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7223760" y="21031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instructions and rubric posted with each lab.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492240" y="283464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week1_lecture/icon_fl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569" y="2953969"/>
            <a:ext cx="291694" cy="2916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23760" y="28163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= 40%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7223760" y="31546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10% · Presentation 20% · Report 35% · Code/deliverables 35%.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492240" y="388620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/home/claude/week1_lecture/icon_file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569" y="4005529"/>
            <a:ext cx="291694" cy="29169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223760" y="38679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Quizzes on Blackboard = 10%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7223760" y="42062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required readings — complete by the posted deadline.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492240" y="493776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/home/claude/week1_lecture/icon_commen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569" y="5057089"/>
            <a:ext cx="291694" cy="29169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223760" y="49194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= 5%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7223760" y="52578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discussion and engagement, not just attendance.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SPH graduate grading scale applies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Computing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policies — the highlights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policies in the syllabus — three that shape how you'll work this semester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0698480" cy="141732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075688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eek1_lecture/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006" y="2260854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196596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AI: required and documented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148840" y="2350008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use AI throughout the course. Every AI-assisted submission must declare the model(s) used, distinguish original from AI-generated content, and record key prompts — including ones that went off-target.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1520" y="3383280"/>
            <a:ext cx="10698480" cy="141732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1005840" y="3675888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week1_lecture/icon_handsh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006" y="3861054"/>
            <a:ext cx="452628" cy="4526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48840" y="356616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Collaboration: discuss freely, submit your own work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148840" y="3950208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through concepts, coding strategies, and debugging with peers. Submitted code, text, and analysis must be your own, in your own words — sharing completed work for copying is an academic-integrity issue.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31520" y="4983480"/>
            <a:ext cx="10698480" cy="141732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/>
        </p:spPr>
      </p:sp>
      <p:sp>
        <p:nvSpPr>
          <p:cNvPr id="15" name="Shape 11"/>
          <p:cNvSpPr/>
          <p:nvPr/>
        </p:nvSpPr>
        <p:spPr>
          <a:xfrm>
            <a:off x="1005840" y="5276088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week1_lecture/icon_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006" y="5461254"/>
            <a:ext cx="452628" cy="4526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48840" y="516636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work: −10% per day, with a path for extensions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2148840" y="5550408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late for any reason at that penalty. Extensions need advance notice and instructor approval; nothing accepted within 3 days of the grade-submission deadline.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Computing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777240" cy="7772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3" name="Image 0" descr="/home/claude/week1_lecture/icon_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399" y="677799"/>
            <a:ext cx="427482" cy="4274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548640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thinking about your final project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737360" y="1170432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your grade · teams of 2–3 · goal: a real applied-computing task, in your domain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31520" y="187452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13476B"/>
          </a:solidFill>
          <a:ln/>
        </p:spPr>
      </p:sp>
      <p:sp>
        <p:nvSpPr>
          <p:cNvPr id="7" name="Shape 4"/>
          <p:cNvSpPr/>
          <p:nvPr/>
        </p:nvSpPr>
        <p:spPr>
          <a:xfrm>
            <a:off x="1005840" y="2148840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8" name="Image 1" descr="/home/claude/week1_lecture/icon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145" y="2303145"/>
            <a:ext cx="377190" cy="3771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9718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workflow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005840" y="3456432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pipeline, raw data to reproducible result.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1005840" y="4343400"/>
            <a:ext cx="2834640" cy="10973"/>
          </a:xfrm>
          <a:prstGeom prst="rect">
            <a:avLst/>
          </a:prstGeom>
          <a:solidFill>
            <a:srgbClr val="2E5978"/>
          </a:solidFill>
          <a:ln/>
        </p:spPr>
      </p:sp>
      <p:sp>
        <p:nvSpPr>
          <p:cNvPr id="12" name="Text 8"/>
          <p:cNvSpPr/>
          <p:nvPr/>
        </p:nvSpPr>
        <p:spPr>
          <a:xfrm>
            <a:off x="1005840" y="44805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5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an RNA-seq mini-pipeline, or a public-health surveillance dashboard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434840" y="187452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13476B"/>
          </a:solidFill>
          <a:ln/>
        </p:spPr>
      </p:sp>
      <p:sp>
        <p:nvSpPr>
          <p:cNvPr id="14" name="Shape 10"/>
          <p:cNvSpPr/>
          <p:nvPr/>
        </p:nvSpPr>
        <p:spPr>
          <a:xfrm>
            <a:off x="4709160" y="2148840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5" name="Image 2" descr="/home/claude/week1_lecture/icon_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465" y="2303145"/>
            <a:ext cx="377190" cy="3771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09160" y="29718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package or tool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4709160" y="3456432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 or Python package solving a defined problem.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709160" y="4343400"/>
            <a:ext cx="2834640" cy="10973"/>
          </a:xfrm>
          <a:prstGeom prst="rect">
            <a:avLst/>
          </a:prstGeom>
          <a:solidFill>
            <a:srgbClr val="2E5978"/>
          </a:solidFill>
          <a:ln/>
        </p:spPr>
      </p:sp>
      <p:sp>
        <p:nvSpPr>
          <p:cNvPr id="19" name="Text 14"/>
          <p:cNvSpPr/>
          <p:nvPr/>
        </p:nvSpPr>
        <p:spPr>
          <a:xfrm>
            <a:off x="4709160" y="44805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5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a regex/AI hybrid parser, or an AI-assisted data-validation tool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138160" y="187452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13476B"/>
          </a:solidFill>
          <a:ln/>
        </p:spPr>
      </p:sp>
      <p:sp>
        <p:nvSpPr>
          <p:cNvPr id="21" name="Shape 16"/>
          <p:cNvSpPr/>
          <p:nvPr/>
        </p:nvSpPr>
        <p:spPr>
          <a:xfrm>
            <a:off x="8412480" y="2148840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2" name="Image 3" descr="/home/claude/week1_lecture/icon_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6785" y="2303145"/>
            <a:ext cx="377190" cy="3771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12480" y="29718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application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8412480" y="3456432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plus a query/analysis layer.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8412480" y="4343400"/>
            <a:ext cx="2834640" cy="10973"/>
          </a:xfrm>
          <a:prstGeom prst="rect">
            <a:avLst/>
          </a:prstGeom>
          <a:solidFill>
            <a:srgbClr val="2E5978"/>
          </a:solidFill>
          <a:ln/>
        </p:spPr>
      </p:sp>
      <p:sp>
        <p:nvSpPr>
          <p:cNvPr id="26" name="Text 20"/>
          <p:cNvSpPr/>
          <p:nvPr/>
        </p:nvSpPr>
        <p:spPr>
          <a:xfrm>
            <a:off x="8412480" y="44805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5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a multi-source health database, or a genomic annotation lookup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must show: computation · documented AI assistance · oversight · reproducibility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Computing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 — and what to do now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what's covered by Week 10 — proposals can't depend on techniques not yet taught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988820" y="2331720"/>
            <a:ext cx="8183880" cy="18288"/>
          </a:xfrm>
          <a:prstGeom prst="rect">
            <a:avLst/>
          </a:prstGeom>
          <a:solidFill>
            <a:srgbClr val="D6DEE2"/>
          </a:solidFill>
          <a:ln/>
        </p:spPr>
      </p:sp>
      <p:sp>
        <p:nvSpPr>
          <p:cNvPr id="5" name="Shape 3"/>
          <p:cNvSpPr/>
          <p:nvPr/>
        </p:nvSpPr>
        <p:spPr>
          <a:xfrm>
            <a:off x="1860804" y="2212848"/>
            <a:ext cx="256032" cy="25603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606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noticing ideas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12564" y="221284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2606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7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2971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due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64324" y="221284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2606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11–14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5040" y="2971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 time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16084" y="221284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2606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9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0" y="2971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3794760"/>
            <a:ext cx="10698480" cy="1554480"/>
          </a:xfrm>
          <a:prstGeom prst="roundRect">
            <a:avLst>
              <a:gd name="adj" fmla="val 7059"/>
            </a:avLst>
          </a:prstGeom>
          <a:solidFill>
            <a:srgbClr val="F4F7F9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97764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now and Week 7: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05840" y="434340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Jot down 2–3 problem ideas from your own field — genomics, EHR, imaging, policy, whatever pulled you into HDS. By Week 7 we'll have covered environments, notebooks, regex/AI parsing, and data wrangling — enough to scope a real proposal.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31520" y="553212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0B3D59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53212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on: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 ·  code style &amp; documentation  ·  communication (report + presentation)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 minutes  ·  practical hands-on session Wednesday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12064" cy="512064"/>
          </a:xfrm>
          <a:prstGeom prst="ellipse">
            <a:avLst/>
          </a:prstGeom>
          <a:solidFill>
            <a:srgbClr val="0B3D59"/>
          </a:solidFill>
          <a:ln/>
        </p:spPr>
      </p:sp>
      <p:pic>
        <p:nvPicPr>
          <p:cNvPr id="5" name="Image 0" descr="/home/claude/week1_lecture/icon_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34" y="1806854"/>
            <a:ext cx="281635" cy="281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70992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Welcome, HDS landscape, icebreaker &amp; semester arc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326880" y="170992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min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2377440"/>
            <a:ext cx="10698480" cy="10973"/>
          </a:xfrm>
          <a:prstGeom prst="rect">
            <a:avLst/>
          </a:prstGeom>
          <a:solidFill>
            <a:srgbClr val="E3E9EC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251460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week1_lecture/icon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34" y="2629814"/>
            <a:ext cx="281635" cy="28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53288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Syllabus, grading &amp; policies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9326880" y="253288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31520" y="3200400"/>
            <a:ext cx="10698480" cy="10973"/>
          </a:xfrm>
          <a:prstGeom prst="rect">
            <a:avLst/>
          </a:prstGeom>
          <a:solidFill>
            <a:srgbClr val="E3E9EC"/>
          </a:solidFill>
          <a:ln/>
        </p:spPr>
      </p:sp>
      <p:sp>
        <p:nvSpPr>
          <p:cNvPr id="14" name="Shape 10"/>
          <p:cNvSpPr/>
          <p:nvPr/>
        </p:nvSpPr>
        <p:spPr>
          <a:xfrm>
            <a:off x="731520" y="3337560"/>
            <a:ext cx="512064" cy="512064"/>
          </a:xfrm>
          <a:prstGeom prst="ellipse">
            <a:avLst/>
          </a:prstGeom>
          <a:solidFill>
            <a:srgbClr val="0B3D59"/>
          </a:solidFill>
          <a:ln/>
        </p:spPr>
      </p:sp>
      <p:pic>
        <p:nvPicPr>
          <p:cNvPr id="15" name="Image 2" descr="/home/claude/week1_lecture/icon_light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" y="3452774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35584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preview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9326880" y="335584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31520" y="4023360"/>
            <a:ext cx="10698480" cy="10973"/>
          </a:xfrm>
          <a:prstGeom prst="rect">
            <a:avLst/>
          </a:prstGeom>
          <a:solidFill>
            <a:srgbClr val="E3E9EC"/>
          </a:solidFill>
          <a:ln/>
        </p:spPr>
      </p:sp>
      <p:sp>
        <p:nvSpPr>
          <p:cNvPr id="19" name="Shape 14"/>
          <p:cNvSpPr/>
          <p:nvPr/>
        </p:nvSpPr>
        <p:spPr>
          <a:xfrm>
            <a:off x="731520" y="416052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/home/claude/week1_lecture/icon_termin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34" y="4275734"/>
            <a:ext cx="281635" cy="28163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417880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 shell review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9326880" y="417880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731520" y="4846320"/>
            <a:ext cx="10698480" cy="10973"/>
          </a:xfrm>
          <a:prstGeom prst="rect">
            <a:avLst/>
          </a:prstGeom>
          <a:solidFill>
            <a:srgbClr val="E3E9EC"/>
          </a:solidFill>
          <a:ln/>
        </p:spPr>
      </p:sp>
      <p:sp>
        <p:nvSpPr>
          <p:cNvPr id="24" name="Shape 18"/>
          <p:cNvSpPr/>
          <p:nvPr/>
        </p:nvSpPr>
        <p:spPr>
          <a:xfrm>
            <a:off x="731520" y="4983480"/>
            <a:ext cx="512064" cy="512064"/>
          </a:xfrm>
          <a:prstGeom prst="ellipse">
            <a:avLst/>
          </a:prstGeom>
          <a:solidFill>
            <a:srgbClr val="0B3D59"/>
          </a:solidFill>
          <a:ln/>
        </p:spPr>
      </p:sp>
      <p:pic>
        <p:nvPicPr>
          <p:cNvPr id="25" name="Image 4" descr="/home/claude/week1_lecture/icon_ser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" y="5098694"/>
            <a:ext cx="281635" cy="28163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63040" y="500176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development (Pegasus HPC)</a:t>
            </a:r>
            <a:endParaRPr lang="en-US" sz="1550" dirty="0"/>
          </a:p>
        </p:txBody>
      </p:sp>
      <p:sp>
        <p:nvSpPr>
          <p:cNvPr id="27" name="Text 20"/>
          <p:cNvSpPr/>
          <p:nvPr/>
        </p:nvSpPr>
        <p:spPr>
          <a:xfrm>
            <a:off x="9326880" y="500176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731520" y="5669280"/>
            <a:ext cx="10698480" cy="10973"/>
          </a:xfrm>
          <a:prstGeom prst="rect">
            <a:avLst/>
          </a:prstGeom>
          <a:solidFill>
            <a:srgbClr val="E3E9EC"/>
          </a:solidFill>
          <a:ln/>
        </p:spPr>
      </p:sp>
      <p:sp>
        <p:nvSpPr>
          <p:cNvPr id="29" name="Shape 22"/>
          <p:cNvSpPr/>
          <p:nvPr/>
        </p:nvSpPr>
        <p:spPr>
          <a:xfrm>
            <a:off x="731520" y="580644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5" descr="/home/claude/week1_lecture/icon_co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" y="5921654"/>
            <a:ext cx="281635" cy="28163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463040" y="582472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R, Python &amp; coding environments</a:t>
            </a:r>
            <a:endParaRPr lang="en-US" sz="1550" dirty="0"/>
          </a:p>
        </p:txBody>
      </p:sp>
      <p:sp>
        <p:nvSpPr>
          <p:cNvPr id="32" name="Text 24"/>
          <p:cNvSpPr/>
          <p:nvPr/>
        </p:nvSpPr>
        <p:spPr>
          <a:xfrm>
            <a:off x="9326880" y="582472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long? Trim the shell review and coding-environments tour first — both get hands-on time Wednesday.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Computing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5486400" cy="548640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286000"/>
            <a:ext cx="1188720" cy="1188720"/>
          </a:xfrm>
          <a:prstGeom prst="ellipse">
            <a:avLst/>
          </a:prstGeom>
          <a:solidFill>
            <a:srgbClr val="0B3D59"/>
          </a:solidFill>
          <a:ln/>
        </p:spPr>
      </p:sp>
      <p:pic>
        <p:nvPicPr>
          <p:cNvPr id="4" name="Image 0" descr="/home/claude/week1_lecture/icon_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422" y="2553462"/>
            <a:ext cx="653796" cy="6537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6576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UNIX Shell Review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2296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 pass — we'll gauge the room and adjust the pace live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Shell essentials,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24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some prior exposure — this is a review, not a from-zero tutorial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6035040" cy="4160520"/>
          </a:xfrm>
          <a:prstGeom prst="roundRect">
            <a:avLst>
              <a:gd name="adj" fmla="val 2198"/>
            </a:avLst>
          </a:prstGeom>
          <a:solidFill>
            <a:srgbClr val="082C40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783080"/>
            <a:ext cx="146304" cy="14630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1783080"/>
            <a:ext cx="146304" cy="14630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1783080"/>
            <a:ext cx="146304" cy="14630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148840"/>
            <a:ext cx="5486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~/projects/hds-course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-la | grep '.csv'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samples.tsv | cut -f1,3 &gt; ids.txt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-c '^&gt;' sequences.fasta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+x run_pipeline.sh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ssh netid@pegasus.arc.gwu.edu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086600" y="1691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0" descr="/home/claude/week1_lecture/icon_file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0" y="180594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80960" y="17099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— cd, ls, pwd, find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7086600" y="24688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week1_lecture/icon_file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0" y="258318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80960" y="24871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 &amp; redirection — | , &gt; , &gt;&gt;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7086600" y="3246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week1_lecture/icon_file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0" y="336042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680960" y="32644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tools — grep, sed, awk (at a glance)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7086600" y="4023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3" descr="/home/claude/week1_lecture/icon_file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0" y="413766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680960" y="40416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— chmod, chown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7086600" y="48006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4" descr="/home/claude/week1_lecture/icon_fileco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0" y="4914900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680960" y="48188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access — ssh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show-of-hands poll: rate your shell comfort 1–5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Computing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remote development?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and genomic data rarely fit — or belong — on your laptop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1488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eek1_lecture/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865" y="230314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51560" y="33375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and clinical datasets can run hundreds of GB to TB — far past a laptop's disk or RAM.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187452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4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0" y="21488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week1_lecture/icon_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185" y="230314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54880" y="33375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and controlled-access data often can't legally leave a secured, institutional environment.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187452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4F7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1488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week1_lecture/icon_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505" y="2303145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58200" y="33375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need many CPU cores, high memory, or GPUs that shared clusters provide on demand.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31520" y="4800600"/>
            <a:ext cx="10698480" cy="960120"/>
          </a:xfrm>
          <a:prstGeom prst="roundRect">
            <a:avLst>
              <a:gd name="adj" fmla="val 9524"/>
            </a:avLst>
          </a:prstGeom>
          <a:solidFill>
            <a:srgbClr val="0B3D59"/>
          </a:solidFill>
          <a:ln/>
        </p:spPr>
      </p:sp>
      <p:sp>
        <p:nvSpPr>
          <p:cNvPr id="20" name="Text 15"/>
          <p:cNvSpPr/>
          <p:nvPr/>
        </p:nvSpPr>
        <p:spPr>
          <a:xfrm>
            <a:off x="1005840" y="4800600"/>
            <a:ext cx="10149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 ·  remote Jupyter / RStudio Server  ·  VS Code Remote-SSH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Computing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week1_lecture/icon_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5669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remote environment: GW's Pegasus HPC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737360" y="11704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you'll run coursework that needs real compute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1828800"/>
            <a:ext cx="5760720" cy="1920240"/>
          </a:xfrm>
          <a:prstGeom prst="roundRect">
            <a:avLst>
              <a:gd name="adj" fmla="val 4762"/>
            </a:avLst>
          </a:prstGeom>
          <a:solidFill>
            <a:srgbClr val="082C40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210312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ssh netid@pegasus.arc.gwu.edu
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7FA8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Password: ********
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[netid@pegasus ~]$ 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858000" y="1947672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6"/>
          <p:cNvSpPr/>
          <p:nvPr/>
        </p:nvSpPr>
        <p:spPr>
          <a:xfrm>
            <a:off x="7086600" y="18288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node: pegasus.arc.gwu.edu — use your GW NetID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0" y="2569464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8"/>
          <p:cNvSpPr/>
          <p:nvPr/>
        </p:nvSpPr>
        <p:spPr>
          <a:xfrm>
            <a:off x="7086600" y="245059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campus network or GW VPN (Cisco AnyConnect)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0" y="3191256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Text 10"/>
          <p:cNvSpPr/>
          <p:nvPr/>
        </p:nvSpPr>
        <p:spPr>
          <a:xfrm>
            <a:off x="7086600" y="3072384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scheduler: SLURM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1520" y="4160520"/>
            <a:ext cx="10698480" cy="1691640"/>
          </a:xfrm>
          <a:prstGeom prst="roundRect">
            <a:avLst>
              <a:gd name="adj" fmla="val 6486"/>
            </a:avLst>
          </a:prstGeom>
          <a:solidFill>
            <a:srgbClr val="13476B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434340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 — do this before Wednesday's practical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05840" y="470916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HPC access now via the GW IT access-request form (research group / advisor = this course). Approval isn't instant — submit today so you're not blocked for the hands-on session.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it.gwu.edu/hpc-pegasus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Computing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your editor to the remote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choose between local comfort and remote power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0" y="22402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eek1_lecture/icon_laptop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6846" y="242544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2461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Remote-SSH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1560" y="38404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local editor UI, files and terminal running on the remote host.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19202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4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0" y="2240280"/>
            <a:ext cx="822960" cy="82296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1" name="Image 1" descr="/home/claude/week1_lecture/icon_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166" y="2425446"/>
            <a:ext cx="452628" cy="4526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2461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on a remote host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54880" y="38404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Jupyter server on Pegasus, tunnel it back to your browser.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19202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4F7F9"/>
          </a:solidFill>
          <a:ln/>
        </p:spPr>
      </p:sp>
      <p:sp>
        <p:nvSpPr>
          <p:cNvPr id="15" name="Shape 11"/>
          <p:cNvSpPr/>
          <p:nvPr/>
        </p:nvSpPr>
        <p:spPr>
          <a:xfrm>
            <a:off x="9418320" y="22402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week1_lecture/icon_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486" y="2425446"/>
            <a:ext cx="452628" cy="4526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32461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RStudio Server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58200" y="38404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RStudio running against remote data and compute.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set one of these up hands-on in Wednesday's practical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Computing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and Python — the map, not the territory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tutorial — fluency in both is a course goal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120640" cy="3794760"/>
          </a:xfrm>
          <a:prstGeom prst="roundRect">
            <a:avLst>
              <a:gd name="adj" fmla="val 2892"/>
            </a:avLst>
          </a:prstGeom>
          <a:solidFill>
            <a:srgbClr val="EAF2F5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1031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eek1_lecture/icon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0145" y="225742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2140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005840" y="29260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statisticians, for statistics. The tidyverse gives a consistent grammar for data manipulation and visualization. Dominant in biostatistics, clinical trials, epidemiology.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4937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at: statistical modeling · tidyverse · publication-quality plots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82880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0B3D59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2103120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2" name="Image 1" descr="/home/claude/week1_lecture/icon_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825" y="225742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12140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6446520" y="29260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language with a huge ecosystem — the default for machine learning, pipeline orchestration, and most bioinformatics tooling. Reads like pseudocode.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46520" y="4937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at: ML/AI tooling · general programming · bioinformatics libraries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uses both, together — not as a debate about which is “better”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Computing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 environments tour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“which is best” — how to pick based on the task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1945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eek1_lecture/icon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35915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063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RStudio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51560" y="352044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R: panes for console, plots, environment, and R Markdown/Quarto rendering.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19202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4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0" y="21945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week1_lecture/icon_laptop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35915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063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54880" y="352044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extensible, great remote support — works well for both R and Python plus general scripting.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19202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4F7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1945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week1_lecture/icon_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235915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063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JetBrains (PyCharm)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58200" y="352044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refactoring and debugging tools — shines on larger Python codebases and packages.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tour: we'll open the same small script in all three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Computing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85800"/>
            <a:ext cx="868680" cy="86868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4" name="Image 0" descr="/home/claude/week1_lecture/icon_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413" y="881253"/>
            <a:ext cx="477774" cy="4777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2103120"/>
            <a:ext cx="10332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You've just inherited a collaborator's analysis folder — no README, inconsistent file naming. What's the first thing you'd want to know before touching it?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5394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that thought — it's exactly where we pick up in Week 2: Reproducible Research Fundamentals.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ahead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F4F7F9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7373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week1_lecture/icon_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0145" y="1891665"/>
            <a:ext cx="377190" cy="3771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Wednesday, Aug 26 — Practical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051560" y="3182112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5"/>
          <p:cNvSpPr/>
          <p:nvPr/>
        </p:nvSpPr>
        <p:spPr>
          <a:xfrm>
            <a:off x="1280160" y="306324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scripted checklist: navigate, redirect output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051560" y="3803904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Text 7"/>
          <p:cNvSpPr/>
          <p:nvPr/>
        </p:nvSpPr>
        <p:spPr>
          <a:xfrm>
            <a:off x="1280160" y="368503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into Pegasus (bring your access approval / NetID)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1051560" y="4425696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9"/>
          <p:cNvSpPr/>
          <p:nvPr/>
        </p:nvSpPr>
        <p:spPr>
          <a:xfrm>
            <a:off x="1280160" y="430682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remote session in VS Code Remote-SSH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1051560" y="5047488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4" name="Text 11"/>
          <p:cNvSpPr/>
          <p:nvPr/>
        </p:nvSpPr>
        <p:spPr>
          <a:xfrm>
            <a:off x="1280160" y="4928616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self-report: prior R / Python / shell experience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172200" y="146304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0B3D59"/>
          </a:solidFill>
          <a:ln/>
        </p:spPr>
      </p:sp>
      <p:sp>
        <p:nvSpPr>
          <p:cNvPr id="16" name="Shape 13"/>
          <p:cNvSpPr/>
          <p:nvPr/>
        </p:nvSpPr>
        <p:spPr>
          <a:xfrm>
            <a:off x="6446520" y="1737360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7" name="Image 1" descr="/home/claude/week1_lecture/icon_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825" y="1891665"/>
            <a:ext cx="377190" cy="37719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446520" y="2560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next week — Lab 1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6446520" y="29992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Computing Setup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446520" y="347472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reproducible project: environment file, README, and an AI_USAGE.md documenting any AI assistance. Grad students also containerize it with Docker.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446520" y="4937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of final grade  ·  due Week 2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Computing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3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week1_lecture/icon_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839" y="814959"/>
            <a:ext cx="427482" cy="4274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685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Wednesday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3A94B5"/>
          </a:solidFill>
          <a:ln/>
        </p:spPr>
      </p:sp>
      <p:pic>
        <p:nvPicPr>
          <p:cNvPr id="6" name="Image 1" descr="/home/claude/week1_lecture/icon_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519" y="1864919"/>
            <a:ext cx="311810" cy="3118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00200" y="1719072"/>
            <a:ext cx="8869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Pegasus HPC access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600200" y="210312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 IT access-request form — approval can take a few days, don't wait.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822960" y="2697480"/>
            <a:ext cx="566928" cy="566928"/>
          </a:xfrm>
          <a:prstGeom prst="ellipse">
            <a:avLst/>
          </a:prstGeom>
          <a:solidFill>
            <a:srgbClr val="3A94B5"/>
          </a:solidFill>
          <a:ln/>
        </p:spPr>
      </p:sp>
      <p:pic>
        <p:nvPicPr>
          <p:cNvPr id="10" name="Image 2" descr="/home/claude/week1_lecture/icon_laptop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519" y="2825039"/>
            <a:ext cx="311810" cy="31181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00200" y="2679192"/>
            <a:ext cx="8869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/ update your editor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600200" y="306324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(with Remote-SSH extension), RStudio, or your JetBrains IDE of choice.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822960" y="3657600"/>
            <a:ext cx="566928" cy="566928"/>
          </a:xfrm>
          <a:prstGeom prst="ellipse">
            <a:avLst/>
          </a:prstGeom>
          <a:solidFill>
            <a:srgbClr val="3A94B5"/>
          </a:solidFill>
          <a:ln/>
        </p:spPr>
      </p:sp>
      <p:pic>
        <p:nvPicPr>
          <p:cNvPr id="14" name="Image 3" descr="/home/claude/week1_lecture/icon_termin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519" y="3785159"/>
            <a:ext cx="311810" cy="31181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00200" y="3639312"/>
            <a:ext cx="8869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shell access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1600200" y="402336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Mac/Linux: built-in terminal. Windows: WSL or Git Bash — test it opens before class.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822960" y="4617720"/>
            <a:ext cx="566928" cy="566928"/>
          </a:xfrm>
          <a:prstGeom prst="ellipse">
            <a:avLst/>
          </a:prstGeom>
          <a:solidFill>
            <a:srgbClr val="3A94B5"/>
          </a:solidFill>
          <a:ln/>
        </p:spPr>
      </p:sp>
      <p:pic>
        <p:nvPicPr>
          <p:cNvPr id="18" name="Image 4" descr="/home/claude/week1_lecture/icon_githu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519" y="4745279"/>
            <a:ext cx="311810" cy="31181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600200" y="4599432"/>
            <a:ext cx="8869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free GitHub account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1600200" y="498348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username to the shared Google Doc. Grab the free GitHub Student Developer Pack at education.github.com/pack while you're at it. (We'll set up local git Wednesday.)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822960" y="5623560"/>
            <a:ext cx="10515600" cy="10973"/>
          </a:xfrm>
          <a:prstGeom prst="rect">
            <a:avLst/>
          </a:prstGeom>
          <a:solidFill>
            <a:srgbClr val="2E5978"/>
          </a:solidFill>
          <a:ln/>
        </p:spPr>
      </p:sp>
      <p:sp>
        <p:nvSpPr>
          <p:cNvPr id="22" name="Text 15"/>
          <p:cNvSpPr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bendall@gwu.edu  ·  SEH 7675  ·  Office hours TBD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2026-08-24T15:51:04Z</dcterms:created>
  <dcterms:modified xsi:type="dcterms:W3CDTF">2026-08-24T15:51:04Z</dcterms:modified>
</cp:coreProperties>
</file>