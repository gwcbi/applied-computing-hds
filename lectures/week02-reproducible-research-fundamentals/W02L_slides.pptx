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7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935"/>
    <p:restoredTop sz="96608"/>
  </p:normalViewPr>
  <p:slideViewPr>
    <p:cSldViewPr snapToGrid="0" snapToObjects="1">
      <p:cViewPr varScale="1">
        <p:scale>
          <a:sx n="140" d="100"/>
          <a:sy n="140" d="100"/>
        </p:scale>
        <p:origin x="1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4272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this happened to anyone here already, even on a class assignment?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lowest-confidence topic in the class survey — we go slower here on purpose.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38B54-4679-B2B8-594B-98A046C28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DB803E-6C35-D1E4-AD51-F6E23E0AB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BCCB99-BABE-50BB-EAF0-59381FB79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lowest-confidence topic in the class survey — we go slower here on purpose.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30AD0-35E6-5396-F301-C1DA38DA50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713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what's one thing that could still differ between two people's laptops, even with the same image? (hardware/CPU architecture, GPU availability — keep this in your pocket for the wrap-up prompt.)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README.md quickstart posted before today's lecture per the Aug 28 survey analysis. Confirm Lab 1 submission mechanism before students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C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097280"/>
            <a:ext cx="5029200" cy="5029200"/>
          </a:xfrm>
          <a:prstGeom prst="roundRect">
            <a:avLst>
              <a:gd name="adj" fmla="val 9091"/>
            </a:avLst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-365760"/>
            <a:ext cx="3840480" cy="3840480"/>
          </a:xfrm>
          <a:prstGeom prst="roundRect">
            <a:avLst>
              <a:gd name="adj" fmla="val 9524"/>
            </a:avLst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424160" y="274320"/>
            <a:ext cx="2651760" cy="2651760"/>
          </a:xfrm>
          <a:prstGeom prst="roundRect">
            <a:avLst>
              <a:gd name="adj" fmla="val 10345"/>
            </a:avLst>
          </a:prstGeom>
          <a:solidFill>
            <a:srgbClr val="F2A541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PUBH 6854 / PUBH 4201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Computing in Health Data Science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290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 — Reproducible Research Fundamentals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526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 Bendall, PhD  ·  Monday, August 31, 2026  ·  SPH 300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UP FROM LAST WEEK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You've inherited a folder with no README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start answering what you'd want to know first.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051560" cy="475488"/>
          </a:xfrm>
          <a:prstGeom prst="roundRect">
            <a:avLst>
              <a:gd name="adj" fmla="val 15385"/>
            </a:avLst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69164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reproducibility fails in practice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267712"/>
            <a:ext cx="1051560" cy="475488"/>
          </a:xfrm>
          <a:prstGeom prst="roundRect">
            <a:avLst>
              <a:gd name="adj" fmla="val 15385"/>
            </a:avLst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267712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2267712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management, concepts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43784"/>
            <a:ext cx="1051560" cy="475488"/>
          </a:xfrm>
          <a:prstGeom prst="roundRect">
            <a:avLst>
              <a:gd name="adj" fmla="val 15385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2843784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2843784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environments — live demo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419856"/>
            <a:ext cx="1051560" cy="475488"/>
          </a:xfrm>
          <a:prstGeom prst="roundRect">
            <a:avLst>
              <a:gd name="adj" fmla="val 15385"/>
            </a:avLst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48640" y="3419856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783080" y="3419856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— concept + live demo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995928"/>
            <a:ext cx="1051560" cy="475488"/>
          </a:xfrm>
          <a:prstGeom prst="roundRect">
            <a:avLst>
              <a:gd name="adj" fmla="val 15385"/>
            </a:avLst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48640" y="3995928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3995928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in the cloud &amp; on HPC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1051560" cy="475488"/>
          </a:xfrm>
          <a:prstGeom prst="roundRect">
            <a:avLst>
              <a:gd name="adj" fmla="val 15385"/>
            </a:avLst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48640" y="457200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783080" y="457200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generative AI to troubleshoot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5148072"/>
            <a:ext cx="1051560" cy="475488"/>
          </a:xfrm>
          <a:prstGeom prst="roundRect">
            <a:avLst>
              <a:gd name="adj" fmla="val 15385"/>
            </a:avLst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48640" y="5148072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783080" y="5148072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76986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block gets the most time today — it's this class's lowest-confidence topic.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612880" y="64739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REPRODUCIBILITY FAILS IN 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"Works on my machine"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familiar sentence. An expensive problem.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F4F7F9"/>
          </a:solidFill>
          <a:ln/>
          <a:effectLst>
            <a:outerShdw blurRad="101600" dist="381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375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 the analysis. It works. You submit the paper.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1688" y="192024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F4F7F9"/>
          </a:solidFill>
          <a:ln/>
          <a:effectLst>
            <a:outerShdw blurRad="101600" dist="381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36008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636008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71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36008" y="33375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— or you, on a new laptop — tries to rerun it.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74736" y="192024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F4F7F9"/>
          </a:solidFill>
          <a:ln/>
          <a:effectLst>
            <a:outerShdw blurRad="101600" dist="381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49056" y="2194560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449056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449056" y="2971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449056" y="33375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answer, a crash, or nothing at all.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612880" y="64739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REPRODUCIBILITY FAILS IN 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goes wrong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54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drift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202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package you relied on quietly updated — and changed behavior — since you last ran this.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606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Undocumented manual steps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97180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"Oh, you also need to..." — the setup step that only lives in someone's memory.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657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random seeds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02336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methods (train/test splits, bootstraps, MCMC) give a different answer every run unless you fix the seed.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7091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machine entirely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0749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OS, hardware, and pre-installed system libraries you never thought to write down.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0" y="64739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REPRODUCIBILITY FAILS IN 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isn't a new problem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4403064" y="1600200"/>
            <a:ext cx="7667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Randall Munroe, </a:t>
            </a:r>
            <a:r>
              <a:rPr lang="en-US" sz="15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"Dependency," xkcd #2347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403064" y="2194560"/>
            <a:ext cx="76670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we've talked about today — OS, packages, versions — is really a chain of dependencies, and that chain doesn't stop at your laptop. It runs through packages maintained by volunteers, on their own time, often unpaid.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403064" y="3794760"/>
            <a:ext cx="7667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a reason to panic — it's a reason to pin versions, document your environment, and test that your setup actually rebuilds from scratch, instead of assuming the ground underneath it holds still.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035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Comic: © Randall Munroe, xkcd.com/2347 — licensed CC BY-NC 2.5. Used here for non-commercial classroom teaching.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612880" y="64739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C7D063-6D64-03AC-F282-B920F82A7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57300"/>
            <a:ext cx="3704021" cy="47045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MANAGEMENT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“dependency” has three layers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reproducibility problems live in one you weren't tracking.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9692640" cy="1051560"/>
          </a:xfrm>
          <a:prstGeom prst="roundRect">
            <a:avLst>
              <a:gd name="adj" fmla="val 8696"/>
            </a:avLst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9202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1343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vs. macOS vs. Windows; system libraries like libssl or glibc.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63040" y="3063240"/>
            <a:ext cx="7863840" cy="1051560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737360" y="3154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packages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354787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dplyr, biopython — installed via pip, conda, or CRAN.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77440" y="4297680"/>
            <a:ext cx="6035040" cy="1051560"/>
          </a:xfrm>
          <a:prstGeom prst="roundRect">
            <a:avLst>
              <a:gd name="adj" fmla="val 8696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2651760" y="4389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versions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478231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1.5 vs. 2.2 behave differently. The version is the dependency.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0" y="64739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D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10312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scientific result should be re-derivable years later — not just re-runnable today.”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794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pinning is a contract with your future self and with every collaborator who opens this project after you.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612880" y="64739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ENVIRONMENTS — 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toolbox, by language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04672" y="196596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conda / mamba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04672" y="2450592"/>
            <a:ext cx="2240280" cy="320040"/>
          </a:xfrm>
          <a:prstGeom prst="roundRect">
            <a:avLst>
              <a:gd name="adj" fmla="val 4857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04672" y="24505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(+ non-Python deps)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971800"/>
            <a:ext cx="30083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compilers and system libraries too, not just Python packages. This course's primary Python tool.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1688" y="178308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617720" y="196596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uv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617720" y="2450592"/>
            <a:ext cx="2240280" cy="320040"/>
          </a:xfrm>
          <a:prstGeom prst="roundRect">
            <a:avLst>
              <a:gd name="adj" fmla="val 4857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617720" y="24505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(pure)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971800"/>
            <a:ext cx="30083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faster; newer standard. Doesn't manage non-Python dependencies the way conda does.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74736" y="178308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430768" y="196596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renv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430768" y="2450592"/>
            <a:ext cx="2240280" cy="320040"/>
          </a:xfrm>
          <a:prstGeom prst="roundRect">
            <a:avLst>
              <a:gd name="adj" fmla="val 4857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430768" y="24505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430768" y="2971800"/>
            <a:ext cx="30083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exact package versions per-project. The R-side equivalent of everything else on this slide.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0" y="64739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70E262B5-D92E-18D8-F925-D3E5E754D71C}"/>
              </a:ext>
            </a:extLst>
          </p:cNvPr>
          <p:cNvSpPr/>
          <p:nvPr/>
        </p:nvSpPr>
        <p:spPr>
          <a:xfrm>
            <a:off x="4206240" y="484886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A597E6D8-BFCD-9FF3-B5DC-1B6C44EF4B8D}"/>
              </a:ext>
            </a:extLst>
          </p:cNvPr>
          <p:cNvSpPr txBox="1"/>
          <p:nvPr/>
        </p:nvSpPr>
        <p:spPr>
          <a:xfrm>
            <a:off x="4462272" y="503174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pixi</a:t>
            </a:r>
            <a:endParaRPr lang="en-US" sz="1900" dirty="0"/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E5F94DDC-98F4-DE30-1578-231A52B83A2E}"/>
              </a:ext>
            </a:extLst>
          </p:cNvPr>
          <p:cNvSpPr/>
          <p:nvPr/>
        </p:nvSpPr>
        <p:spPr>
          <a:xfrm>
            <a:off x="4462272" y="5516372"/>
            <a:ext cx="2240280" cy="320040"/>
          </a:xfrm>
          <a:prstGeom prst="roundRect">
            <a:avLst>
              <a:gd name="adj" fmla="val 4857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5680CB8B-9640-6127-EECC-A2CCA7729421}"/>
              </a:ext>
            </a:extLst>
          </p:cNvPr>
          <p:cNvSpPr txBox="1"/>
          <p:nvPr/>
        </p:nvSpPr>
        <p:spPr>
          <a:xfrm>
            <a:off x="4462272" y="55163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(+ non-Python deps)</a:t>
            </a:r>
            <a:endParaRPr lang="en-US" sz="1100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6CA4777F-1FE1-BB44-BE7A-C7D681B2E1E4}"/>
              </a:ext>
            </a:extLst>
          </p:cNvPr>
          <p:cNvSpPr txBox="1"/>
          <p:nvPr/>
        </p:nvSpPr>
        <p:spPr>
          <a:xfrm>
            <a:off x="4462272" y="6037580"/>
            <a:ext cx="30083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/>
              <a:t>A Rust-based tool that sits on top of the </a:t>
            </a:r>
            <a:r>
              <a:rPr lang="en-US" sz="1400" dirty="0" err="1"/>
              <a:t>conda</a:t>
            </a:r>
            <a:r>
              <a:rPr lang="en-US" sz="1400" dirty="0"/>
              <a:t>-forge/</a:t>
            </a:r>
            <a:r>
              <a:rPr lang="en-US" sz="1400" dirty="0" err="1"/>
              <a:t>bioconda</a:t>
            </a:r>
            <a:r>
              <a:rPr lang="en-US" sz="1400" dirty="0"/>
              <a:t> ecosystem, but resolves </a:t>
            </a:r>
            <a:r>
              <a:rPr lang="en-US" sz="1400" dirty="0" err="1"/>
              <a:t>conda</a:t>
            </a:r>
            <a:r>
              <a:rPr lang="en-US" sz="1400" dirty="0"/>
              <a:t> </a:t>
            </a:r>
            <a:r>
              <a:rPr lang="en-US" sz="1400" i="1" dirty="0"/>
              <a:t>and</a:t>
            </a:r>
            <a:r>
              <a:rPr lang="en-US" sz="1400" dirty="0"/>
              <a:t> </a:t>
            </a:r>
            <a:r>
              <a:rPr lang="en-US" sz="1400" dirty="0" err="1"/>
              <a:t>PyPI</a:t>
            </a:r>
            <a:r>
              <a:rPr lang="en-US" sz="1400" dirty="0"/>
              <a:t> packages into one project-local </a:t>
            </a:r>
            <a:r>
              <a:rPr lang="en-US" sz="1400" dirty="0" err="1"/>
              <a:t>lockfile</a:t>
            </a:r>
            <a:r>
              <a:rPr lang="en-US" sz="1400" dirty="0"/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93F282-DB70-8C55-CD5B-7348A3E1C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22F49CD-FD11-2A1E-143B-A679525A2C5F}"/>
              </a:ext>
            </a:extLst>
          </p:cNvPr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ENVIRONMENTS — LIVE DEMO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AF5A76-FE8E-4C19-FE4C-78F11B0B5589}"/>
              </a:ext>
            </a:extLst>
          </p:cNvPr>
          <p:cNvSpPr txBox="1"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</a:rPr>
              <a:t>A fast, modern , and reproducible package management tool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CE10281-2E6E-A49B-195C-DAACEBA97F54}"/>
              </a:ext>
            </a:extLst>
          </p:cNvPr>
          <p:cNvSpPr txBox="1"/>
          <p:nvPr/>
        </p:nvSpPr>
        <p:spPr>
          <a:xfrm>
            <a:off x="548640" y="12161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D45FD55-FC36-566E-B79A-B03FEAB0532D}"/>
              </a:ext>
            </a:extLst>
          </p:cNvPr>
          <p:cNvSpPr txBox="1"/>
          <p:nvPr/>
        </p:nvSpPr>
        <p:spPr>
          <a:xfrm>
            <a:off x="11612880" y="64739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4EA22A28-2A5A-B435-D19B-850E52D2B026}"/>
              </a:ext>
            </a:extLst>
          </p:cNvPr>
          <p:cNvSpPr/>
          <p:nvPr/>
        </p:nvSpPr>
        <p:spPr>
          <a:xfrm>
            <a:off x="438912" y="2176272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B0A9D373-66A3-9326-4B89-97D5227FF4A0}"/>
              </a:ext>
            </a:extLst>
          </p:cNvPr>
          <p:cNvSpPr txBox="1"/>
          <p:nvPr/>
        </p:nvSpPr>
        <p:spPr>
          <a:xfrm>
            <a:off x="694944" y="235915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pixi</a:t>
            </a:r>
            <a:endParaRPr lang="en-US" sz="1900" dirty="0"/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D1EBCB8B-8B35-A6BF-71F9-A7A66834F787}"/>
              </a:ext>
            </a:extLst>
          </p:cNvPr>
          <p:cNvSpPr/>
          <p:nvPr/>
        </p:nvSpPr>
        <p:spPr>
          <a:xfrm>
            <a:off x="694944" y="2843784"/>
            <a:ext cx="2240280" cy="320040"/>
          </a:xfrm>
          <a:prstGeom prst="roundRect">
            <a:avLst>
              <a:gd name="adj" fmla="val 4857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EB81307B-BFBF-DB6A-5965-7B24E40B57F8}"/>
              </a:ext>
            </a:extLst>
          </p:cNvPr>
          <p:cNvSpPr txBox="1"/>
          <p:nvPr/>
        </p:nvSpPr>
        <p:spPr>
          <a:xfrm>
            <a:off x="694944" y="284378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(+ non-Python deps)</a:t>
            </a:r>
            <a:endParaRPr lang="en-US" sz="1100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05A20EB8-EF2C-69E0-F8CB-FE307247EC9A}"/>
              </a:ext>
            </a:extLst>
          </p:cNvPr>
          <p:cNvSpPr txBox="1"/>
          <p:nvPr/>
        </p:nvSpPr>
        <p:spPr>
          <a:xfrm>
            <a:off x="694944" y="3364992"/>
            <a:ext cx="30083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/>
              <a:t>A Rust-based tool that sits on top of the </a:t>
            </a:r>
            <a:r>
              <a:rPr lang="en-US" sz="1400" dirty="0" err="1"/>
              <a:t>conda</a:t>
            </a:r>
            <a:r>
              <a:rPr lang="en-US" sz="1400" dirty="0"/>
              <a:t>-forge/</a:t>
            </a:r>
            <a:r>
              <a:rPr lang="en-US" sz="1400" dirty="0" err="1"/>
              <a:t>bioconda</a:t>
            </a:r>
            <a:r>
              <a:rPr lang="en-US" sz="1400" dirty="0"/>
              <a:t> ecosystem, but resolves </a:t>
            </a:r>
            <a:r>
              <a:rPr lang="en-US" sz="1400" dirty="0" err="1"/>
              <a:t>conda</a:t>
            </a:r>
            <a:r>
              <a:rPr lang="en-US" sz="1400" dirty="0"/>
              <a:t> </a:t>
            </a:r>
            <a:r>
              <a:rPr lang="en-US" sz="1400" i="1" dirty="0"/>
              <a:t>and</a:t>
            </a:r>
            <a:r>
              <a:rPr lang="en-US" sz="1400" dirty="0"/>
              <a:t> </a:t>
            </a:r>
            <a:r>
              <a:rPr lang="en-US" sz="1400" dirty="0" err="1"/>
              <a:t>PyPI</a:t>
            </a:r>
            <a:r>
              <a:rPr lang="en-US" sz="1400" dirty="0"/>
              <a:t> packages into one project-local </a:t>
            </a:r>
            <a:r>
              <a:rPr lang="en-US" sz="1400" dirty="0" err="1"/>
              <a:t>lockfile</a:t>
            </a:r>
            <a:r>
              <a:rPr lang="en-US" sz="1400" dirty="0"/>
              <a:t>.</a:t>
            </a:r>
            <a:endParaRPr lang="en-US" sz="13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71D322B-FDC0-0206-6EE9-759300367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690921"/>
            <a:ext cx="7772400" cy="4453847"/>
          </a:xfrm>
          <a:prstGeom prst="rect">
            <a:avLst/>
          </a:prstGeom>
        </p:spPr>
      </p:pic>
      <p:sp>
        <p:nvSpPr>
          <p:cNvPr id="23" name="Text 2">
            <a:extLst>
              <a:ext uri="{FF2B5EF4-FFF2-40B4-BE49-F238E27FC236}">
                <a16:creationId xmlns:a16="http://schemas.microsoft.com/office/drawing/2014/main" id="{293178AA-BB63-1E6B-0986-2FD836CF1AEC}"/>
              </a:ext>
            </a:extLst>
          </p:cNvPr>
          <p:cNvSpPr txBox="1"/>
          <p:nvPr/>
        </p:nvSpPr>
        <p:spPr>
          <a:xfrm>
            <a:off x="548640" y="120091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/>
              <a:t>We won’t cover this for this semester, but good to know</a:t>
            </a:r>
          </a:p>
        </p:txBody>
      </p:sp>
    </p:spTree>
    <p:extLst>
      <p:ext uri="{BB962C8B-B14F-4D97-AF65-F5344CB8AC3E}">
        <p14:creationId xmlns:p14="http://schemas.microsoft.com/office/powerpoint/2010/main" val="2447306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ENVIRONMENTS — 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demo: build it, then export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607040" cy="2651760"/>
          </a:xfrm>
          <a:prstGeom prst="roundRect">
            <a:avLst>
              <a:gd name="adj" fmla="val 3448"/>
            </a:avLst>
          </a:prstGeom>
          <a:solidFill>
            <a:srgbClr val="082C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92024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mamba create -n week2-demo-1 python=3.13 pandas=2.2.3 </a:t>
            </a:r>
            <a:r>
              <a:rPr lang="en-US" sz="15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bioconda</a:t>
            </a: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r>
              <a:rPr lang="en-US" sz="15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samtools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conda activate week2-demo-1</a:t>
            </a:r>
            <a:endParaRPr lang="en-US" sz="1500" dirty="0"/>
          </a:p>
          <a:p>
            <a:pPr>
              <a:spcAft>
                <a:spcPts val="1000"/>
              </a:spcAft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lectures/week02-reproducible-research-fundamentals/</a:t>
            </a:r>
            <a:r>
              <a:rPr lang="en-US" sz="15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analyze.py</a:t>
            </a:r>
            <a:endParaRPr lang="en-US" sz="1500" dirty="0">
              <a:solidFill>
                <a:srgbClr val="CADCFC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>
              <a:spcAft>
                <a:spcPts val="1000"/>
              </a:spcAft>
            </a:pP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conda env export --from-history &gt; environment.yml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6177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--from-history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exports only what you explicitly asked for — not every transitive dependency with an exact build string, which is what usually breaks on someone else's machine.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612880" y="64739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ENVIRONMENTS — 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actual test: recreate from nothing but the file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200400" cy="1463040"/>
          </a:xfrm>
          <a:prstGeom prst="roundRect">
            <a:avLst>
              <a:gd name="adj" fmla="val 6250"/>
            </a:avLst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718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environment.yml exported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03904" y="2926080"/>
            <a:ext cx="502920" cy="502920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361688" y="2377440"/>
            <a:ext cx="3200400" cy="1463040"/>
          </a:xfrm>
          <a:prstGeom prst="roundRect">
            <a:avLst>
              <a:gd name="adj" fmla="val 625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544568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environment.yml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9718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thing that travels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616952" y="2926080"/>
            <a:ext cx="502920" cy="502920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174736" y="2377440"/>
            <a:ext cx="3200400" cy="1463040"/>
          </a:xfrm>
          <a:prstGeom prst="roundRect">
            <a:avLst>
              <a:gd name="adj" fmla="val 6250"/>
            </a:avLst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357616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“fresh” machine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57616" y="29718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mamba env create -f environment.yml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97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output matches — patients.describe() gives the same numbers — your environment file works. This is exactly what a Lab 1 grader will do to your submission.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612880" y="64739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ENVIRONMENTS — 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idea, three vocabularies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108960" cy="566928"/>
          </a:xfrm>
          <a:prstGeom prst="rect">
            <a:avLst/>
          </a:prstGeom>
          <a:solidFill>
            <a:srgbClr val="0B3D59"/>
          </a:solidFill>
          <a:ln w="9525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58368" y="1783080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 to 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0" y="1783080"/>
            <a:ext cx="2560320" cy="566928"/>
          </a:xfrm>
          <a:prstGeom prst="rect">
            <a:avLst/>
          </a:prstGeom>
          <a:solidFill>
            <a:srgbClr val="0B3D59"/>
          </a:solidFill>
          <a:ln w="9525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767328" y="1783080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 / mamba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2468880" cy="566928"/>
          </a:xfrm>
          <a:prstGeom prst="rect">
            <a:avLst/>
          </a:prstGeom>
          <a:solidFill>
            <a:srgbClr val="0B3D59"/>
          </a:solidFill>
          <a:ln w="9525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327648" y="1783080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0" y="1783080"/>
            <a:ext cx="2468880" cy="566928"/>
          </a:xfrm>
          <a:prstGeom prst="rect">
            <a:avLst/>
          </a:prstGeom>
          <a:solidFill>
            <a:srgbClr val="0B3D59"/>
          </a:solidFill>
          <a:ln w="9525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796528" y="1783080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renv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350008"/>
            <a:ext cx="3108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58368" y="2350008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project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0" y="2350008"/>
            <a:ext cx="2560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767328" y="2350008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mamba create -n env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2350008"/>
            <a:ext cx="2468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327648" y="2350008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init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0" y="2350008"/>
            <a:ext cx="2468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796528" y="2350008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renv::init()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2916936"/>
            <a:ext cx="3108960" cy="566928"/>
          </a:xfrm>
          <a:prstGeom prst="rect">
            <a:avLst/>
          </a:prstGeom>
          <a:solidFill>
            <a:srgbClr val="F4F7F9"/>
          </a:solidFill>
          <a:ln w="9525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58368" y="2916936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package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0" y="2916936"/>
            <a:ext cx="2560320" cy="566928"/>
          </a:xfrm>
          <a:prstGeom prst="rect">
            <a:avLst/>
          </a:prstGeom>
          <a:solidFill>
            <a:srgbClr val="F4F7F9"/>
          </a:solidFill>
          <a:ln w="9525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3767328" y="2916936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mamba install pkg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2916936"/>
            <a:ext cx="2468880" cy="566928"/>
          </a:xfrm>
          <a:prstGeom prst="rect">
            <a:avLst/>
          </a:prstGeom>
          <a:solidFill>
            <a:srgbClr val="F4F7F9"/>
          </a:solidFill>
          <a:ln w="9525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327648" y="2916936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add pkg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686800" y="2916936"/>
            <a:ext cx="2468880" cy="566928"/>
          </a:xfrm>
          <a:prstGeom prst="rect">
            <a:avLst/>
          </a:prstGeom>
          <a:solidFill>
            <a:srgbClr val="F4F7F9"/>
          </a:solidFill>
          <a:ln w="9525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8796528" y="2916936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install.packages()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483864"/>
            <a:ext cx="3108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58368" y="3483864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lockfile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57600" y="3483864"/>
            <a:ext cx="2560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3767328" y="3483864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env export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17920" y="3483864"/>
            <a:ext cx="2468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6327648" y="3483864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uv.lock is automatic 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686800" y="3483864"/>
            <a:ext cx="2468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8796528" y="3483864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renv::snapshot()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4050792"/>
            <a:ext cx="3108960" cy="566928"/>
          </a:xfrm>
          <a:prstGeom prst="rect">
            <a:avLst/>
          </a:prstGeom>
          <a:solidFill>
            <a:srgbClr val="F4F7F9"/>
          </a:solidFill>
          <a:ln w="9525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658368" y="4050792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elsewhere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657600" y="4050792"/>
            <a:ext cx="2560320" cy="566928"/>
          </a:xfrm>
          <a:prstGeom prst="rect">
            <a:avLst/>
          </a:prstGeom>
          <a:solidFill>
            <a:srgbClr val="F4F7F9"/>
          </a:solidFill>
          <a:ln w="9525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3767328" y="405079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mamba env create -f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17920" y="4050792"/>
            <a:ext cx="2468880" cy="566928"/>
          </a:xfrm>
          <a:prstGeom prst="rect">
            <a:avLst/>
          </a:prstGeom>
          <a:solidFill>
            <a:srgbClr val="F4F7F9"/>
          </a:solidFill>
          <a:ln w="9525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6327648" y="4050792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sync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686800" y="4050792"/>
            <a:ext cx="2468880" cy="566928"/>
          </a:xfrm>
          <a:prstGeom prst="rect">
            <a:avLst/>
          </a:prstGeom>
          <a:solidFill>
            <a:srgbClr val="F4F7F9"/>
          </a:solidFill>
          <a:ln w="9525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8796528" y="4050792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renv::restore()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11612880" y="64739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ENVIRONMENTS — 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it breaks: a dependency conflict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resolver doing its job — not a broken tool.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0607040" cy="1737360"/>
          </a:xfrm>
          <a:prstGeom prst="roundRect">
            <a:avLst>
              <a:gd name="adj" fmla="val 5263"/>
            </a:avLst>
          </a:prstGeom>
          <a:solidFill>
            <a:srgbClr val="082C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19659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Encountered problems while solving:
</a:t>
            </a:r>
            <a:r>
              <a:rPr lang="en-US" sz="14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package pandas-2.2.x requires numpy&gt;=1.23, but none of the
    providers can be installed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49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packages you asked for don't fit together — better to hear it now than to have your analysis silently break later. In the practical, you'll cause this error on purpose, then fix it.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612880" y="64739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virtual environment isn't the whole picture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pins your language packages. It doesn't pin the OS underneath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120640" cy="3108960"/>
          </a:xfrm>
          <a:prstGeom prst="roundRect">
            <a:avLst>
              <a:gd name="adj" fmla="val 3529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120640" cy="594360"/>
          </a:xfrm>
          <a:prstGeom prst="roundRect">
            <a:avLst>
              <a:gd name="adj" fmla="val 1846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120640" cy="2286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17830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environment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06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 / R packages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63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Package versions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520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Nothing about the OS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977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Nothing about system libraries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783080"/>
            <a:ext cx="5120640" cy="3108960"/>
          </a:xfrm>
          <a:prstGeom prst="roundRect">
            <a:avLst>
              <a:gd name="adj" fmla="val 3529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35040" y="1783080"/>
            <a:ext cx="5120640" cy="594360"/>
          </a:xfrm>
          <a:prstGeom prst="roundRect">
            <a:avLst>
              <a:gd name="adj" fmla="val 18462"/>
            </a:avLst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2148840"/>
            <a:ext cx="5120640" cy="228600"/>
          </a:xfrm>
          <a:prstGeom prst="rect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309360" y="17830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(Docker)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606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venv pins, plus: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operating system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3474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System libraries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3931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“Which Python even”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612880" y="64739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Dockerfile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recipe for building the same machine, every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0607040" cy="2926080"/>
          </a:xfrm>
          <a:prstGeom prst="roundRect">
            <a:avLst>
              <a:gd name="adj" fmla="val 3125"/>
            </a:avLst>
          </a:prstGeom>
          <a:solidFill>
            <a:srgbClr val="082C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011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condaforge/miniforge3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known base image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008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/workspace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5008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working directory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9900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live-demo1.yml </a:t>
            </a:r>
            <a:r>
              <a:rPr lang="en-US" sz="1450" dirty="0" err="1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environment.yml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9900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 your environment file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96849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mamba env create -f environment.yml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39684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environment, inside the image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612880" y="64739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EE1AE3BD-0912-10BA-A667-D1B379299001}"/>
              </a:ext>
            </a:extLst>
          </p:cNvPr>
          <p:cNvSpPr txBox="1"/>
          <p:nvPr/>
        </p:nvSpPr>
        <p:spPr>
          <a:xfrm>
            <a:off x="868680" y="347929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</a:t>
            </a:r>
            <a:r>
              <a:rPr lang="en-US" sz="1450" dirty="0" err="1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analyze.py</a:t>
            </a:r>
            <a:r>
              <a:rPr lang="en-US" sz="14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</a:t>
            </a:r>
            <a:endParaRPr lang="en-US" sz="145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882DE554-2ACF-2B0B-3B81-A88402CC819D}"/>
              </a:ext>
            </a:extLst>
          </p:cNvPr>
          <p:cNvSpPr txBox="1"/>
          <p:nvPr/>
        </p:nvSpPr>
        <p:spPr>
          <a:xfrm>
            <a:off x="6126480" y="34792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analysis script 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demo: same result, two machines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607040" cy="1417320"/>
          </a:xfrm>
          <a:prstGeom prst="roundRect">
            <a:avLst>
              <a:gd name="adj" fmla="val 6452"/>
            </a:avLst>
          </a:prstGeom>
          <a:solidFill>
            <a:srgbClr val="082C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965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build -t live-demo1 .
</a:t>
            </a:r>
            <a:r>
              <a:rPr lang="en-US" sz="16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run –rm -it live-demo1 /bin/bash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you a shell into an isolated Linux environment, within your laptop. Run it on two different laptops in the room: same output.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348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what's one thing that could still differ between two people's laptops, even with the same image? 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612880" y="64739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you need a container, or is a lockfile enough?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463040" y="2011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environment file is enough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Your teammates use the same 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101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system-level (non-language) dependencies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6849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“Install and run” is genuinely simple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0" y="1783080"/>
            <a:ext cx="51206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26480" y="2011680"/>
            <a:ext cx="457200" cy="457200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766560" y="2011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a container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651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You're deploying to a shared cluster or the cloud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33101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System libraries or exact OS behavior matter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396849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 want a stranger to run it with zero setup steps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612880" y="64739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3D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ASIDE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Containers in the cloud &amp; on HPC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clusters don't run Docker directly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0428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HPC/shared-cluster systems use Singularity/Apptainer instead — same idea, different tool, for shared multi-user security reasons. This course doesn't use an HPC cluster, but you'll likely run into this if you ever work on one.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registries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9300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 and similar registries let you publish an image once and pull it anywhere — including onto a shared cluster.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5720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only, for your general knowledge. Week 10 (Workflow Management &amp; Remote Computing) has hands-on remote/SSH practice via pwn.college for anyone who wants that experience — it's not a continuation of containers specifically, just useful vocabulary for when you meet Singularity or a registry in the wild.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612880" y="64739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TROUBLESHOOTING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strongest skill, meets your weakest topic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075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rates GenAI use 3.52/5 confidence — and environments 1.57/5. Let's put them together.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988820" y="21488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9888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260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exact error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337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paraphrase — the model needs the real text, including version numbers.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01868" y="21488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801868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361688" y="29260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what it means first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44568" y="3337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asking for a fix. Understanding the error is worth more than a copy-paste answer.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614916" y="21488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614916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174736" y="29260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Sanity-check the fix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57616" y="3337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run it. The next slide shows why.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0" y="64739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TROUBLESHOOTING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error, two AI answers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helped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explained the numpy/pandas version conflict and suggested loosening the pin — verified by rerunning the resolver.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783080"/>
            <a:ext cx="51206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3093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2011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was confidently wrong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6974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a completely unrelated fix (reinstalling Python itself) that would not have solved the actual conflict — stated with total confidence.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800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whole point: verify, don't trust. Document both the prompt and what you kept vs. changed — that's your AI_USAGE.md for Lab 1.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0" y="64739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2C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renv.lock (or environment.yml) is committed — but the analysis still doesn't reproduce on a colleague's machine.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3 things that could still be different?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062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that thought — you'll cause and diagnose exactly this kind of gap yourself in this afternoon's practical.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612880" y="64739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Wednesday, Sep 2 — Practical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3383280"/>
          </a:xfrm>
          <a:prstGeom prst="roundRect">
            <a:avLst>
              <a:gd name="adj" fmla="val 3243"/>
            </a:avLst>
          </a:prstGeom>
          <a:solidFill>
            <a:srgbClr val="0B3D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guided, live-along setup session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 an independent lab start — we build it together, step by step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conda/mamba, uv, renv, and a Dockerfile, in one session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20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Directly scaffolds Lab 1 (due this week)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14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More instructor/TA circulation than usual — ask early and often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52160" y="1600200"/>
            <a:ext cx="53035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12648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Wednesday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235000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4F7F9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510528" y="227685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conda/mamba (Miniforge), uv, and Docker Desktop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294436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4F7F9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510528" y="287121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renv R package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353872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4F7F9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510528" y="346557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required readings (Carpentries × 2, Turing Way, renv intro)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26480" y="413308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4F7F9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510528" y="405993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step-by-step install guide: README.md in this week's folder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11612880" y="64739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1934</Words>
  <Application>Microsoft Macintosh PowerPoint</Application>
  <PresentationFormat>Widescreen</PresentationFormat>
  <Paragraphs>262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Bendall, Matthew Lewis</cp:lastModifiedBy>
  <cp:revision>4</cp:revision>
  <dcterms:created xsi:type="dcterms:W3CDTF">2026-08-30T12:51:02Z</dcterms:created>
  <dcterms:modified xsi:type="dcterms:W3CDTF">2026-08-31T14:34:11Z</dcterms:modified>
</cp:coreProperties>
</file>