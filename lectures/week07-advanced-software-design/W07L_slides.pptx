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75-min slot. Welcome &amp; admin ~3 min. Final Project Proposals due Wed Oct 7 -- that's the practical day; flag it today, full details Wednesday. No new lab due this week (Lab 3 was due Sep 30; Lab 4 isn't assigned until Week 9). Restructuring note for whoever teaches this: the lecture is trimmed to from-script-to-package + Python packaging + R packaging (~60 min) plus the AI-assisted-development section in full (15 min, explicitly NOT cut, per SCHEDULE.md's learning objectives). Live IDE debugging demo has moved to Wednesday's practical / supplemental material -- proposals are due the same day as the practical, so lecture stays lean. See notes.md for the full rationale.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Recap Week 6 briefly, then the agenda. Say the practical framing explicitly: today is lecture-only content (packaging + AI habits); Wednesday is proposal-due day, so it's a short hands-on exercise plus real office-hours time, not a second full lecture. No live debugging demo today -- that's Wednesday/supplemental, see slide 17's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 min, opens the 20-min from-script-to-package block. This is Module 2's throughline from Week 6 (modular code) into Week 7 (installable code) -- don't re-teach modularity, just bridge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~8 min. Four ideas, in the order you actually hit them building a real package. Keep each to one breath -- detail comes in the Python/R blocks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~8 min, closes the from-script-to-package block. Explicit tie to project/examples/example_projects.md #4-5 (package/tool projects) and project/rubrics/code_rubric.md's 'code style &amp; organization' criterion (20% of the code/documentation/deliverables grade). Also a natural spot to remind them version-control hygiene (Week 6's git) is graded too -- see code_rubric.md's version-control-hygiene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18-min block starts here. Essentials only, per the lecture-trim decision -- this is not a packaging deep-dive, just what a final-project team needs to ship a working, installable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~9 min. This exact file is the pyproject.toml in this folder's python-starter/ scaffold -- point students at it, they'll use it for real Wednesday.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~9 min. Closes the Python block. Bridge line: 'this is the same summarize_by_site() you'll meet Wednesday in python-starter/ -- it also has a planted bug, more on that then.'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17-min block. Mirror the Python block's structure on purpose -- same four ideas (structure/metadata/namespace/docs), different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~9 min. Say explicitly: roxygen2 comments (#') are R's docstrings -- devtools::document() turns them into NAMESPACE + real help pages, same idea as Python's docstrings-to-Sphinx bridge from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~8 min. Closes the R block. Explicit callback: check() is the R equivalent of 'does it actually import cleanly' -- same spirit as the reproducibility discipline from Weeks 2-3 (delete-and-recreate, restart-and-run-all), applied to packages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 bridge slide before the AI section. Let this one speak for itself -- don't re-teach each row, just orient (‘everything on the left, you've now seen both columns’).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min, kept in full — do not cut. This is Week 7's deliberate exception to the course's backloaded-AI-content plan (SCHEDULE.md lists it as its own topic). Per the Aug 28 self-report survey, GenAI confidence is students' strongest area (3.52/5) -- so this section models good practice, it does not re-teach basic prompting.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 min framing. Land this explicitly: 'the goal today is not teaching you to use AI -- you're already comfortable with that. It's making one specific good habit automatic.'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 min. Direct callback: this is the exact 'if something breaks' convention every week's README has used since Week 1, and the habit Week 4's practical taught explicitly for text extraction -- today it's applied to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 min. Bridge line to Wednesday: 'you'll do exactly this Wednesday on a real planted bug in python-starter/ or r-starter/ -- ask AI to explain it, verify the explanation against what the debugger actually shows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Explicit signpost slide — say this out loud, mirrors Week 4's 'Wednesday isn't more regex' hand-off move. Students should leave knowing there's no live debugging demo today on purpose, not because it was forgotten.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Make sure students leave knowing: proposal due Wed, no new lab, Wednesday is short exercise + real office-hours time (not another 75-min lecture squeezed in on deadline day).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94215" y="-5257800"/>
            <a:ext cx="6858000" cy="6858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54480" y="5943600"/>
            <a:ext cx="3291840" cy="3291840"/>
          </a:xfrm>
          <a:prstGeom prst="ellipse">
            <a:avLst/>
          </a:prstGeom>
          <a:solidFill>
            <a:srgbClr val="1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PUBH 6854 / PUBH 4201 · APPLIED COMPUTING IN HEALTH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Week 7: Advanced Software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CADCFC"/>
                </a:solidFill>
                <a:latin typeface="Calibri"/>
              </a:rPr>
              <a:t>Packaging your code in R and Python, and using AI well while you build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A541"/>
                </a:solidFill>
                <a:latin typeface="Calibri"/>
              </a:rPr>
              <a:t>Lecture · Monday, October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WHERE WE'VE BEEN / WHERE WE'RE GOING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Recap &amp; Today's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Recap &amp; Agenda  ·  Week 7 · Advanced Software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MODULE 2 SO FAR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120640" cy="3566160"/>
          </a:xfrm>
          <a:prstGeom prst="roundRect">
            <a:avLst>
              <a:gd name="adj" fmla="val 4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45720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Week 6 — Software Design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Procedural / OOP / functional paradigms, modular programming, and your first real git workflow (branches, commits, a planted merge conflict).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Today picks up right after that: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code that's already modular — now make it installable, documented, and something a teammate (or grader) can actually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TODAY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2011680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112264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3D59"/>
                </a:solidFill>
                <a:latin typeface="Cambria"/>
              </a:rPr>
              <a:t>From script to package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2724912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825496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3D59"/>
                </a:solidFill>
                <a:latin typeface="Cambria"/>
              </a:rPr>
              <a:t>Python packaging essentials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3438144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53872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3D59"/>
                </a:solidFill>
                <a:latin typeface="Cambria"/>
              </a:rPr>
              <a:t>R packaging essentials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4151376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251960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B3D59"/>
                </a:solidFill>
                <a:latin typeface="Cambria"/>
              </a:rPr>
              <a:t>AI-assisted development — doing it well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910328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04748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A6B75"/>
                </a:solidFill>
                <a:latin typeface="Calibri"/>
              </a:rPr>
              <a:t>Wednesday's practical: a short packaging/debugging exercise, then structured project-proposal office hours — proposals are due that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A Folder of Scripts Isn’t a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From Script to Package  ·  Week 7 · Advanced Software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4754880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>
                <a:solidFill>
                  <a:srgbClr val="CADCFC"/>
                </a:solidFill>
                <a:latin typeface="Courier New"/>
              </a:rPr>
              <a:t>your_project/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CADCFC"/>
                </a:solidFill>
                <a:latin typeface="Courier New"/>
              </a:rPr>
              <a:t>  analysis.py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CADCFC"/>
                </a:solidFill>
                <a:latin typeface="Courier New"/>
              </a:rPr>
              <a:t>  helpers.py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CADCFC"/>
                </a:solidFill>
                <a:latin typeface="Courier New"/>
              </a:rPr>
              <a:t>  utils.py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CADCFC"/>
                </a:solidFill>
                <a:latin typeface="Courier New"/>
              </a:rPr>
              <a:t>  scratch_v2_FINAL.py</a:t>
            </a:r>
          </a:p>
          <a:p>
            <a:pPr>
              <a:lnSpc>
                <a:spcPct val="125000"/>
              </a:lnSpc>
            </a:pPr>
            <a:r>
              <a:rPr sz="1450">
                <a:solidFill>
                  <a:srgbClr val="CADCFC"/>
                </a:solidFill>
                <a:latin typeface="Courier New"/>
              </a:rPr>
              <a:t>  another_analysis.py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1">
                <a:solidFill>
                  <a:srgbClr val="5A6B75"/>
                </a:solidFill>
                <a:latin typeface="Calibri"/>
              </a:rPr>
              <a:t>This works — right up until someone else (or future-you) needs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257800" cy="3749039"/>
          </a:xfrm>
          <a:prstGeom prst="roundRect">
            <a:avLst>
              <a:gd name="adj" fmla="val 4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4800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Which function do I even import?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No clear public interface — everything is technically reachable.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Does this depend on something running first?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Implicit ordering, hidden in someone's memory of how they ran 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Can a teammate reuse just the useful part?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Without copy-pasting the whole folder and hoping for the best.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1">
                <a:solidFill>
                  <a:srgbClr val="0B3D59"/>
                </a:solidFill>
                <a:latin typeface="Cambria"/>
              </a:rPr>
              <a:t>A package is, functionally, an answer to all three questions — on purpose, instead of by accident.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FROM SCRIPT TO PACKAGE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What Actually Turns a Folder Into a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From Script to Package  ·  Week 7 · Advanced Software Design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64208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0B3D59"/>
                </a:solidFill>
                <a:latin typeface="Cambria"/>
              </a:rPr>
              <a:t>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02536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A6B75"/>
                </a:solidFill>
                <a:latin typeface="Calibri"/>
              </a:rPr>
              <a:t>A predictable folder layout, so tools — and teammates — know where to look without being told.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70632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43200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0B3D59"/>
                </a:solidFill>
                <a:latin typeface="Cambria"/>
              </a:rPr>
              <a:t>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81528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A6B75"/>
                </a:solidFill>
                <a:latin typeface="Calibri"/>
              </a:rPr>
              <a:t>One file (DESCRIPTION in R, pyproject.toml in Python) naming it: what it's called, its version, what it depends 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49624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22191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0B3D59"/>
                </a:solidFill>
                <a:latin typeface="Cambria"/>
              </a:rPr>
              <a:t>Namespace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60520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A6B75"/>
                </a:solidFill>
                <a:latin typeface="Calibri"/>
              </a:rPr>
              <a:t>A decision about what's public (exported, meant to be used) versus internal (implementation detail, can change freely).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901183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0B3D59"/>
                </a:solidFill>
                <a:latin typeface="Cambria"/>
              </a:rPr>
              <a:t>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239512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A6B75"/>
                </a:solidFill>
                <a:latin typeface="Calibri"/>
              </a:rPr>
              <a:t>Docstrings / roxygen2 comments living next to the code they describe, not in a separate file that drifts out of 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FROM SCRIPT TO PACKAGE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Why This Matters for Your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From Script to Package  ·  Week 7 · Advanced Software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A6B75"/>
                </a:solidFill>
                <a:latin typeface="Calibri"/>
              </a:rPr>
              <a:t>A 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120640" cy="2651760"/>
          </a:xfrm>
          <a:prstGeom prst="roundRect">
            <a:avLst>
              <a:gd name="adj" fmla="val 5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•  One-off — built to run once, on your machine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•  “Works on my machine”, unverified elsewhere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•  Reuse means copy-paste, not 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A PACKAGE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120640" cy="265176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19456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Installable — pip install -e . / devtools::load_all()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Versioned, with declared dependencies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A teammate imports it and it just 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507492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B3D59"/>
                </a:solidFill>
                <a:latin typeface="Calibri"/>
              </a:rPr>
              <a:t>The final project's “software package or tool” project type, and the code rubric's modularity criterion, are literally this — not a separate skill.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68535" y="-4434840"/>
            <a:ext cx="5943600" cy="59436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943600"/>
            <a:ext cx="2926080" cy="2926080"/>
          </a:xfrm>
          <a:prstGeom prst="ellipse">
            <a:avLst/>
          </a:prstGeom>
          <a:solidFill>
            <a:srgbClr val="1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A541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Python Packaging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Minimal pyproject.toml, an editable install, and docstrings that become real 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PYTHON PACKAGING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The Minimal pyproject.toml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Python Packaging  ·  Week 7 · Advanced Software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60720" cy="3931920"/>
          </a:xfrm>
          <a:prstGeom prst="roundRect">
            <a:avLst>
              <a:gd name="adj" fmla="val 4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5303520" cy="3602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>[project]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>name = "patientkit"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>version = "0.1.0"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>description = "..."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>requires-python = "&gt;=3.9"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>dependencies = []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>[build-system]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>requires = ["setuptools&gt;=68.0"]</a:t>
            </a:r>
          </a:p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>build-backend = "setuptools.build_meta"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645920"/>
            <a:ext cx="4937760" cy="3931920"/>
          </a:xfrm>
          <a:prstGeom prst="roundRect">
            <a:avLst>
              <a:gd name="adj" fmla="val 4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4805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This one file turns a folder into something pip understands.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[project] — name, version, and what it needs to run (its dependencies).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[build-system] — which tool actually builds/installs the package. setuptools is the safe default; you won't need to touch this section.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PYTHON PACKAGING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Install It, Then Document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Python Packaging  ·  Week 7 · Advanced Software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EDITABLE INSTALL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120640" cy="960120"/>
          </a:xfrm>
          <a:prstGeom prst="roundRect">
            <a:avLst>
              <a:gd name="adj" fmla="val 4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30552"/>
            <a:ext cx="466344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>
                <a:solidFill>
                  <a:srgbClr val="CADCFC"/>
                </a:solidFill>
                <a:latin typeface="Courier New"/>
              </a:rPr>
              <a:t>$ pip install -e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51206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-e = editable. Python imports your package straight from this source folder.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Edit a function, re-run your script — no reinstall loop. This is the install you'll use all semester for your own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DOCSTRINGS →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120640" cy="1508760"/>
          </a:xfrm>
          <a:prstGeom prst="roundRect">
            <a:avLst>
              <a:gd name="adj" fmla="val 4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30552"/>
            <a:ext cx="4663440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50">
                <a:solidFill>
                  <a:srgbClr val="CADCFC"/>
                </a:solidFill>
                <a:latin typeface="Courier New"/>
              </a:rPr>
              <a:t>def summarize_by_site(records):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CADCFC"/>
                </a:solidFill>
                <a:latin typeface="Courier New"/>
              </a:rPr>
              <a:t>    """Group patient values by site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CADCFC"/>
                </a:solidFill>
                <a:latin typeface="Courier New"/>
              </a:rPr>
              <a:t>    and return the mean per site.</a:t>
            </a:r>
          </a:p>
          <a:p>
            <a:pPr>
              <a:lnSpc>
                <a:spcPct val="125000"/>
              </a:lnSpc>
            </a:pPr>
            <a:r>
              <a:rPr sz="1250">
                <a:solidFill>
                  <a:srgbClr val="CADCFC"/>
                </a:solidFill>
                <a:latin typeface="Courier New"/>
              </a:rPr>
              <a:t>    """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611880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A docstring isn't just a comment — tools like Sphinx or mkdocs turn it into real, browsable documentation automatically. Write it once, get docs for free.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68535" y="-4434840"/>
            <a:ext cx="5943600" cy="59436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943600"/>
            <a:ext cx="2926080" cy="2926080"/>
          </a:xfrm>
          <a:prstGeom prst="ellipse">
            <a:avLst/>
          </a:prstGeom>
          <a:solidFill>
            <a:srgbClr val="1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A541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R Packaging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Scaffolding with usethis, documenting with roxygen2, and the load_all()/check()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R PACKAGING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Scaffolding a Package with usethis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R Packaging  ·  Week 7 · Advanced Software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212080" cy="1005840"/>
          </a:xfrm>
          <a:prstGeom prst="roundRect">
            <a:avLst>
              <a:gd name="adj" fmla="val 4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475488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>usethis::create_package("healthstats")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5212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One call, a real skeleton: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DESCRIPTION (the R equivalent of pyproject.toml), an R/ folder for code, and the package scaffolding RStudio expects.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1" i="0">
                <a:solidFill>
                  <a:srgbClr val="0B3D59"/>
                </a:solidFill>
                <a:latin typeface="Cambria"/>
              </a:rPr>
              <a:t>roxygen2: docs live next to the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286000"/>
            <a:ext cx="4617720" cy="2606040"/>
          </a:xfrm>
          <a:prstGeom prst="roundRect">
            <a:avLst>
              <a:gd name="adj" fmla="val 4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450592"/>
            <a:ext cx="4160520" cy="2276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CADCFC"/>
                </a:solidFill>
                <a:latin typeface="Courier New"/>
              </a:rPr>
              <a:t>#' Compute mean lab value by site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CADCFC"/>
                </a:solidFill>
                <a:latin typeface="Courier New"/>
              </a:rPr>
              <a:t>#'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CADCFC"/>
                </a:solidFill>
                <a:latin typeface="Courier New"/>
              </a:rPr>
              <a:t>#' @param df A data frame with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CADCFC"/>
                </a:solidFill>
                <a:latin typeface="Courier New"/>
              </a:rPr>
              <a:t>#'   columns site and value.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CADCFC"/>
                </a:solidFill>
                <a:latin typeface="Courier New"/>
              </a:rPr>
              <a:t>#' @return A data frame of means.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CADCFC"/>
                </a:solidFill>
                <a:latin typeface="Courier New"/>
              </a:rPr>
              <a:t>#' @export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CADCFC"/>
                </a:solidFill>
                <a:latin typeface="Courier New"/>
              </a:rPr>
              <a:t>mean_by_site &lt;- function(df) {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CADCFC"/>
                </a:solidFill>
                <a:latin typeface="Courier New"/>
              </a:rPr>
              <a:t>  ...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CADCFC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R PACKAGING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The load_all() / check()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R Packaging  ·  Week 7 · Advanced Software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ITERATE FAST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120640" cy="3566160"/>
          </a:xfrm>
          <a:prstGeom prst="roundRect">
            <a:avLst>
              <a:gd name="adj" fmla="val 4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94560"/>
            <a:ext cx="4572000" cy="777240"/>
          </a:xfrm>
          <a:prstGeom prst="roundRect">
            <a:avLst>
              <a:gd name="adj" fmla="val 4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>devtools::load_all()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Simulates library(healthstats) without installing anything. Change a function, run load_all() again, test it — seconds, not a full reinstall. The R analog of Python's pip install -e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THE REAL GATEKEEPER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5120640" cy="356616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59" y="2194560"/>
            <a:ext cx="4572000" cy="777240"/>
          </a:xfrm>
          <a:prstGeom prst="roundRect">
            <a:avLst>
              <a:gd name="adj" fmla="val 4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359152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>
                <a:solidFill>
                  <a:srgbClr val="CADCFC"/>
                </a:solidFill>
                <a:latin typeface="Courier New"/>
              </a:rPr>
              <a:t>devtools::check()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315468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Runs your documentation, examples, and package structure through the same checks CRAN — or a grader — would run. Catches a missing @export or an undeclared dependency before someone else finds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Same Concepts, Different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Python &amp; R, Compared  ·  Week 7 · Advanced Software Design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9167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986784"/>
                <a:gridCol w="3995928"/>
              </a:tblGrid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137160" marR="91440" marT="73152" marB="73152" anchor="ctr"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137160" marR="91440" marT="73152" marB="73152" anchor="ctr"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137160" marR="91440" marT="73152" marB="73152" anchor="ctr">
                    <a:solidFill>
                      <a:srgbClr val="0B3D5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Metadata file</a:t>
                      </a:r>
                    </a:p>
                  </a:txBody>
                  <a:tcPr marL="137160" marR="91440" marT="73152" marB="7315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pyproject.toml</a:t>
                      </a:r>
                    </a:p>
                  </a:txBody>
                  <a:tcPr marL="137160" marR="91440" marT="73152" marB="7315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137160" marR="91440" marT="73152" marB="73152" anchor="ctr">
                    <a:solidFill>
                      <a:srgbClr val="F4F7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Scaffold a new package</a:t>
                      </a:r>
                    </a:p>
                  </a:txBody>
                  <a:tcPr marL="137160" marR="91440" marT="73152" marB="73152" anchor="ctr">
                    <a:solidFill>
                      <a:srgbClr val="E3E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mkdir + write pyproject.toml</a:t>
                      </a:r>
                    </a:p>
                  </a:txBody>
                  <a:tcPr marL="137160" marR="91440" marT="73152" marB="73152" anchor="ctr">
                    <a:solidFill>
                      <a:srgbClr val="E3E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usethis::create_package()</a:t>
                      </a:r>
                    </a:p>
                  </a:txBody>
                  <a:tcPr marL="137160" marR="91440" marT="73152" marB="73152" anchor="ctr">
                    <a:solidFill>
                      <a:srgbClr val="E3E9E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Fast local iteration</a:t>
                      </a:r>
                    </a:p>
                  </a:txBody>
                  <a:tcPr marL="137160" marR="91440" marT="73152" marB="7315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pip install -e .</a:t>
                      </a:r>
                    </a:p>
                  </a:txBody>
                  <a:tcPr marL="137160" marR="91440" marT="73152" marB="7315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devtools::load_all()</a:t>
                      </a:r>
                    </a:p>
                  </a:txBody>
                  <a:tcPr marL="137160" marR="91440" marT="73152" marB="73152" anchor="ctr">
                    <a:solidFill>
                      <a:srgbClr val="F4F7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Docs from code comments</a:t>
                      </a:r>
                    </a:p>
                  </a:txBody>
                  <a:tcPr marL="137160" marR="91440" marT="73152" marB="73152" anchor="ctr">
                    <a:solidFill>
                      <a:srgbClr val="E3E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docstrings → Sphinx / mkdocs</a:t>
                      </a:r>
                    </a:p>
                  </a:txBody>
                  <a:tcPr marL="137160" marR="91440" marT="73152" marB="73152" anchor="ctr">
                    <a:solidFill>
                      <a:srgbClr val="E3E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roxygen2 → devtools::document()</a:t>
                      </a:r>
                    </a:p>
                  </a:txBody>
                  <a:tcPr marL="137160" marR="91440" marT="73152" marB="73152" anchor="ctr">
                    <a:solidFill>
                      <a:srgbClr val="E3E9E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Sanity check before sharing</a:t>
                      </a:r>
                    </a:p>
                  </a:txBody>
                  <a:tcPr marL="137160" marR="91440" marT="73152" marB="7315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pytest / import smoke test</a:t>
                      </a:r>
                    </a:p>
                  </a:txBody>
                  <a:tcPr marL="137160" marR="91440" marT="73152" marB="7315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devtools::check()</a:t>
                      </a:r>
                    </a:p>
                  </a:txBody>
                  <a:tcPr marL="137160" marR="91440" marT="73152" marB="73152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68535" y="-4434840"/>
            <a:ext cx="5943600" cy="59436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943600"/>
            <a:ext cx="2926080" cy="2926080"/>
          </a:xfrm>
          <a:prstGeom prst="ellipse">
            <a:avLst/>
          </a:prstGeom>
          <a:solidFill>
            <a:srgbClr val="15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A541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AI-Assisted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You already reach for AI to code — today's about the habits that make it reliable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AI-ASSISTED DEVELOPMENT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Two Habits That Make AI Assistance Reliable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AI-Assisted Development  ·  Week 7 · Advanced Software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You already use AI to write and fix code — that's not today's topic. What separates a session that actually teaches you something from one that just produces a diff is two habits: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65176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743200"/>
            <a:ext cx="4023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0B3D59"/>
                </a:solidFill>
                <a:latin typeface="Cambria"/>
              </a:rPr>
              <a:t>Explain before you fix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0">
                <a:solidFill>
                  <a:srgbClr val="0B3D59"/>
                </a:solidFill>
                <a:latin typeface="Cambria"/>
              </a:rPr>
              <a:t>Ask what's causing the bug before you ask for a 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51460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0" y="2651760"/>
            <a:ext cx="640080" cy="6400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2200">
                <a:solidFill>
                  <a:srgbClr val="0B3D59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743200"/>
            <a:ext cx="4023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Verify the root cause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mbria"/>
              </a:rPr>
              <a:t>Confirm the fix addresses why it broke, not just that it runs now.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AI-ASSISTED DEVELOPMENT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“What’s Causing This?” Before “Fix This.”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AI-Assisted Development  ·  Week 7 · Advanced Software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A6B75"/>
                </a:solidFill>
                <a:latin typeface="Calibri"/>
              </a:rPr>
              <a:t>WEAKER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120640" cy="3931920"/>
          </a:xfrm>
          <a:prstGeom prst="roundRect">
            <a:avLst>
              <a:gd name="adj" fmla="val 5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45720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Paste the code, say “fix this.”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You get a diff back. It works. You still don't know why it broke — so the same mistake resurfaces, differently, next week.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STRONGER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120640" cy="393192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194560"/>
            <a:ext cx="45720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Paste the exact error/output. Ask what's causing it — before asking for a fix.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You learn the mechanism. Next time it happens, you recognize it yourself, with or without AI in the loop.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AI-ASSISTED DEVELOPMENT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A Fix That Runs Isn’t Necessarily a Fix That’s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AI-Assisted Development  ·  Week 7 · Advanced Software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An AI-suggested fix commonly does one of three things: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12848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0B3D59"/>
                </a:solidFill>
                <a:latin typeface="Cambria"/>
              </a:rPr>
              <a:t>Fixes the root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51176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A6B75"/>
                </a:solidFill>
                <a:latin typeface="Calibri"/>
              </a:rPr>
              <a:t>What you actually want — confirm this is what happened, don't assume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72968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0B3D59"/>
                </a:solidFill>
                <a:latin typeface="Cambria"/>
              </a:rPr>
              <a:t>Silences the symptom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11296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A6B75"/>
                </a:solidFill>
                <a:latin typeface="Calibri"/>
              </a:rPr>
              <a:t>Wraps it in try/except, adds na.rm = TRUE everywhere — the bug is now invisible, not gone.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33087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1" i="0">
                <a:solidFill>
                  <a:srgbClr val="0B3D59"/>
                </a:solidFill>
                <a:latin typeface="Cambria"/>
              </a:rPr>
              <a:t>Fixes this input, not the next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71416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5A6B75"/>
                </a:solidFill>
                <a:latin typeface="Calibri"/>
              </a:rPr>
              <a:t>Passes the case that already failed, breaks again on a case you haven't tried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541324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B3D59"/>
                </a:solidFill>
                <a:latin typeface="Calibri"/>
              </a:rPr>
              <a:t>The verification habit: re-run against a case that should still fail if the fix is wrong — not just the case that already failed. Same discipline as Week 4's “test more than one example” regex lesson.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COMING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59"/>
                </a:solidFill>
                <a:latin typeface="Cambria"/>
              </a:rPr>
              <a:t>Debugging Workflows Live In the Practical, Not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Practical Preview  ·  Week 7 · Advanced Software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Breakpoints, step-through, and variable inspection in VS Code / PyCharm / RStudio are a hands-on skill — you learn them by doing them, not by watching slides.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Proposals are also due Wednesday, so today stays focused on packaging and AI habits, and Wednesday is a short exercise, not a second lecture.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77639"/>
            <a:ext cx="11064240" cy="1737360"/>
          </a:xfrm>
          <a:prstGeom prst="roundRect">
            <a:avLst>
              <a:gd name="adj" fmla="val 5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Wednesday's exercise uses this folder's scaffolds: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python-starter/ and r-starter/ — each a tiny installable package with one planted, non-crashing bug. Set a breakpoint, step through, inspect a variable, find it for real.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3D59"/>
                </a:solidFill>
                <a:latin typeface="Cambria"/>
              </a:rPr>
              <a:t>Wrap-Up &amp; Wednesday Preview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02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Due Wednesday, Oct 7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Final Project Proposal — see project/proposal/proposal_template.md. Approval required before full-scale work begins.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737360"/>
            <a:ext cx="5349240" cy="1965960"/>
          </a:xfrm>
          <a:prstGeom prst="roundRect">
            <a:avLst>
              <a:gd name="adj" fmla="val 5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No new lab this week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Calibri"/>
              </a:rPr>
              <a:t>Lab 3 was due Sep 30; Lab 4 isn't assigned until Week 9. Use the slack for the proposal.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WEDNESDAY, OCT 7 · PRACTICAL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Short packaging/debugging exercise using python-starter/ or r-starter/ (this folder)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Structured project-proposal office hours — bring questions, come ready to talk scope and data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B75"/>
                </a:solidFill>
                <a:latin typeface="Calibri"/>
              </a:rPr>
              <a:t>Required reading: R Packages — r-pkgs.org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A6B75"/>
                </a:solidFill>
                <a:latin typeface="Calibri"/>
              </a:rPr>
              <a:t>Wrap-Up  ·  Week 7 · Advanced Software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